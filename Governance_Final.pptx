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7" r:id="rId3"/>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0F7FF"/>
        </a:solidFill>
        <a:effectLst/>
      </p:bgPr>
    </p:bg>
    <p:spTree>
      <p:nvGrpSpPr>
        <p:cNvPr id="1" name=""/>
        <p:cNvGrpSpPr/>
        <p:nvPr/>
      </p:nvGrpSpPr>
      <p:grpSpPr>
        <a:xfrm>
          <a:off x="0" y="0"/>
          <a:ext cx="0" cy="0"/>
          <a:chOff x="0" y="0"/>
          <a:chExt cx="0" cy="0"/>
        </a:xfrm>
      </p:grpSpPr>
      <p:sp>
        <p:nvSpPr>
          <p:cNvPr id="2" name="Shape 0"/>
          <p:cNvSpPr/>
          <p:nvPr/>
        </p:nvSpPr>
        <p:spPr>
          <a:xfrm>
            <a:off x="6400800" y="-1097280"/>
            <a:ext cx="4572000" cy="4572000"/>
          </a:xfrm>
          <a:prstGeom prst="ellipse">
            <a:avLst/>
          </a:prstGeom>
          <a:solidFill>
            <a:srgbClr val="2563EB">
              <a:alpha val="10000"/>
            </a:srgbClr>
          </a:solidFill>
          <a:ln w="12700">
            <a:solidFill>
              <a:srgbClr val="2563EB">
                <a:alpha val="10000"/>
              </a:srgbClr>
            </a:solidFill>
            <a:prstDash val="solid"/>
          </a:ln>
        </p:spPr>
      </p:sp>
      <p:sp>
        <p:nvSpPr>
          <p:cNvPr id="3" name="Shape 1"/>
          <p:cNvSpPr/>
          <p:nvPr/>
        </p:nvSpPr>
        <p:spPr>
          <a:xfrm>
            <a:off x="-914400" y="3200400"/>
            <a:ext cx="3474720" cy="3474720"/>
          </a:xfrm>
          <a:prstGeom prst="ellipse">
            <a:avLst/>
          </a:prstGeom>
          <a:solidFill>
            <a:srgbClr val="0891B2">
              <a:alpha val="10000"/>
            </a:srgbClr>
          </a:solidFill>
          <a:ln w="12700">
            <a:solidFill>
              <a:srgbClr val="0891B2">
                <a:alpha val="10000"/>
              </a:srgbClr>
            </a:solidFill>
            <a:prstDash val="solid"/>
          </a:ln>
        </p:spPr>
      </p:sp>
      <p:sp>
        <p:nvSpPr>
          <p:cNvPr id="4" name="Shape 2"/>
          <p:cNvSpPr/>
          <p:nvPr/>
        </p:nvSpPr>
        <p:spPr>
          <a:xfrm>
            <a:off x="548640" y="1005840"/>
            <a:ext cx="2377440" cy="347472"/>
          </a:xfrm>
          <a:prstGeom prst="roundRect">
            <a:avLst>
              <a:gd name="adj" fmla="val 31579"/>
            </a:avLst>
          </a:prstGeom>
          <a:solidFill>
            <a:srgbClr val="2563EB">
              <a:alpha val="20000"/>
            </a:srgbClr>
          </a:solidFill>
          <a:ln w="12700">
            <a:solidFill>
              <a:srgbClr val="2563EB">
                <a:alpha val="40000"/>
              </a:srgbClr>
            </a:solidFill>
            <a:prstDash val="solid"/>
          </a:ln>
        </p:spPr>
      </p:sp>
      <p:sp>
        <p:nvSpPr>
          <p:cNvPr id="5" name="Text 3"/>
          <p:cNvSpPr/>
          <p:nvPr/>
        </p:nvSpPr>
        <p:spPr>
          <a:xfrm>
            <a:off x="548640" y="1005840"/>
            <a:ext cx="2377440" cy="347472"/>
          </a:xfrm>
          <a:prstGeom prst="rect">
            <a:avLst/>
          </a:prstGeom>
          <a:noFill/>
        </p:spPr>
        <p:txBody>
          <a:bodyPr wrap="square" lIns="0" tIns="0" rIns="0" bIns="0" rtlCol="0" anchor="ctr"/>
          <a:lstStyle/>
          <a:p>
            <a:pPr marL="0" indent="0" algn="ctr">
              <a:buNone/>
            </a:pPr>
            <a:r>
              <a:rPr lang="en-US" sz="950" dirty="0"/>
              <a:t>DCCS - Diploma In Cloud Cybersecurity</a:t>
            </a:r>
            <a:endParaRPr lang="en-US" sz="950" dirty="0"/>
          </a:p>
        </p:txBody>
      </p:sp>
      <p:sp>
        <p:nvSpPr>
          <p:cNvPr id="6" name="Text 4"/>
          <p:cNvSpPr/>
          <p:nvPr/>
        </p:nvSpPr>
        <p:spPr>
          <a:xfrm>
            <a:off x="548640" y="1463040"/>
            <a:ext cx="7772400" cy="2194560"/>
          </a:xfrm>
          <a:prstGeom prst="rect">
            <a:avLst/>
          </a:prstGeom>
          <a:noFill/>
        </p:spPr>
        <p:txBody>
          <a:bodyPr wrap="square" rtlCol="0" anchor="ctr"/>
          <a:lstStyle/>
          <a:p>
            <a:pPr marL="0" indent="0">
              <a:buNone/>
            </a:pPr>
            <a:r>
              <a:rPr lang="en-US" sz="4000" b="1" dirty="0">
                <a:solidFill>
                  <a:srgbClr val="1E3A5F"/>
                </a:solidFill>
                <a:latin typeface="Calibri" panose="020F0502020204030204" pitchFamily="34" charset="0"/>
                <a:ea typeface="Calibri" panose="020F0502020204030204" pitchFamily="34" charset="-122"/>
                <a:cs typeface="Calibri" panose="020F0502020204030204" pitchFamily="34" charset="-120"/>
              </a:rPr>
              <a:t>Foundations of AI Governance</a:t>
            </a:r>
            <a:endParaRPr lang="en-US" sz="4000" dirty="0"/>
          </a:p>
          <a:p>
            <a:pPr marL="0" indent="0">
              <a:buNone/>
            </a:pPr>
            <a:r>
              <a:rPr lang="en-US" sz="4000" b="1" dirty="0">
                <a:solidFill>
                  <a:srgbClr val="1E3A5F"/>
                </a:solidFill>
                <a:latin typeface="Calibri" panose="020F0502020204030204" pitchFamily="34" charset="0"/>
                <a:ea typeface="Calibri" panose="020F0502020204030204" pitchFamily="34" charset="-122"/>
                <a:cs typeface="Calibri" panose="020F0502020204030204" pitchFamily="34" charset="-120"/>
              </a:rPr>
              <a:t>and Cyber Risk Management</a:t>
            </a:r>
            <a:endParaRPr lang="en-US" sz="4000" dirty="0"/>
          </a:p>
        </p:txBody>
      </p:sp>
      <p:sp>
        <p:nvSpPr>
          <p:cNvPr id="7" name="Shape 5"/>
          <p:cNvSpPr/>
          <p:nvPr/>
        </p:nvSpPr>
        <p:spPr>
          <a:xfrm>
            <a:off x="548640" y="3749040"/>
            <a:ext cx="2743200" cy="45720"/>
          </a:xfrm>
          <a:prstGeom prst="rect">
            <a:avLst/>
          </a:prstGeom>
          <a:solidFill>
            <a:srgbClr val="0891B2"/>
          </a:solidFill>
          <a:ln w="12700">
            <a:solidFill>
              <a:srgbClr val="0891B2"/>
            </a:solidFill>
            <a:prstDash val="solid"/>
          </a:ln>
        </p:spPr>
      </p:sp>
      <p:sp>
        <p:nvSpPr>
          <p:cNvPr id="8" name="Text 6"/>
          <p:cNvSpPr/>
          <p:nvPr/>
        </p:nvSpPr>
        <p:spPr>
          <a:xfrm>
            <a:off x="548640" y="3931920"/>
            <a:ext cx="4572000" cy="411480"/>
          </a:xfrm>
          <a:prstGeom prst="rect">
            <a:avLst/>
          </a:prstGeom>
          <a:noFill/>
        </p:spPr>
        <p:txBody>
          <a:bodyPr wrap="square" rtlCol="0" anchor="ctr"/>
          <a:lstStyle/>
          <a:p>
            <a:pPr marL="0" indent="0">
              <a:buNone/>
            </a:pPr>
            <a:r>
              <a:rPr lang="en-US" sz="1400" dirty="0">
                <a:solidFill>
                  <a:srgbClr val="64748B"/>
                </a:solidFill>
                <a:latin typeface="Calibri" panose="020F0502020204030204" pitchFamily="34" charset="0"/>
                <a:ea typeface="Calibri" panose="020F0502020204030204" pitchFamily="34" charset="-122"/>
                <a:cs typeface="Calibri" panose="020F0502020204030204" pitchFamily="34" charset="-120"/>
              </a:rPr>
              <a:t>Muhammad Ali Subhaniee</a:t>
            </a:r>
            <a:endParaRPr lang="en-US" sz="1400" dirty="0"/>
          </a:p>
        </p:txBody>
      </p:sp>
      <p:sp>
        <p:nvSpPr>
          <p:cNvPr id="9" name="Shape 7"/>
          <p:cNvSpPr/>
          <p:nvPr/>
        </p:nvSpPr>
        <p:spPr>
          <a:xfrm>
            <a:off x="7132320" y="1097280"/>
            <a:ext cx="640080" cy="640080"/>
          </a:xfrm>
          <a:prstGeom prst="ellipse">
            <a:avLst/>
          </a:prstGeom>
          <a:solidFill>
            <a:srgbClr val="2563EB">
              <a:alpha val="12000"/>
            </a:srgbClr>
          </a:solidFill>
          <a:ln w="12700">
            <a:solidFill>
              <a:srgbClr val="2563EB">
                <a:alpha val="12000"/>
              </a:srgbClr>
            </a:solidFill>
            <a:prstDash val="solid"/>
          </a:ln>
        </p:spPr>
      </p:sp>
      <p:sp>
        <p:nvSpPr>
          <p:cNvPr id="10" name="Text 8"/>
          <p:cNvSpPr/>
          <p:nvPr/>
        </p:nvSpPr>
        <p:spPr>
          <a:xfrm>
            <a:off x="7132320" y="1115568"/>
            <a:ext cx="640080" cy="594360"/>
          </a:xfrm>
          <a:prstGeom prst="rect">
            <a:avLst/>
          </a:prstGeom>
          <a:noFill/>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1" name="Shape 9"/>
          <p:cNvSpPr/>
          <p:nvPr/>
        </p:nvSpPr>
        <p:spPr>
          <a:xfrm>
            <a:off x="7132320" y="1920240"/>
            <a:ext cx="640080" cy="640080"/>
          </a:xfrm>
          <a:prstGeom prst="ellipse">
            <a:avLst/>
          </a:prstGeom>
          <a:solidFill>
            <a:srgbClr val="2563EB">
              <a:alpha val="12000"/>
            </a:srgbClr>
          </a:solidFill>
          <a:ln w="12700">
            <a:solidFill>
              <a:srgbClr val="2563EB">
                <a:alpha val="12000"/>
              </a:srgbClr>
            </a:solidFill>
            <a:prstDash val="solid"/>
          </a:ln>
        </p:spPr>
      </p:sp>
      <p:sp>
        <p:nvSpPr>
          <p:cNvPr id="12" name="Text 10"/>
          <p:cNvSpPr/>
          <p:nvPr/>
        </p:nvSpPr>
        <p:spPr>
          <a:xfrm>
            <a:off x="7132320" y="1938528"/>
            <a:ext cx="640080" cy="594360"/>
          </a:xfrm>
          <a:prstGeom prst="rect">
            <a:avLst/>
          </a:prstGeom>
          <a:noFill/>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3" name="Shape 11"/>
          <p:cNvSpPr/>
          <p:nvPr/>
        </p:nvSpPr>
        <p:spPr>
          <a:xfrm>
            <a:off x="7132320" y="2743200"/>
            <a:ext cx="640080" cy="640080"/>
          </a:xfrm>
          <a:prstGeom prst="ellipse">
            <a:avLst/>
          </a:prstGeom>
          <a:solidFill>
            <a:srgbClr val="2563EB">
              <a:alpha val="12000"/>
            </a:srgbClr>
          </a:solidFill>
          <a:ln w="12700">
            <a:solidFill>
              <a:srgbClr val="2563EB">
                <a:alpha val="12000"/>
              </a:srgbClr>
            </a:solidFill>
            <a:prstDash val="solid"/>
          </a:ln>
        </p:spPr>
      </p:sp>
      <p:sp>
        <p:nvSpPr>
          <p:cNvPr id="14" name="Text 12"/>
          <p:cNvSpPr/>
          <p:nvPr/>
        </p:nvSpPr>
        <p:spPr>
          <a:xfrm>
            <a:off x="7132320" y="2761488"/>
            <a:ext cx="640080" cy="594360"/>
          </a:xfrm>
          <a:prstGeom prst="rect">
            <a:avLst/>
          </a:prstGeom>
          <a:noFill/>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5" name="Shape 13"/>
          <p:cNvSpPr/>
          <p:nvPr/>
        </p:nvSpPr>
        <p:spPr>
          <a:xfrm>
            <a:off x="7132320" y="3566160"/>
            <a:ext cx="640080" cy="640080"/>
          </a:xfrm>
          <a:prstGeom prst="ellipse">
            <a:avLst/>
          </a:prstGeom>
          <a:solidFill>
            <a:srgbClr val="2563EB">
              <a:alpha val="12000"/>
            </a:srgbClr>
          </a:solidFill>
          <a:ln w="12700">
            <a:solidFill>
              <a:srgbClr val="2563EB">
                <a:alpha val="12000"/>
              </a:srgbClr>
            </a:solidFill>
            <a:prstDash val="solid"/>
          </a:ln>
        </p:spPr>
      </p:sp>
      <p:sp>
        <p:nvSpPr>
          <p:cNvPr id="16" name="Text 14"/>
          <p:cNvSpPr/>
          <p:nvPr/>
        </p:nvSpPr>
        <p:spPr>
          <a:xfrm>
            <a:off x="7132320" y="3584448"/>
            <a:ext cx="640080" cy="594360"/>
          </a:xfrm>
          <a:prstGeom prst="rect">
            <a:avLst/>
          </a:prstGeom>
          <a:noFill/>
        </p:spPr>
        <p:txBody>
          <a:bodyPr wrap="square" lIns="0" tIns="0" rIns="0" bIns="0" rtlCol="0" anchor="ctr"/>
          <a:lstStyle/>
          <a:p>
            <a:pPr marL="0" indent="0" algn="ctr">
              <a:buNone/>
            </a:pPr>
            <a:r>
              <a:rPr lang="en-US" sz="2200" dirty="0">
                <a:solidFill>
                  <a:srgbClr val="000000"/>
                </a:solidFill>
              </a:rPr>
              <a:t>🛡</a:t>
            </a:r>
            <a:endParaRPr lang="en-US" sz="2200"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3250">
        <p15:prstTrans prst="peelOff"/>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0F7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2563EB">
              <a:alpha val="14000"/>
            </a:srgbClr>
          </a:solidFill>
          <a:ln w="12700">
            <a:solidFill>
              <a:srgbClr val="2563EB">
                <a:alpha val="14000"/>
              </a:srgbClr>
            </a:solidFill>
            <a:prstDash val="solid"/>
          </a:ln>
        </p:spPr>
      </p:sp>
      <p:sp>
        <p:nvSpPr>
          <p:cNvPr id="3" name="Text 1"/>
          <p:cNvSpPr/>
          <p:nvPr/>
        </p:nvSpPr>
        <p:spPr>
          <a:xfrm>
            <a:off x="502920" y="73152"/>
            <a:ext cx="7863840" cy="914400"/>
          </a:xfrm>
          <a:prstGeom prst="rect">
            <a:avLst/>
          </a:prstGeom>
          <a:noFill/>
        </p:spPr>
        <p:txBody>
          <a:bodyPr wrap="square" rtlCol="0" anchor="ctr"/>
          <a:lstStyle/>
          <a:p>
            <a:pPr marL="0" indent="0">
              <a:buNone/>
            </a:pPr>
            <a:r>
              <a:rPr lang="en-US" sz="3000" b="1" dirty="0">
                <a:solidFill>
                  <a:srgbClr val="1E3A5F"/>
                </a:solidFill>
                <a:latin typeface="Calibri" panose="020F0502020204030204" pitchFamily="34" charset="0"/>
                <a:ea typeface="Calibri" panose="020F0502020204030204" pitchFamily="34" charset="-122"/>
                <a:cs typeface="Calibri" panose="020F0502020204030204" pitchFamily="34" charset="-120"/>
              </a:rPr>
              <a:t>Contents</a:t>
            </a:r>
            <a:endParaRPr lang="en-US" sz="3000" dirty="0"/>
          </a:p>
        </p:txBody>
      </p:sp>
      <p:sp>
        <p:nvSpPr>
          <p:cNvPr id="4" name="Shape 2"/>
          <p:cNvSpPr/>
          <p:nvPr/>
        </p:nvSpPr>
        <p:spPr>
          <a:xfrm>
            <a:off x="320040" y="1207008"/>
            <a:ext cx="4069080" cy="512064"/>
          </a:xfrm>
          <a:prstGeom prst="rect">
            <a:avLst/>
          </a:prstGeom>
          <a:solidFill>
            <a:srgbClr val="FFFFFF"/>
          </a:solidFill>
          <a:ln w="12700">
            <a:solidFill>
              <a:srgbClr val="2563EB">
                <a:alpha val="35000"/>
              </a:srgbClr>
            </a:solidFill>
            <a:prstDash val="solid"/>
          </a:ln>
          <a:effectLst>
            <a:outerShdw blurRad="127000" dist="38100" dir="8100000" algn="bl" rotWithShape="0">
              <a:srgbClr val="94A3B8">
                <a:alpha val="18000"/>
              </a:srgbClr>
            </a:outerShdw>
          </a:effectLst>
        </p:spPr>
      </p:sp>
      <p:sp>
        <p:nvSpPr>
          <p:cNvPr id="5" name="Shape 3"/>
          <p:cNvSpPr/>
          <p:nvPr/>
        </p:nvSpPr>
        <p:spPr>
          <a:xfrm>
            <a:off x="320040" y="1207008"/>
            <a:ext cx="54864" cy="512064"/>
          </a:xfrm>
          <a:prstGeom prst="rect">
            <a:avLst/>
          </a:prstGeom>
          <a:solidFill>
            <a:srgbClr val="2563EB"/>
          </a:solidFill>
          <a:ln w="12700">
            <a:solidFill>
              <a:srgbClr val="2563EB"/>
            </a:solidFill>
            <a:prstDash val="solid"/>
          </a:ln>
        </p:spPr>
      </p:sp>
      <p:sp>
        <p:nvSpPr>
          <p:cNvPr id="6" name="Text 4"/>
          <p:cNvSpPr/>
          <p:nvPr/>
        </p:nvSpPr>
        <p:spPr>
          <a:xfrm>
            <a:off x="457200" y="1207008"/>
            <a:ext cx="411480" cy="512064"/>
          </a:xfrm>
          <a:prstGeom prst="rect">
            <a:avLst/>
          </a:prstGeom>
          <a:noFill/>
        </p:spPr>
        <p:txBody>
          <a:bodyPr wrap="square" lIns="0" tIns="0" rIns="0" bIns="0" rtlCol="0" anchor="ctr"/>
          <a:lstStyle/>
          <a:p>
            <a:pPr marL="0" indent="0" algn="ctr">
              <a:buNone/>
            </a:pPr>
            <a:r>
              <a:rPr lang="en-US" sz="1100" b="1" dirty="0">
                <a:solidFill>
                  <a:srgbClr val="2563EB"/>
                </a:solidFill>
              </a:rPr>
              <a:t>01</a:t>
            </a:r>
            <a:endParaRPr lang="en-US" sz="1100" dirty="0"/>
          </a:p>
        </p:txBody>
      </p:sp>
      <p:sp>
        <p:nvSpPr>
          <p:cNvPr id="7" name="Text 5"/>
          <p:cNvSpPr/>
          <p:nvPr/>
        </p:nvSpPr>
        <p:spPr>
          <a:xfrm>
            <a:off x="914400" y="1207008"/>
            <a:ext cx="3383280" cy="512064"/>
          </a:xfrm>
          <a:prstGeom prst="rect">
            <a:avLst/>
          </a:prstGeom>
          <a:noFill/>
        </p:spPr>
        <p:txBody>
          <a:bodyPr wrap="square" lIns="0" tIns="0" rIns="0" bIns="0" rtlCol="0" anchor="ctr"/>
          <a:lstStyle/>
          <a:p>
            <a:pPr marL="0" indent="0">
              <a:buNone/>
            </a:pPr>
            <a:r>
              <a:rPr lang="en-US" sz="1150" dirty="0">
                <a:solidFill>
                  <a:srgbClr val="334155"/>
                </a:solidFill>
                <a:latin typeface="Calibri" panose="020F0502020204030204" pitchFamily="34" charset="0"/>
                <a:ea typeface="Calibri" panose="020F0502020204030204" pitchFamily="34" charset="-122"/>
                <a:cs typeface="Calibri" panose="020F0502020204030204" pitchFamily="34" charset="-120"/>
              </a:rPr>
              <a:t>Definition &amp; Overview</a:t>
            </a:r>
            <a:endParaRPr lang="en-US" sz="1150" dirty="0"/>
          </a:p>
        </p:txBody>
      </p:sp>
      <p:sp>
        <p:nvSpPr>
          <p:cNvPr id="8" name="Shape 6"/>
          <p:cNvSpPr/>
          <p:nvPr/>
        </p:nvSpPr>
        <p:spPr>
          <a:xfrm>
            <a:off x="320040" y="1801368"/>
            <a:ext cx="4069080" cy="512064"/>
          </a:xfrm>
          <a:prstGeom prst="rect">
            <a:avLst/>
          </a:prstGeom>
          <a:solidFill>
            <a:srgbClr val="FFFFFF"/>
          </a:solidFill>
          <a:ln w="12700">
            <a:solidFill>
              <a:srgbClr val="0891B2">
                <a:alpha val="35000"/>
              </a:srgbClr>
            </a:solidFill>
            <a:prstDash val="solid"/>
          </a:ln>
          <a:effectLst>
            <a:outerShdw blurRad="127000" dist="38100" dir="8100000" algn="bl" rotWithShape="0">
              <a:srgbClr val="94A3B8">
                <a:alpha val="18000"/>
              </a:srgbClr>
            </a:outerShdw>
          </a:effectLst>
        </p:spPr>
      </p:sp>
      <p:sp>
        <p:nvSpPr>
          <p:cNvPr id="9" name="Shape 7"/>
          <p:cNvSpPr/>
          <p:nvPr/>
        </p:nvSpPr>
        <p:spPr>
          <a:xfrm>
            <a:off x="320040" y="1801368"/>
            <a:ext cx="54864" cy="512064"/>
          </a:xfrm>
          <a:prstGeom prst="rect">
            <a:avLst/>
          </a:prstGeom>
          <a:solidFill>
            <a:srgbClr val="0891B2"/>
          </a:solidFill>
          <a:ln w="12700">
            <a:solidFill>
              <a:srgbClr val="0891B2"/>
            </a:solidFill>
            <a:prstDash val="solid"/>
          </a:ln>
        </p:spPr>
      </p:sp>
      <p:sp>
        <p:nvSpPr>
          <p:cNvPr id="10" name="Text 8"/>
          <p:cNvSpPr/>
          <p:nvPr/>
        </p:nvSpPr>
        <p:spPr>
          <a:xfrm>
            <a:off x="457200" y="1801368"/>
            <a:ext cx="411480" cy="512064"/>
          </a:xfrm>
          <a:prstGeom prst="rect">
            <a:avLst/>
          </a:prstGeom>
          <a:noFill/>
        </p:spPr>
        <p:txBody>
          <a:bodyPr wrap="square" lIns="0" tIns="0" rIns="0" bIns="0" rtlCol="0" anchor="ctr"/>
          <a:lstStyle/>
          <a:p>
            <a:pPr marL="0" indent="0" algn="ctr">
              <a:buNone/>
            </a:pPr>
            <a:r>
              <a:rPr lang="en-US" sz="1100" b="1" dirty="0">
                <a:solidFill>
                  <a:srgbClr val="0891B2"/>
                </a:solidFill>
              </a:rPr>
              <a:t>02</a:t>
            </a:r>
            <a:endParaRPr lang="en-US" sz="1100" dirty="0"/>
          </a:p>
        </p:txBody>
      </p:sp>
      <p:sp>
        <p:nvSpPr>
          <p:cNvPr id="11" name="Text 9"/>
          <p:cNvSpPr/>
          <p:nvPr/>
        </p:nvSpPr>
        <p:spPr>
          <a:xfrm>
            <a:off x="914400" y="1801368"/>
            <a:ext cx="3383280" cy="512064"/>
          </a:xfrm>
          <a:prstGeom prst="rect">
            <a:avLst/>
          </a:prstGeom>
          <a:noFill/>
        </p:spPr>
        <p:txBody>
          <a:bodyPr wrap="square" lIns="0" tIns="0" rIns="0" bIns="0" rtlCol="0" anchor="ctr"/>
          <a:lstStyle/>
          <a:p>
            <a:pPr marL="0" indent="0">
              <a:buNone/>
            </a:pPr>
            <a:r>
              <a:rPr lang="en-US" sz="1150" dirty="0">
                <a:solidFill>
                  <a:srgbClr val="334155"/>
                </a:solidFill>
                <a:latin typeface="Calibri" panose="020F0502020204030204" pitchFamily="34" charset="0"/>
                <a:ea typeface="Calibri" panose="020F0502020204030204" pitchFamily="34" charset="-122"/>
                <a:cs typeface="Calibri" panose="020F0502020204030204" pitchFamily="34" charset="-120"/>
              </a:rPr>
              <a:t>Importance</a:t>
            </a:r>
            <a:endParaRPr lang="en-US" sz="1150" dirty="0"/>
          </a:p>
        </p:txBody>
      </p:sp>
      <p:sp>
        <p:nvSpPr>
          <p:cNvPr id="12" name="Shape 10"/>
          <p:cNvSpPr/>
          <p:nvPr/>
        </p:nvSpPr>
        <p:spPr>
          <a:xfrm>
            <a:off x="320040" y="2395728"/>
            <a:ext cx="4069080" cy="512064"/>
          </a:xfrm>
          <a:prstGeom prst="rect">
            <a:avLst/>
          </a:prstGeom>
          <a:solidFill>
            <a:srgbClr val="FFFFFF"/>
          </a:solidFill>
          <a:ln w="12700">
            <a:solidFill>
              <a:srgbClr val="7C3AED">
                <a:alpha val="35000"/>
              </a:srgbClr>
            </a:solidFill>
            <a:prstDash val="solid"/>
          </a:ln>
          <a:effectLst>
            <a:outerShdw blurRad="127000" dist="38100" dir="8100000" algn="bl" rotWithShape="0">
              <a:srgbClr val="94A3B8">
                <a:alpha val="18000"/>
              </a:srgbClr>
            </a:outerShdw>
          </a:effectLst>
        </p:spPr>
      </p:sp>
      <p:sp>
        <p:nvSpPr>
          <p:cNvPr id="13" name="Shape 11"/>
          <p:cNvSpPr/>
          <p:nvPr/>
        </p:nvSpPr>
        <p:spPr>
          <a:xfrm>
            <a:off x="320040" y="2395728"/>
            <a:ext cx="54864" cy="512064"/>
          </a:xfrm>
          <a:prstGeom prst="rect">
            <a:avLst/>
          </a:prstGeom>
          <a:solidFill>
            <a:srgbClr val="7C3AED"/>
          </a:solidFill>
          <a:ln w="12700">
            <a:solidFill>
              <a:srgbClr val="7C3AED"/>
            </a:solidFill>
            <a:prstDash val="solid"/>
          </a:ln>
        </p:spPr>
      </p:sp>
      <p:sp>
        <p:nvSpPr>
          <p:cNvPr id="14" name="Text 12"/>
          <p:cNvSpPr/>
          <p:nvPr/>
        </p:nvSpPr>
        <p:spPr>
          <a:xfrm>
            <a:off x="457200" y="2395728"/>
            <a:ext cx="411480" cy="512064"/>
          </a:xfrm>
          <a:prstGeom prst="rect">
            <a:avLst/>
          </a:prstGeom>
          <a:noFill/>
        </p:spPr>
        <p:txBody>
          <a:bodyPr wrap="square" lIns="0" tIns="0" rIns="0" bIns="0" rtlCol="0" anchor="ctr"/>
          <a:lstStyle/>
          <a:p>
            <a:pPr marL="0" indent="0" algn="ctr">
              <a:buNone/>
            </a:pPr>
            <a:r>
              <a:rPr lang="en-US" sz="1100" b="1" dirty="0">
                <a:solidFill>
                  <a:srgbClr val="7C3AED"/>
                </a:solidFill>
              </a:rPr>
              <a:t>03</a:t>
            </a:r>
            <a:endParaRPr lang="en-US" sz="1100" dirty="0"/>
          </a:p>
        </p:txBody>
      </p:sp>
      <p:sp>
        <p:nvSpPr>
          <p:cNvPr id="15" name="Text 13"/>
          <p:cNvSpPr/>
          <p:nvPr/>
        </p:nvSpPr>
        <p:spPr>
          <a:xfrm>
            <a:off x="914400" y="2395728"/>
            <a:ext cx="3383280" cy="512064"/>
          </a:xfrm>
          <a:prstGeom prst="rect">
            <a:avLst/>
          </a:prstGeom>
          <a:noFill/>
        </p:spPr>
        <p:txBody>
          <a:bodyPr wrap="square" lIns="0" tIns="0" rIns="0" bIns="0" rtlCol="0" anchor="ctr"/>
          <a:lstStyle/>
          <a:p>
            <a:pPr marL="0" indent="0">
              <a:buNone/>
            </a:pPr>
            <a:r>
              <a:rPr lang="en-US" sz="1150" dirty="0">
                <a:solidFill>
                  <a:srgbClr val="334155"/>
                </a:solidFill>
                <a:latin typeface="Calibri" panose="020F0502020204030204" pitchFamily="34" charset="0"/>
                <a:ea typeface="Calibri" panose="020F0502020204030204" pitchFamily="34" charset="-122"/>
                <a:cs typeface="Calibri" panose="020F0502020204030204" pitchFamily="34" charset="-120"/>
              </a:rPr>
              <a:t>Key Components</a:t>
            </a:r>
            <a:endParaRPr lang="en-US" sz="1150" dirty="0"/>
          </a:p>
        </p:txBody>
      </p:sp>
      <p:sp>
        <p:nvSpPr>
          <p:cNvPr id="16" name="Shape 14"/>
          <p:cNvSpPr/>
          <p:nvPr/>
        </p:nvSpPr>
        <p:spPr>
          <a:xfrm>
            <a:off x="320040" y="2990088"/>
            <a:ext cx="4069080" cy="512064"/>
          </a:xfrm>
          <a:prstGeom prst="rect">
            <a:avLst/>
          </a:prstGeom>
          <a:solidFill>
            <a:srgbClr val="FFFFFF"/>
          </a:solidFill>
          <a:ln w="12700">
            <a:solidFill>
              <a:srgbClr val="DC2626">
                <a:alpha val="35000"/>
              </a:srgbClr>
            </a:solidFill>
            <a:prstDash val="solid"/>
          </a:ln>
          <a:effectLst>
            <a:outerShdw blurRad="127000" dist="38100" dir="8100000" algn="bl" rotWithShape="0">
              <a:srgbClr val="94A3B8">
                <a:alpha val="18000"/>
              </a:srgbClr>
            </a:outerShdw>
          </a:effectLst>
        </p:spPr>
      </p:sp>
      <p:sp>
        <p:nvSpPr>
          <p:cNvPr id="17" name="Shape 15"/>
          <p:cNvSpPr/>
          <p:nvPr/>
        </p:nvSpPr>
        <p:spPr>
          <a:xfrm>
            <a:off x="320040" y="2990088"/>
            <a:ext cx="54864" cy="512064"/>
          </a:xfrm>
          <a:prstGeom prst="rect">
            <a:avLst/>
          </a:prstGeom>
          <a:solidFill>
            <a:srgbClr val="DC2626"/>
          </a:solidFill>
          <a:ln w="12700">
            <a:solidFill>
              <a:srgbClr val="DC2626"/>
            </a:solidFill>
            <a:prstDash val="solid"/>
          </a:ln>
        </p:spPr>
      </p:sp>
      <p:sp>
        <p:nvSpPr>
          <p:cNvPr id="18" name="Text 16"/>
          <p:cNvSpPr/>
          <p:nvPr/>
        </p:nvSpPr>
        <p:spPr>
          <a:xfrm>
            <a:off x="457200" y="2990088"/>
            <a:ext cx="411480" cy="512064"/>
          </a:xfrm>
          <a:prstGeom prst="rect">
            <a:avLst/>
          </a:prstGeom>
          <a:noFill/>
        </p:spPr>
        <p:txBody>
          <a:bodyPr wrap="square" lIns="0" tIns="0" rIns="0" bIns="0" rtlCol="0" anchor="ctr"/>
          <a:lstStyle/>
          <a:p>
            <a:pPr marL="0" indent="0" algn="ctr">
              <a:buNone/>
            </a:pPr>
            <a:r>
              <a:rPr lang="en-US" sz="1100" b="1" dirty="0">
                <a:solidFill>
                  <a:srgbClr val="DC2626"/>
                </a:solidFill>
              </a:rPr>
              <a:t>04</a:t>
            </a:r>
            <a:endParaRPr lang="en-US" sz="1100" dirty="0"/>
          </a:p>
        </p:txBody>
      </p:sp>
      <p:sp>
        <p:nvSpPr>
          <p:cNvPr id="19" name="Text 17"/>
          <p:cNvSpPr/>
          <p:nvPr/>
        </p:nvSpPr>
        <p:spPr>
          <a:xfrm>
            <a:off x="914400" y="2990088"/>
            <a:ext cx="3383280" cy="512064"/>
          </a:xfrm>
          <a:prstGeom prst="rect">
            <a:avLst/>
          </a:prstGeom>
          <a:noFill/>
        </p:spPr>
        <p:txBody>
          <a:bodyPr wrap="square" lIns="0" tIns="0" rIns="0" bIns="0" rtlCol="0" anchor="ctr"/>
          <a:lstStyle/>
          <a:p>
            <a:pPr marL="0" indent="0">
              <a:buNone/>
            </a:pPr>
            <a:r>
              <a:rPr lang="en-US" sz="1150" dirty="0">
                <a:solidFill>
                  <a:srgbClr val="334155"/>
                </a:solidFill>
                <a:latin typeface="Calibri" panose="020F0502020204030204" pitchFamily="34" charset="0"/>
                <a:ea typeface="Calibri" panose="020F0502020204030204" pitchFamily="34" charset="-122"/>
                <a:cs typeface="Calibri" panose="020F0502020204030204" pitchFamily="34" charset="-120"/>
              </a:rPr>
              <a:t>Types of Risk</a:t>
            </a:r>
            <a:endParaRPr lang="en-US" sz="1150" dirty="0"/>
          </a:p>
        </p:txBody>
      </p:sp>
      <p:sp>
        <p:nvSpPr>
          <p:cNvPr id="20" name="Shape 18"/>
          <p:cNvSpPr/>
          <p:nvPr/>
        </p:nvSpPr>
        <p:spPr>
          <a:xfrm>
            <a:off x="320040" y="3584448"/>
            <a:ext cx="4069080" cy="512064"/>
          </a:xfrm>
          <a:prstGeom prst="rect">
            <a:avLst/>
          </a:prstGeom>
          <a:solidFill>
            <a:srgbClr val="FFFFFF"/>
          </a:solidFill>
          <a:ln w="12700">
            <a:solidFill>
              <a:srgbClr val="D97706">
                <a:alpha val="35000"/>
              </a:srgbClr>
            </a:solidFill>
            <a:prstDash val="solid"/>
          </a:ln>
          <a:effectLst>
            <a:outerShdw blurRad="127000" dist="38100" dir="8100000" algn="bl" rotWithShape="0">
              <a:srgbClr val="94A3B8">
                <a:alpha val="18000"/>
              </a:srgbClr>
            </a:outerShdw>
          </a:effectLst>
        </p:spPr>
      </p:sp>
      <p:sp>
        <p:nvSpPr>
          <p:cNvPr id="21" name="Shape 19"/>
          <p:cNvSpPr/>
          <p:nvPr/>
        </p:nvSpPr>
        <p:spPr>
          <a:xfrm>
            <a:off x="320040" y="3584448"/>
            <a:ext cx="54864" cy="512064"/>
          </a:xfrm>
          <a:prstGeom prst="rect">
            <a:avLst/>
          </a:prstGeom>
          <a:solidFill>
            <a:srgbClr val="D97706"/>
          </a:solidFill>
          <a:ln w="12700">
            <a:solidFill>
              <a:srgbClr val="D97706"/>
            </a:solidFill>
            <a:prstDash val="solid"/>
          </a:ln>
        </p:spPr>
      </p:sp>
      <p:sp>
        <p:nvSpPr>
          <p:cNvPr id="22" name="Text 20"/>
          <p:cNvSpPr/>
          <p:nvPr/>
        </p:nvSpPr>
        <p:spPr>
          <a:xfrm>
            <a:off x="457200" y="3584448"/>
            <a:ext cx="411480" cy="512064"/>
          </a:xfrm>
          <a:prstGeom prst="rect">
            <a:avLst/>
          </a:prstGeom>
          <a:noFill/>
        </p:spPr>
        <p:txBody>
          <a:bodyPr wrap="square" lIns="0" tIns="0" rIns="0" bIns="0" rtlCol="0" anchor="ctr"/>
          <a:lstStyle/>
          <a:p>
            <a:pPr marL="0" indent="0" algn="ctr">
              <a:buNone/>
            </a:pPr>
            <a:r>
              <a:rPr lang="en-US" sz="1100" b="1" dirty="0">
                <a:solidFill>
                  <a:srgbClr val="D97706"/>
                </a:solidFill>
              </a:rPr>
              <a:t>05</a:t>
            </a:r>
            <a:endParaRPr lang="en-US" sz="1100" dirty="0"/>
          </a:p>
        </p:txBody>
      </p:sp>
      <p:sp>
        <p:nvSpPr>
          <p:cNvPr id="23" name="Text 21"/>
          <p:cNvSpPr/>
          <p:nvPr/>
        </p:nvSpPr>
        <p:spPr>
          <a:xfrm>
            <a:off x="914400" y="3584448"/>
            <a:ext cx="3383280" cy="512064"/>
          </a:xfrm>
          <a:prstGeom prst="rect">
            <a:avLst/>
          </a:prstGeom>
          <a:noFill/>
        </p:spPr>
        <p:txBody>
          <a:bodyPr wrap="square" lIns="0" tIns="0" rIns="0" bIns="0" rtlCol="0" anchor="ctr"/>
          <a:lstStyle/>
          <a:p>
            <a:pPr marL="0" indent="0">
              <a:buNone/>
            </a:pPr>
            <a:r>
              <a:rPr lang="en-US" sz="1150" dirty="0">
                <a:solidFill>
                  <a:srgbClr val="334155"/>
                </a:solidFill>
                <a:latin typeface="Calibri" panose="020F0502020204030204" pitchFamily="34" charset="0"/>
                <a:ea typeface="Calibri" panose="020F0502020204030204" pitchFamily="34" charset="-122"/>
                <a:cs typeface="Calibri" panose="020F0502020204030204" pitchFamily="34" charset="-120"/>
              </a:rPr>
              <a:t>Potential Risks</a:t>
            </a:r>
            <a:endParaRPr lang="en-US" sz="1150" dirty="0"/>
          </a:p>
        </p:txBody>
      </p:sp>
      <p:sp>
        <p:nvSpPr>
          <p:cNvPr id="24" name="Shape 22"/>
          <p:cNvSpPr/>
          <p:nvPr/>
        </p:nvSpPr>
        <p:spPr>
          <a:xfrm>
            <a:off x="320040" y="4178808"/>
            <a:ext cx="4069080" cy="512064"/>
          </a:xfrm>
          <a:prstGeom prst="rect">
            <a:avLst/>
          </a:prstGeom>
          <a:solidFill>
            <a:srgbClr val="FFFFFF"/>
          </a:solidFill>
          <a:ln w="12700">
            <a:solidFill>
              <a:srgbClr val="1E3A5F">
                <a:alpha val="35000"/>
              </a:srgbClr>
            </a:solidFill>
            <a:prstDash val="solid"/>
          </a:ln>
          <a:effectLst>
            <a:outerShdw blurRad="127000" dist="38100" dir="8100000" algn="bl" rotWithShape="0">
              <a:srgbClr val="94A3B8">
                <a:alpha val="18000"/>
              </a:srgbClr>
            </a:outerShdw>
          </a:effectLst>
        </p:spPr>
      </p:sp>
      <p:sp>
        <p:nvSpPr>
          <p:cNvPr id="25" name="Shape 23"/>
          <p:cNvSpPr/>
          <p:nvPr/>
        </p:nvSpPr>
        <p:spPr>
          <a:xfrm>
            <a:off x="320040" y="4178808"/>
            <a:ext cx="54864" cy="512064"/>
          </a:xfrm>
          <a:prstGeom prst="rect">
            <a:avLst/>
          </a:prstGeom>
          <a:solidFill>
            <a:srgbClr val="1E3A5F"/>
          </a:solidFill>
          <a:ln w="12700">
            <a:solidFill>
              <a:srgbClr val="1E3A5F"/>
            </a:solidFill>
            <a:prstDash val="solid"/>
          </a:ln>
        </p:spPr>
      </p:sp>
      <p:sp>
        <p:nvSpPr>
          <p:cNvPr id="26" name="Text 24"/>
          <p:cNvSpPr/>
          <p:nvPr/>
        </p:nvSpPr>
        <p:spPr>
          <a:xfrm>
            <a:off x="457200" y="4178808"/>
            <a:ext cx="411480" cy="512064"/>
          </a:xfrm>
          <a:prstGeom prst="rect">
            <a:avLst/>
          </a:prstGeom>
          <a:noFill/>
        </p:spPr>
        <p:txBody>
          <a:bodyPr wrap="square" lIns="0" tIns="0" rIns="0" bIns="0" rtlCol="0" anchor="ctr"/>
          <a:lstStyle/>
          <a:p>
            <a:pPr marL="0" indent="0" algn="ctr">
              <a:buNone/>
            </a:pPr>
            <a:r>
              <a:rPr lang="en-US" sz="1100" b="1" dirty="0">
                <a:solidFill>
                  <a:srgbClr val="1E3A5F"/>
                </a:solidFill>
              </a:rPr>
              <a:t>06</a:t>
            </a:r>
            <a:endParaRPr lang="en-US" sz="1100" dirty="0"/>
          </a:p>
        </p:txBody>
      </p:sp>
      <p:sp>
        <p:nvSpPr>
          <p:cNvPr id="27" name="Text 25"/>
          <p:cNvSpPr/>
          <p:nvPr/>
        </p:nvSpPr>
        <p:spPr>
          <a:xfrm>
            <a:off x="914400" y="4178808"/>
            <a:ext cx="3383280" cy="512064"/>
          </a:xfrm>
          <a:prstGeom prst="rect">
            <a:avLst/>
          </a:prstGeom>
          <a:noFill/>
        </p:spPr>
        <p:txBody>
          <a:bodyPr wrap="square" lIns="0" tIns="0" rIns="0" bIns="0" rtlCol="0" anchor="ctr"/>
          <a:lstStyle/>
          <a:p>
            <a:pPr marL="0" indent="0">
              <a:buNone/>
            </a:pPr>
            <a:r>
              <a:rPr lang="en-US" sz="1150" dirty="0">
                <a:solidFill>
                  <a:srgbClr val="334155"/>
                </a:solidFill>
                <a:latin typeface="Calibri" panose="020F0502020204030204" pitchFamily="34" charset="0"/>
                <a:ea typeface="Calibri" panose="020F0502020204030204" pitchFamily="34" charset="-122"/>
                <a:cs typeface="Calibri" panose="020F0502020204030204" pitchFamily="34" charset="-120"/>
              </a:rPr>
              <a:t>Risk Due to Lack of Transparency</a:t>
            </a:r>
            <a:endParaRPr lang="en-US" sz="1150" dirty="0"/>
          </a:p>
        </p:txBody>
      </p:sp>
      <p:sp>
        <p:nvSpPr>
          <p:cNvPr id="28" name="Shape 26"/>
          <p:cNvSpPr/>
          <p:nvPr/>
        </p:nvSpPr>
        <p:spPr>
          <a:xfrm>
            <a:off x="4754880" y="1207008"/>
            <a:ext cx="4069080" cy="512064"/>
          </a:xfrm>
          <a:prstGeom prst="rect">
            <a:avLst/>
          </a:prstGeom>
          <a:solidFill>
            <a:srgbClr val="FFFFFF"/>
          </a:solidFill>
          <a:ln w="12700">
            <a:solidFill>
              <a:srgbClr val="10B981">
                <a:alpha val="35000"/>
              </a:srgbClr>
            </a:solidFill>
            <a:prstDash val="solid"/>
          </a:ln>
          <a:effectLst>
            <a:outerShdw blurRad="127000" dist="38100" dir="8100000" algn="bl" rotWithShape="0">
              <a:srgbClr val="94A3B8">
                <a:alpha val="18000"/>
              </a:srgbClr>
            </a:outerShdw>
          </a:effectLst>
        </p:spPr>
      </p:sp>
      <p:sp>
        <p:nvSpPr>
          <p:cNvPr id="29" name="Shape 27"/>
          <p:cNvSpPr/>
          <p:nvPr/>
        </p:nvSpPr>
        <p:spPr>
          <a:xfrm>
            <a:off x="4754880" y="1207008"/>
            <a:ext cx="54864" cy="512064"/>
          </a:xfrm>
          <a:prstGeom prst="rect">
            <a:avLst/>
          </a:prstGeom>
          <a:solidFill>
            <a:srgbClr val="10B981"/>
          </a:solidFill>
          <a:ln w="12700">
            <a:solidFill>
              <a:srgbClr val="10B981"/>
            </a:solidFill>
            <a:prstDash val="solid"/>
          </a:ln>
        </p:spPr>
      </p:sp>
      <p:sp>
        <p:nvSpPr>
          <p:cNvPr id="30" name="Text 28"/>
          <p:cNvSpPr/>
          <p:nvPr/>
        </p:nvSpPr>
        <p:spPr>
          <a:xfrm>
            <a:off x="4892040" y="1207008"/>
            <a:ext cx="411480" cy="512064"/>
          </a:xfrm>
          <a:prstGeom prst="rect">
            <a:avLst/>
          </a:prstGeom>
          <a:noFill/>
        </p:spPr>
        <p:txBody>
          <a:bodyPr wrap="square" lIns="0" tIns="0" rIns="0" bIns="0" rtlCol="0" anchor="ctr"/>
          <a:lstStyle/>
          <a:p>
            <a:pPr marL="0" indent="0" algn="ctr">
              <a:buNone/>
            </a:pPr>
            <a:r>
              <a:rPr lang="en-US" sz="1100" b="1" dirty="0">
                <a:solidFill>
                  <a:srgbClr val="10B981"/>
                </a:solidFill>
              </a:rPr>
              <a:t>07</a:t>
            </a:r>
            <a:endParaRPr lang="en-US" sz="1100" dirty="0"/>
          </a:p>
        </p:txBody>
      </p:sp>
      <p:sp>
        <p:nvSpPr>
          <p:cNvPr id="31" name="Text 29"/>
          <p:cNvSpPr/>
          <p:nvPr/>
        </p:nvSpPr>
        <p:spPr>
          <a:xfrm>
            <a:off x="5349240" y="1207008"/>
            <a:ext cx="3383280" cy="512064"/>
          </a:xfrm>
          <a:prstGeom prst="rect">
            <a:avLst/>
          </a:prstGeom>
          <a:noFill/>
        </p:spPr>
        <p:txBody>
          <a:bodyPr wrap="square" lIns="0" tIns="0" rIns="0" bIns="0" rtlCol="0" anchor="ctr"/>
          <a:lstStyle/>
          <a:p>
            <a:pPr marL="0" indent="0">
              <a:buNone/>
            </a:pPr>
            <a:r>
              <a:rPr lang="en-US" sz="1150" dirty="0">
                <a:solidFill>
                  <a:srgbClr val="334155"/>
                </a:solidFill>
                <a:latin typeface="Calibri" panose="020F0502020204030204" pitchFamily="34" charset="0"/>
                <a:ea typeface="Calibri" panose="020F0502020204030204" pitchFamily="34" charset="-122"/>
                <a:cs typeface="Calibri" panose="020F0502020204030204" pitchFamily="34" charset="-120"/>
              </a:rPr>
              <a:t>Purpose of Risk Assessment</a:t>
            </a:r>
            <a:endParaRPr lang="en-US" sz="1150" dirty="0"/>
          </a:p>
        </p:txBody>
      </p:sp>
      <p:sp>
        <p:nvSpPr>
          <p:cNvPr id="32" name="Shape 30"/>
          <p:cNvSpPr/>
          <p:nvPr/>
        </p:nvSpPr>
        <p:spPr>
          <a:xfrm>
            <a:off x="4754880" y="1801368"/>
            <a:ext cx="4069080" cy="512064"/>
          </a:xfrm>
          <a:prstGeom prst="rect">
            <a:avLst/>
          </a:prstGeom>
          <a:solidFill>
            <a:srgbClr val="FFFFFF"/>
          </a:solidFill>
          <a:ln w="12700">
            <a:solidFill>
              <a:srgbClr val="0891B2">
                <a:alpha val="35000"/>
              </a:srgbClr>
            </a:solidFill>
            <a:prstDash val="solid"/>
          </a:ln>
          <a:effectLst>
            <a:outerShdw blurRad="127000" dist="38100" dir="8100000" algn="bl" rotWithShape="0">
              <a:srgbClr val="94A3B8">
                <a:alpha val="18000"/>
              </a:srgbClr>
            </a:outerShdw>
          </a:effectLst>
        </p:spPr>
      </p:sp>
      <p:sp>
        <p:nvSpPr>
          <p:cNvPr id="33" name="Shape 31"/>
          <p:cNvSpPr/>
          <p:nvPr/>
        </p:nvSpPr>
        <p:spPr>
          <a:xfrm>
            <a:off x="4754880" y="1801368"/>
            <a:ext cx="54864" cy="512064"/>
          </a:xfrm>
          <a:prstGeom prst="rect">
            <a:avLst/>
          </a:prstGeom>
          <a:solidFill>
            <a:srgbClr val="0891B2"/>
          </a:solidFill>
          <a:ln w="12700">
            <a:solidFill>
              <a:srgbClr val="0891B2"/>
            </a:solidFill>
            <a:prstDash val="solid"/>
          </a:ln>
        </p:spPr>
      </p:sp>
      <p:sp>
        <p:nvSpPr>
          <p:cNvPr id="34" name="Text 32"/>
          <p:cNvSpPr/>
          <p:nvPr/>
        </p:nvSpPr>
        <p:spPr>
          <a:xfrm>
            <a:off x="4892040" y="1801368"/>
            <a:ext cx="411480" cy="512064"/>
          </a:xfrm>
          <a:prstGeom prst="rect">
            <a:avLst/>
          </a:prstGeom>
          <a:noFill/>
        </p:spPr>
        <p:txBody>
          <a:bodyPr wrap="square" lIns="0" tIns="0" rIns="0" bIns="0" rtlCol="0" anchor="ctr"/>
          <a:lstStyle/>
          <a:p>
            <a:pPr marL="0" indent="0" algn="ctr">
              <a:buNone/>
            </a:pPr>
            <a:r>
              <a:rPr lang="en-US" sz="1100" b="1" dirty="0">
                <a:solidFill>
                  <a:srgbClr val="0891B2"/>
                </a:solidFill>
              </a:rPr>
              <a:t>08</a:t>
            </a:r>
            <a:endParaRPr lang="en-US" sz="1100" dirty="0"/>
          </a:p>
        </p:txBody>
      </p:sp>
      <p:sp>
        <p:nvSpPr>
          <p:cNvPr id="35" name="Text 33"/>
          <p:cNvSpPr/>
          <p:nvPr/>
        </p:nvSpPr>
        <p:spPr>
          <a:xfrm>
            <a:off x="5349240" y="1801368"/>
            <a:ext cx="3383280" cy="512064"/>
          </a:xfrm>
          <a:prstGeom prst="rect">
            <a:avLst/>
          </a:prstGeom>
          <a:noFill/>
        </p:spPr>
        <p:txBody>
          <a:bodyPr wrap="square" lIns="0" tIns="0" rIns="0" bIns="0" rtlCol="0" anchor="ctr"/>
          <a:lstStyle/>
          <a:p>
            <a:pPr marL="0" indent="0">
              <a:buNone/>
            </a:pPr>
            <a:r>
              <a:rPr lang="en-US" sz="1150" dirty="0">
                <a:solidFill>
                  <a:srgbClr val="334155"/>
                </a:solidFill>
                <a:latin typeface="Calibri" panose="020F0502020204030204" pitchFamily="34" charset="0"/>
                <a:ea typeface="Calibri" panose="020F0502020204030204" pitchFamily="34" charset="-122"/>
                <a:cs typeface="Calibri" panose="020F0502020204030204" pitchFamily="34" charset="-120"/>
              </a:rPr>
              <a:t>Mitigation Strategies</a:t>
            </a:r>
            <a:endParaRPr lang="en-US" sz="1150" dirty="0"/>
          </a:p>
        </p:txBody>
      </p:sp>
      <p:sp>
        <p:nvSpPr>
          <p:cNvPr id="36" name="Shape 34"/>
          <p:cNvSpPr/>
          <p:nvPr/>
        </p:nvSpPr>
        <p:spPr>
          <a:xfrm>
            <a:off x="4754880" y="2395728"/>
            <a:ext cx="4069080" cy="512064"/>
          </a:xfrm>
          <a:prstGeom prst="rect">
            <a:avLst/>
          </a:prstGeom>
          <a:solidFill>
            <a:srgbClr val="FFFFFF"/>
          </a:solidFill>
          <a:ln w="12700">
            <a:solidFill>
              <a:srgbClr val="2563EB">
                <a:alpha val="35000"/>
              </a:srgbClr>
            </a:solidFill>
            <a:prstDash val="solid"/>
          </a:ln>
          <a:effectLst>
            <a:outerShdw blurRad="127000" dist="38100" dir="8100000" algn="bl" rotWithShape="0">
              <a:srgbClr val="94A3B8">
                <a:alpha val="18000"/>
              </a:srgbClr>
            </a:outerShdw>
          </a:effectLst>
        </p:spPr>
      </p:sp>
      <p:sp>
        <p:nvSpPr>
          <p:cNvPr id="37" name="Shape 35"/>
          <p:cNvSpPr/>
          <p:nvPr/>
        </p:nvSpPr>
        <p:spPr>
          <a:xfrm>
            <a:off x="4754880" y="2395728"/>
            <a:ext cx="54864" cy="512064"/>
          </a:xfrm>
          <a:prstGeom prst="rect">
            <a:avLst/>
          </a:prstGeom>
          <a:solidFill>
            <a:srgbClr val="2563EB"/>
          </a:solidFill>
          <a:ln w="12700">
            <a:solidFill>
              <a:srgbClr val="2563EB"/>
            </a:solidFill>
            <a:prstDash val="solid"/>
          </a:ln>
        </p:spPr>
      </p:sp>
      <p:sp>
        <p:nvSpPr>
          <p:cNvPr id="38" name="Text 36"/>
          <p:cNvSpPr/>
          <p:nvPr/>
        </p:nvSpPr>
        <p:spPr>
          <a:xfrm>
            <a:off x="4892040" y="2395728"/>
            <a:ext cx="411480" cy="512064"/>
          </a:xfrm>
          <a:prstGeom prst="rect">
            <a:avLst/>
          </a:prstGeom>
          <a:noFill/>
        </p:spPr>
        <p:txBody>
          <a:bodyPr wrap="square" lIns="0" tIns="0" rIns="0" bIns="0" rtlCol="0" anchor="ctr"/>
          <a:lstStyle/>
          <a:p>
            <a:pPr marL="0" indent="0" algn="ctr">
              <a:buNone/>
            </a:pPr>
            <a:r>
              <a:rPr lang="en-US" sz="1100" b="1" dirty="0">
                <a:solidFill>
                  <a:srgbClr val="2563EB"/>
                </a:solidFill>
              </a:rPr>
              <a:t>09</a:t>
            </a:r>
            <a:endParaRPr lang="en-US" sz="1100" dirty="0"/>
          </a:p>
        </p:txBody>
      </p:sp>
      <p:sp>
        <p:nvSpPr>
          <p:cNvPr id="39" name="Text 37"/>
          <p:cNvSpPr/>
          <p:nvPr/>
        </p:nvSpPr>
        <p:spPr>
          <a:xfrm>
            <a:off x="5349240" y="2395728"/>
            <a:ext cx="3383280" cy="512064"/>
          </a:xfrm>
          <a:prstGeom prst="rect">
            <a:avLst/>
          </a:prstGeom>
          <a:noFill/>
        </p:spPr>
        <p:txBody>
          <a:bodyPr wrap="square" lIns="0" tIns="0" rIns="0" bIns="0" rtlCol="0" anchor="ctr"/>
          <a:lstStyle/>
          <a:p>
            <a:pPr marL="0" indent="0">
              <a:buNone/>
            </a:pPr>
            <a:r>
              <a:rPr lang="en-US" sz="1150" dirty="0">
                <a:solidFill>
                  <a:srgbClr val="334155"/>
                </a:solidFill>
                <a:latin typeface="Calibri" panose="020F0502020204030204" pitchFamily="34" charset="0"/>
                <a:ea typeface="Calibri" panose="020F0502020204030204" pitchFamily="34" charset="-122"/>
                <a:cs typeface="Calibri" panose="020F0502020204030204" pitchFamily="34" charset="-120"/>
              </a:rPr>
              <a:t>NIST AI RMF</a:t>
            </a:r>
            <a:endParaRPr lang="en-US" sz="1150" dirty="0"/>
          </a:p>
        </p:txBody>
      </p:sp>
      <p:sp>
        <p:nvSpPr>
          <p:cNvPr id="40" name="Shape 38"/>
          <p:cNvSpPr/>
          <p:nvPr/>
        </p:nvSpPr>
        <p:spPr>
          <a:xfrm>
            <a:off x="4754880" y="2990088"/>
            <a:ext cx="4069080" cy="512064"/>
          </a:xfrm>
          <a:prstGeom prst="rect">
            <a:avLst/>
          </a:prstGeom>
          <a:solidFill>
            <a:srgbClr val="FFFFFF"/>
          </a:solidFill>
          <a:ln w="12700">
            <a:solidFill>
              <a:srgbClr val="7C3AED">
                <a:alpha val="35000"/>
              </a:srgbClr>
            </a:solidFill>
            <a:prstDash val="solid"/>
          </a:ln>
          <a:effectLst>
            <a:outerShdw blurRad="127000" dist="38100" dir="8100000" algn="bl" rotWithShape="0">
              <a:srgbClr val="94A3B8">
                <a:alpha val="18000"/>
              </a:srgbClr>
            </a:outerShdw>
          </a:effectLst>
        </p:spPr>
      </p:sp>
      <p:sp>
        <p:nvSpPr>
          <p:cNvPr id="41" name="Shape 39"/>
          <p:cNvSpPr/>
          <p:nvPr/>
        </p:nvSpPr>
        <p:spPr>
          <a:xfrm>
            <a:off x="4754880" y="2990088"/>
            <a:ext cx="54864" cy="512064"/>
          </a:xfrm>
          <a:prstGeom prst="rect">
            <a:avLst/>
          </a:prstGeom>
          <a:solidFill>
            <a:srgbClr val="7C3AED"/>
          </a:solidFill>
          <a:ln w="12700">
            <a:solidFill>
              <a:srgbClr val="7C3AED"/>
            </a:solidFill>
            <a:prstDash val="solid"/>
          </a:ln>
        </p:spPr>
      </p:sp>
      <p:sp>
        <p:nvSpPr>
          <p:cNvPr id="42" name="Text 40"/>
          <p:cNvSpPr/>
          <p:nvPr/>
        </p:nvSpPr>
        <p:spPr>
          <a:xfrm>
            <a:off x="4892040" y="2990088"/>
            <a:ext cx="411480" cy="512064"/>
          </a:xfrm>
          <a:prstGeom prst="rect">
            <a:avLst/>
          </a:prstGeom>
          <a:noFill/>
        </p:spPr>
        <p:txBody>
          <a:bodyPr wrap="square" lIns="0" tIns="0" rIns="0" bIns="0" rtlCol="0" anchor="ctr"/>
          <a:lstStyle/>
          <a:p>
            <a:pPr marL="0" indent="0" algn="ctr">
              <a:buNone/>
            </a:pPr>
            <a:r>
              <a:rPr lang="en-US" sz="1100" b="1" dirty="0">
                <a:solidFill>
                  <a:srgbClr val="7C3AED"/>
                </a:solidFill>
              </a:rPr>
              <a:t>10</a:t>
            </a:r>
            <a:endParaRPr lang="en-US" sz="1100" dirty="0"/>
          </a:p>
        </p:txBody>
      </p:sp>
      <p:sp>
        <p:nvSpPr>
          <p:cNvPr id="43" name="Text 41"/>
          <p:cNvSpPr/>
          <p:nvPr/>
        </p:nvSpPr>
        <p:spPr>
          <a:xfrm>
            <a:off x="5349240" y="2990088"/>
            <a:ext cx="3383280" cy="512064"/>
          </a:xfrm>
          <a:prstGeom prst="rect">
            <a:avLst/>
          </a:prstGeom>
          <a:noFill/>
        </p:spPr>
        <p:txBody>
          <a:bodyPr wrap="square" lIns="0" tIns="0" rIns="0" bIns="0" rtlCol="0" anchor="ctr"/>
          <a:lstStyle/>
          <a:p>
            <a:pPr marL="0" indent="0">
              <a:buNone/>
            </a:pPr>
            <a:r>
              <a:rPr lang="en-US" sz="1150" dirty="0">
                <a:solidFill>
                  <a:srgbClr val="334155"/>
                </a:solidFill>
                <a:latin typeface="Calibri" panose="020F0502020204030204" pitchFamily="34" charset="0"/>
                <a:ea typeface="Calibri" panose="020F0502020204030204" pitchFamily="34" charset="-122"/>
                <a:cs typeface="Calibri" panose="020F0502020204030204" pitchFamily="34" charset="-120"/>
              </a:rPr>
              <a:t>Main Objectives of NIST AI RMF</a:t>
            </a:r>
            <a:endParaRPr lang="en-US" sz="1150" dirty="0"/>
          </a:p>
        </p:txBody>
      </p:sp>
      <p:sp>
        <p:nvSpPr>
          <p:cNvPr id="44" name="Shape 42"/>
          <p:cNvSpPr/>
          <p:nvPr/>
        </p:nvSpPr>
        <p:spPr>
          <a:xfrm>
            <a:off x="4754880" y="3584448"/>
            <a:ext cx="4069080" cy="512064"/>
          </a:xfrm>
          <a:prstGeom prst="rect">
            <a:avLst/>
          </a:prstGeom>
          <a:solidFill>
            <a:srgbClr val="FFFFFF"/>
          </a:solidFill>
          <a:ln w="12700">
            <a:solidFill>
              <a:srgbClr val="D97706">
                <a:alpha val="35000"/>
              </a:srgbClr>
            </a:solidFill>
            <a:prstDash val="solid"/>
          </a:ln>
          <a:effectLst>
            <a:outerShdw blurRad="127000" dist="38100" dir="8100000" algn="bl" rotWithShape="0">
              <a:srgbClr val="94A3B8">
                <a:alpha val="18000"/>
              </a:srgbClr>
            </a:outerShdw>
          </a:effectLst>
        </p:spPr>
      </p:sp>
      <p:sp>
        <p:nvSpPr>
          <p:cNvPr id="45" name="Shape 43"/>
          <p:cNvSpPr/>
          <p:nvPr/>
        </p:nvSpPr>
        <p:spPr>
          <a:xfrm>
            <a:off x="4754880" y="3584448"/>
            <a:ext cx="54864" cy="512064"/>
          </a:xfrm>
          <a:prstGeom prst="rect">
            <a:avLst/>
          </a:prstGeom>
          <a:solidFill>
            <a:srgbClr val="D97706"/>
          </a:solidFill>
          <a:ln w="12700">
            <a:solidFill>
              <a:srgbClr val="D97706"/>
            </a:solidFill>
            <a:prstDash val="solid"/>
          </a:ln>
        </p:spPr>
      </p:sp>
      <p:sp>
        <p:nvSpPr>
          <p:cNvPr id="46" name="Text 44"/>
          <p:cNvSpPr/>
          <p:nvPr/>
        </p:nvSpPr>
        <p:spPr>
          <a:xfrm>
            <a:off x="4892040" y="3584448"/>
            <a:ext cx="411480" cy="512064"/>
          </a:xfrm>
          <a:prstGeom prst="rect">
            <a:avLst/>
          </a:prstGeom>
          <a:noFill/>
        </p:spPr>
        <p:txBody>
          <a:bodyPr wrap="square" lIns="0" tIns="0" rIns="0" bIns="0" rtlCol="0" anchor="ctr"/>
          <a:lstStyle/>
          <a:p>
            <a:pPr marL="0" indent="0" algn="ctr">
              <a:buNone/>
            </a:pPr>
            <a:r>
              <a:rPr lang="en-US" sz="1100" b="1" dirty="0">
                <a:solidFill>
                  <a:srgbClr val="D97706"/>
                </a:solidFill>
              </a:rPr>
              <a:t>11</a:t>
            </a:r>
            <a:endParaRPr lang="en-US" sz="1100" dirty="0"/>
          </a:p>
        </p:txBody>
      </p:sp>
      <p:sp>
        <p:nvSpPr>
          <p:cNvPr id="47" name="Text 45"/>
          <p:cNvSpPr/>
          <p:nvPr/>
        </p:nvSpPr>
        <p:spPr>
          <a:xfrm>
            <a:off x="5349240" y="3584448"/>
            <a:ext cx="3383280" cy="512064"/>
          </a:xfrm>
          <a:prstGeom prst="rect">
            <a:avLst/>
          </a:prstGeom>
          <a:noFill/>
        </p:spPr>
        <p:txBody>
          <a:bodyPr wrap="square" lIns="0" tIns="0" rIns="0" bIns="0" rtlCol="0" anchor="ctr"/>
          <a:lstStyle/>
          <a:p>
            <a:pPr marL="0" indent="0">
              <a:buNone/>
            </a:pPr>
            <a:r>
              <a:rPr lang="en-US" sz="1150" dirty="0">
                <a:solidFill>
                  <a:srgbClr val="334155"/>
                </a:solidFill>
                <a:latin typeface="Calibri" panose="020F0502020204030204" pitchFamily="34" charset="0"/>
                <a:ea typeface="Calibri" panose="020F0502020204030204" pitchFamily="34" charset="-122"/>
                <a:cs typeface="Calibri" panose="020F0502020204030204" pitchFamily="34" charset="-120"/>
              </a:rPr>
              <a:t>AI Use Case &amp; Its Risks</a:t>
            </a:r>
            <a:endParaRPr lang="en-US" sz="1150" dirty="0"/>
          </a:p>
        </p:txBody>
      </p:sp>
      <p:sp>
        <p:nvSpPr>
          <p:cNvPr id="48" name="Shape 46"/>
          <p:cNvSpPr/>
          <p:nvPr/>
        </p:nvSpPr>
        <p:spPr>
          <a:xfrm>
            <a:off x="4754880" y="4178808"/>
            <a:ext cx="4069080" cy="512064"/>
          </a:xfrm>
          <a:prstGeom prst="rect">
            <a:avLst/>
          </a:prstGeom>
          <a:solidFill>
            <a:srgbClr val="FFFFFF"/>
          </a:solidFill>
          <a:ln w="12700">
            <a:solidFill>
              <a:srgbClr val="1E3A5F">
                <a:alpha val="35000"/>
              </a:srgbClr>
            </a:solidFill>
            <a:prstDash val="solid"/>
          </a:ln>
          <a:effectLst>
            <a:outerShdw blurRad="127000" dist="38100" dir="8100000" algn="bl" rotWithShape="0">
              <a:srgbClr val="94A3B8">
                <a:alpha val="18000"/>
              </a:srgbClr>
            </a:outerShdw>
          </a:effectLst>
        </p:spPr>
      </p:sp>
      <p:sp>
        <p:nvSpPr>
          <p:cNvPr id="49" name="Shape 47"/>
          <p:cNvSpPr/>
          <p:nvPr/>
        </p:nvSpPr>
        <p:spPr>
          <a:xfrm>
            <a:off x="4754880" y="4178808"/>
            <a:ext cx="54864" cy="512064"/>
          </a:xfrm>
          <a:prstGeom prst="rect">
            <a:avLst/>
          </a:prstGeom>
          <a:solidFill>
            <a:srgbClr val="1E3A5F"/>
          </a:solidFill>
          <a:ln w="12700">
            <a:solidFill>
              <a:srgbClr val="1E3A5F"/>
            </a:solidFill>
            <a:prstDash val="solid"/>
          </a:ln>
        </p:spPr>
      </p:sp>
      <p:sp>
        <p:nvSpPr>
          <p:cNvPr id="50" name="Text 48"/>
          <p:cNvSpPr/>
          <p:nvPr/>
        </p:nvSpPr>
        <p:spPr>
          <a:xfrm>
            <a:off x="4892040" y="4178808"/>
            <a:ext cx="411480" cy="512064"/>
          </a:xfrm>
          <a:prstGeom prst="rect">
            <a:avLst/>
          </a:prstGeom>
          <a:noFill/>
        </p:spPr>
        <p:txBody>
          <a:bodyPr wrap="square" lIns="0" tIns="0" rIns="0" bIns="0" rtlCol="0" anchor="ctr"/>
          <a:lstStyle/>
          <a:p>
            <a:pPr marL="0" indent="0" algn="ctr">
              <a:buNone/>
            </a:pPr>
            <a:r>
              <a:rPr lang="en-US" sz="1100" b="1" dirty="0">
                <a:solidFill>
                  <a:srgbClr val="1E3A5F"/>
                </a:solidFill>
              </a:rPr>
              <a:t>12</a:t>
            </a:r>
            <a:endParaRPr lang="en-US" sz="1100" dirty="0"/>
          </a:p>
        </p:txBody>
      </p:sp>
      <p:sp>
        <p:nvSpPr>
          <p:cNvPr id="51" name="Text 49"/>
          <p:cNvSpPr/>
          <p:nvPr/>
        </p:nvSpPr>
        <p:spPr>
          <a:xfrm>
            <a:off x="5349240" y="4178808"/>
            <a:ext cx="3383280" cy="512064"/>
          </a:xfrm>
          <a:prstGeom prst="rect">
            <a:avLst/>
          </a:prstGeom>
          <a:noFill/>
        </p:spPr>
        <p:txBody>
          <a:bodyPr wrap="square" lIns="0" tIns="0" rIns="0" bIns="0" rtlCol="0" anchor="ctr"/>
          <a:lstStyle/>
          <a:p>
            <a:pPr marL="0" indent="0">
              <a:buNone/>
            </a:pPr>
            <a:r>
              <a:rPr lang="en-US" sz="1150" dirty="0">
                <a:solidFill>
                  <a:srgbClr val="334155"/>
                </a:solidFill>
                <a:latin typeface="Calibri" panose="020F0502020204030204" pitchFamily="34" charset="0"/>
                <a:ea typeface="Calibri" panose="020F0502020204030204" pitchFamily="34" charset="-122"/>
                <a:cs typeface="Calibri" panose="020F0502020204030204" pitchFamily="34" charset="-120"/>
              </a:rPr>
              <a:t>Conclusion</a:t>
            </a:r>
            <a:endParaRPr lang="en-US" sz="11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0F7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2563EB">
              <a:alpha val="14000"/>
            </a:srgbClr>
          </a:solidFill>
          <a:ln w="12700">
            <a:solidFill>
              <a:srgbClr val="2563EB">
                <a:alpha val="14000"/>
              </a:srgbClr>
            </a:solidFill>
            <a:prstDash val="solid"/>
          </a:ln>
        </p:spPr>
      </p:sp>
      <p:sp>
        <p:nvSpPr>
          <p:cNvPr id="3" name="Shape 1"/>
          <p:cNvSpPr/>
          <p:nvPr/>
        </p:nvSpPr>
        <p:spPr>
          <a:xfrm>
            <a:off x="274320" y="182880"/>
            <a:ext cx="658368" cy="658368"/>
          </a:xfrm>
          <a:prstGeom prst="ellipse">
            <a:avLst/>
          </a:prstGeom>
          <a:solidFill>
            <a:srgbClr val="2563EB">
              <a:alpha val="45000"/>
            </a:srgbClr>
          </a:solidFill>
          <a:ln w="12700">
            <a:solidFill>
              <a:srgbClr val="2563EB">
                <a:alpha val="45000"/>
              </a:srgbClr>
            </a:solidFill>
            <a:prstDash val="solid"/>
          </a:ln>
        </p:spPr>
      </p:sp>
      <p:sp>
        <p:nvSpPr>
          <p:cNvPr id="4" name="Text 2"/>
          <p:cNvSpPr/>
          <p:nvPr/>
        </p:nvSpPr>
        <p:spPr>
          <a:xfrm>
            <a:off x="274320" y="182880"/>
            <a:ext cx="658368" cy="658368"/>
          </a:xfrm>
          <a:prstGeom prst="rect">
            <a:avLst/>
          </a:prstGeom>
          <a:noFill/>
        </p:spPr>
        <p:txBody>
          <a:bodyPr wrap="square" lIns="0" tIns="0" rIns="0" bIns="0" rtlCol="0" anchor="ctr"/>
          <a:lstStyle/>
          <a:p>
            <a:pPr marL="0" indent="0" algn="ctr">
              <a:buNone/>
            </a:pPr>
            <a:r>
              <a:rPr lang="en-US" sz="1800" b="1" dirty="0">
                <a:solidFill>
                  <a:srgbClr val="2563EB"/>
                </a:solidFill>
              </a:rPr>
              <a:t>01</a:t>
            </a:r>
            <a:endParaRPr lang="en-US" sz="1800" dirty="0"/>
          </a:p>
        </p:txBody>
      </p:sp>
      <p:sp>
        <p:nvSpPr>
          <p:cNvPr id="5" name="Text 3"/>
          <p:cNvSpPr/>
          <p:nvPr/>
        </p:nvSpPr>
        <p:spPr>
          <a:xfrm>
            <a:off x="1078992" y="73152"/>
            <a:ext cx="7863840" cy="914400"/>
          </a:xfrm>
          <a:prstGeom prst="rect">
            <a:avLst/>
          </a:prstGeom>
          <a:noFill/>
        </p:spPr>
        <p:txBody>
          <a:bodyPr wrap="square" rtlCol="0" anchor="ctr"/>
          <a:lstStyle/>
          <a:p>
            <a:pPr marL="0" indent="0">
              <a:buNone/>
            </a:pPr>
            <a:r>
              <a:rPr lang="en-US" sz="3000" b="1" dirty="0">
                <a:solidFill>
                  <a:srgbClr val="1E3A5F"/>
                </a:solidFill>
                <a:latin typeface="Calibri" panose="020F0502020204030204" pitchFamily="34" charset="0"/>
                <a:ea typeface="Calibri" panose="020F0502020204030204" pitchFamily="34" charset="-122"/>
                <a:cs typeface="Calibri" panose="020F0502020204030204" pitchFamily="34" charset="-120"/>
              </a:rPr>
              <a:t>Definition &amp; Overview</a:t>
            </a:r>
            <a:endParaRPr lang="en-US" sz="3000" dirty="0"/>
          </a:p>
        </p:txBody>
      </p:sp>
      <p:sp>
        <p:nvSpPr>
          <p:cNvPr id="6" name="Shape 4"/>
          <p:cNvSpPr/>
          <p:nvPr/>
        </p:nvSpPr>
        <p:spPr>
          <a:xfrm>
            <a:off x="320040" y="1207008"/>
            <a:ext cx="4114800" cy="1691640"/>
          </a:xfrm>
          <a:prstGeom prst="rect">
            <a:avLst/>
          </a:prstGeom>
          <a:solidFill>
            <a:srgbClr val="FFFFFF"/>
          </a:solidFill>
          <a:ln w="12700">
            <a:solidFill>
              <a:srgbClr val="2563EB">
                <a:alpha val="45000"/>
              </a:srgbClr>
            </a:solidFill>
            <a:prstDash val="solid"/>
          </a:ln>
          <a:effectLst>
            <a:outerShdw blurRad="127000" dist="38100" dir="8100000" algn="bl" rotWithShape="0">
              <a:srgbClr val="94A3B8">
                <a:alpha val="18000"/>
              </a:srgbClr>
            </a:outerShdw>
          </a:effectLst>
        </p:spPr>
      </p:sp>
      <p:sp>
        <p:nvSpPr>
          <p:cNvPr id="7" name="Shape 5"/>
          <p:cNvSpPr/>
          <p:nvPr/>
        </p:nvSpPr>
        <p:spPr>
          <a:xfrm>
            <a:off x="320040" y="1207008"/>
            <a:ext cx="4114800" cy="457200"/>
          </a:xfrm>
          <a:prstGeom prst="rect">
            <a:avLst/>
          </a:prstGeom>
          <a:solidFill>
            <a:srgbClr val="2563EB">
              <a:alpha val="20000"/>
            </a:srgbClr>
          </a:solidFill>
          <a:ln w="12700">
            <a:solidFill>
              <a:srgbClr val="2563EB">
                <a:alpha val="20000"/>
              </a:srgbClr>
            </a:solidFill>
            <a:prstDash val="solid"/>
          </a:ln>
        </p:spPr>
      </p:sp>
      <p:sp>
        <p:nvSpPr>
          <p:cNvPr id="8" name="Text 6"/>
          <p:cNvSpPr/>
          <p:nvPr/>
        </p:nvSpPr>
        <p:spPr>
          <a:xfrm>
            <a:off x="457200" y="1207008"/>
            <a:ext cx="3931920" cy="457200"/>
          </a:xfrm>
          <a:prstGeom prst="rect">
            <a:avLst/>
          </a:prstGeom>
          <a:noFill/>
        </p:spPr>
        <p:txBody>
          <a:bodyPr wrap="square" lIns="0" tIns="0" rIns="0" bIns="0" rtlCol="0" anchor="ctr"/>
          <a:lstStyle/>
          <a:p>
            <a:pPr marL="0" indent="0">
              <a:buNone/>
            </a:pPr>
            <a:r>
              <a:rPr lang="en-US" sz="1300" b="1" dirty="0">
                <a:solidFill>
                  <a:srgbClr val="2563EB"/>
                </a:solidFill>
                <a:latin typeface="Calibri" panose="020F0502020204030204" pitchFamily="34" charset="0"/>
                <a:ea typeface="Calibri" panose="020F0502020204030204" pitchFamily="34" charset="-122"/>
                <a:cs typeface="Calibri" panose="020F0502020204030204" pitchFamily="34" charset="-120"/>
              </a:rPr>
              <a:t>  🧠  AI Governance</a:t>
            </a:r>
            <a:endParaRPr lang="en-US" sz="1300" dirty="0"/>
          </a:p>
        </p:txBody>
      </p:sp>
      <p:sp>
        <p:nvSpPr>
          <p:cNvPr id="9" name="Text 7"/>
          <p:cNvSpPr/>
          <p:nvPr/>
        </p:nvSpPr>
        <p:spPr>
          <a:xfrm>
            <a:off x="475488" y="1737360"/>
            <a:ext cx="3840480" cy="1005840"/>
          </a:xfrm>
          <a:prstGeom prst="rect">
            <a:avLst/>
          </a:prstGeom>
          <a:noFill/>
        </p:spPr>
        <p:txBody>
          <a:bodyPr wrap="square" rtlCol="0" anchor="ctr"/>
          <a:lstStyle/>
          <a:p>
            <a:pPr marL="0" indent="0">
              <a:buNone/>
            </a:pP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The set of rules and practices to ensure AI is developed and used safely, ethically, and responsibly.</a:t>
            </a:r>
            <a:endParaRPr lang="en-US" sz="1200" dirty="0"/>
          </a:p>
        </p:txBody>
      </p:sp>
      <p:sp>
        <p:nvSpPr>
          <p:cNvPr id="10" name="Shape 8"/>
          <p:cNvSpPr/>
          <p:nvPr/>
        </p:nvSpPr>
        <p:spPr>
          <a:xfrm>
            <a:off x="4709160" y="1207008"/>
            <a:ext cx="4114800" cy="1691640"/>
          </a:xfrm>
          <a:prstGeom prst="rect">
            <a:avLst/>
          </a:prstGeom>
          <a:solidFill>
            <a:srgbClr val="FFFFFF"/>
          </a:solidFill>
          <a:ln w="12700">
            <a:solidFill>
              <a:srgbClr val="0891B2">
                <a:alpha val="45000"/>
              </a:srgbClr>
            </a:solidFill>
            <a:prstDash val="solid"/>
          </a:ln>
          <a:effectLst>
            <a:outerShdw blurRad="127000" dist="38100" dir="8100000" algn="bl" rotWithShape="0">
              <a:srgbClr val="94A3B8">
                <a:alpha val="18000"/>
              </a:srgbClr>
            </a:outerShdw>
          </a:effectLst>
        </p:spPr>
      </p:sp>
      <p:sp>
        <p:nvSpPr>
          <p:cNvPr id="11" name="Shape 9"/>
          <p:cNvSpPr/>
          <p:nvPr/>
        </p:nvSpPr>
        <p:spPr>
          <a:xfrm>
            <a:off x="4709160" y="1207008"/>
            <a:ext cx="4114800" cy="457200"/>
          </a:xfrm>
          <a:prstGeom prst="rect">
            <a:avLst/>
          </a:prstGeom>
          <a:solidFill>
            <a:srgbClr val="0891B2">
              <a:alpha val="20000"/>
            </a:srgbClr>
          </a:solidFill>
          <a:ln w="12700">
            <a:solidFill>
              <a:srgbClr val="0891B2">
                <a:alpha val="20000"/>
              </a:srgbClr>
            </a:solidFill>
            <a:prstDash val="solid"/>
          </a:ln>
        </p:spPr>
      </p:sp>
      <p:sp>
        <p:nvSpPr>
          <p:cNvPr id="12" name="Text 10"/>
          <p:cNvSpPr/>
          <p:nvPr/>
        </p:nvSpPr>
        <p:spPr>
          <a:xfrm>
            <a:off x="4846320" y="1207008"/>
            <a:ext cx="3931920" cy="457200"/>
          </a:xfrm>
          <a:prstGeom prst="rect">
            <a:avLst/>
          </a:prstGeom>
          <a:noFill/>
        </p:spPr>
        <p:txBody>
          <a:bodyPr wrap="square" lIns="0" tIns="0" rIns="0" bIns="0" rtlCol="0" anchor="ctr"/>
          <a:lstStyle/>
          <a:p>
            <a:pPr marL="0" indent="0">
              <a:buNone/>
            </a:pPr>
            <a:r>
              <a:rPr lang="en-US" sz="1300" b="1" dirty="0">
                <a:solidFill>
                  <a:srgbClr val="0891B2"/>
                </a:solidFill>
                <a:latin typeface="Calibri" panose="020F0502020204030204" pitchFamily="34" charset="0"/>
                <a:ea typeface="Calibri" panose="020F0502020204030204" pitchFamily="34" charset="-122"/>
                <a:cs typeface="Calibri" panose="020F0502020204030204" pitchFamily="34" charset="-120"/>
              </a:rPr>
              <a:t>  🔒  Cyber Risk Management</a:t>
            </a:r>
            <a:endParaRPr lang="en-US" sz="1300" dirty="0"/>
          </a:p>
        </p:txBody>
      </p:sp>
      <p:sp>
        <p:nvSpPr>
          <p:cNvPr id="13" name="Text 11"/>
          <p:cNvSpPr/>
          <p:nvPr/>
        </p:nvSpPr>
        <p:spPr>
          <a:xfrm>
            <a:off x="4864608" y="1737360"/>
            <a:ext cx="3840480" cy="1005840"/>
          </a:xfrm>
          <a:prstGeom prst="rect">
            <a:avLst/>
          </a:prstGeom>
          <a:noFill/>
        </p:spPr>
        <p:txBody>
          <a:bodyPr wrap="square" rtlCol="0" anchor="ctr"/>
          <a:lstStyle/>
          <a:p>
            <a:pPr marL="0" indent="0">
              <a:buNone/>
            </a:pP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Process of identifying, assessing, and reducing threats to digital systems from cyber-attacks through continuous monitoring and controls.</a:t>
            </a:r>
            <a:endParaRPr lang="en-US" sz="1200" dirty="0"/>
          </a:p>
        </p:txBody>
      </p:sp>
      <p:sp>
        <p:nvSpPr>
          <p:cNvPr id="14" name="Shape 12"/>
          <p:cNvSpPr/>
          <p:nvPr/>
        </p:nvSpPr>
        <p:spPr>
          <a:xfrm>
            <a:off x="320040" y="3017520"/>
            <a:ext cx="8503920" cy="1188720"/>
          </a:xfrm>
          <a:prstGeom prst="rect">
            <a:avLst/>
          </a:prstGeom>
          <a:solidFill>
            <a:srgbClr val="FFFFFF"/>
          </a:solidFill>
          <a:ln w="12700">
            <a:solidFill>
              <a:srgbClr val="10B981">
                <a:alpha val="45000"/>
              </a:srgbClr>
            </a:solidFill>
            <a:prstDash val="solid"/>
          </a:ln>
          <a:effectLst>
            <a:outerShdw blurRad="127000" dist="38100" dir="8100000" algn="bl" rotWithShape="0">
              <a:srgbClr val="94A3B8">
                <a:alpha val="18000"/>
              </a:srgbClr>
            </a:outerShdw>
          </a:effectLst>
        </p:spPr>
      </p:sp>
      <p:sp>
        <p:nvSpPr>
          <p:cNvPr id="15" name="Shape 13"/>
          <p:cNvSpPr/>
          <p:nvPr/>
        </p:nvSpPr>
        <p:spPr>
          <a:xfrm>
            <a:off x="320040" y="3017520"/>
            <a:ext cx="8503920" cy="457200"/>
          </a:xfrm>
          <a:prstGeom prst="rect">
            <a:avLst/>
          </a:prstGeom>
          <a:solidFill>
            <a:srgbClr val="10B981">
              <a:alpha val="20000"/>
            </a:srgbClr>
          </a:solidFill>
          <a:ln w="12700">
            <a:solidFill>
              <a:srgbClr val="10B981">
                <a:alpha val="20000"/>
              </a:srgbClr>
            </a:solidFill>
            <a:prstDash val="solid"/>
          </a:ln>
        </p:spPr>
      </p:sp>
      <p:sp>
        <p:nvSpPr>
          <p:cNvPr id="16" name="Text 14"/>
          <p:cNvSpPr/>
          <p:nvPr/>
        </p:nvSpPr>
        <p:spPr>
          <a:xfrm>
            <a:off x="457200" y="3017520"/>
            <a:ext cx="8321040" cy="457200"/>
          </a:xfrm>
          <a:prstGeom prst="rect">
            <a:avLst/>
          </a:prstGeom>
          <a:noFill/>
        </p:spPr>
        <p:txBody>
          <a:bodyPr wrap="square" lIns="0" tIns="0" rIns="0" bIns="0" rtlCol="0" anchor="ctr"/>
          <a:lstStyle/>
          <a:p>
            <a:pPr marL="0" indent="0">
              <a:buNone/>
            </a:pPr>
            <a:r>
              <a:rPr lang="en-US" sz="1300" b="1" dirty="0">
                <a:solidFill>
                  <a:srgbClr val="10B981"/>
                </a:solidFill>
                <a:latin typeface="Calibri" panose="020F0502020204030204" pitchFamily="34" charset="0"/>
                <a:ea typeface="Calibri" panose="020F0502020204030204" pitchFamily="34" charset="-122"/>
                <a:cs typeface="Calibri" panose="020F0502020204030204" pitchFamily="34" charset="-120"/>
              </a:rPr>
              <a:t>  ✅  Together</a:t>
            </a:r>
            <a:endParaRPr lang="en-US" sz="1300" dirty="0"/>
          </a:p>
        </p:txBody>
      </p:sp>
      <p:sp>
        <p:nvSpPr>
          <p:cNvPr id="17" name="Text 15"/>
          <p:cNvSpPr/>
          <p:nvPr/>
        </p:nvSpPr>
        <p:spPr>
          <a:xfrm>
            <a:off x="475488" y="3547872"/>
            <a:ext cx="8229600" cy="594360"/>
          </a:xfrm>
          <a:prstGeom prst="rect">
            <a:avLst/>
          </a:prstGeom>
          <a:noFill/>
        </p:spPr>
        <p:txBody>
          <a:bodyPr wrap="square" rtlCol="0" anchor="ctr"/>
          <a:lstStyle/>
          <a:p>
            <a:pPr marL="0" indent="0">
              <a:buNone/>
            </a:pPr>
            <a:r>
              <a:rPr lang="en-US" sz="1250" dirty="0">
                <a:solidFill>
                  <a:srgbClr val="334155"/>
                </a:solidFill>
                <a:latin typeface="Calibri" panose="020F0502020204030204" pitchFamily="34" charset="0"/>
                <a:ea typeface="Calibri" panose="020F0502020204030204" pitchFamily="34" charset="-122"/>
                <a:cs typeface="Calibri" panose="020F0502020204030204" pitchFamily="34" charset="-120"/>
              </a:rPr>
              <a:t>Help organizations use AI securely while managing cyber threats, keeping data safe, and building public trust.</a:t>
            </a:r>
            <a:endParaRPr lang="en-US" sz="1250" dirty="0"/>
          </a:p>
        </p:txBody>
      </p:sp>
    </p:spTree>
  </p:cSld>
  <p:clrMapOvr>
    <a:masterClrMapping/>
  </p:clrMapOvr>
  <mc:AlternateContent xmlns:mc="http://schemas.openxmlformats.org/markup-compatibility/2006">
    <mc:Choice xmlns:p14="http://schemas.microsoft.com/office/powerpoint/2010/main" Requires="p14">
      <p:transition spd="slow" p14:dur="3200">
        <p:dissolve/>
      </p:transition>
    </mc:Choice>
    <mc:Fallback>
      <p:transition spd="slow">
        <p:dissolv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0F7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891B2">
              <a:alpha val="14000"/>
            </a:srgbClr>
          </a:solidFill>
          <a:ln w="12700">
            <a:solidFill>
              <a:srgbClr val="0891B2">
                <a:alpha val="14000"/>
              </a:srgbClr>
            </a:solidFill>
            <a:prstDash val="solid"/>
          </a:ln>
        </p:spPr>
      </p:sp>
      <p:sp>
        <p:nvSpPr>
          <p:cNvPr id="3" name="Shape 1"/>
          <p:cNvSpPr/>
          <p:nvPr/>
        </p:nvSpPr>
        <p:spPr>
          <a:xfrm>
            <a:off x="274320" y="182880"/>
            <a:ext cx="658368" cy="658368"/>
          </a:xfrm>
          <a:prstGeom prst="ellipse">
            <a:avLst/>
          </a:prstGeom>
          <a:solidFill>
            <a:srgbClr val="0891B2">
              <a:alpha val="45000"/>
            </a:srgbClr>
          </a:solidFill>
          <a:ln w="12700">
            <a:solidFill>
              <a:srgbClr val="0891B2">
                <a:alpha val="45000"/>
              </a:srgbClr>
            </a:solidFill>
            <a:prstDash val="solid"/>
          </a:ln>
        </p:spPr>
      </p:sp>
      <p:sp>
        <p:nvSpPr>
          <p:cNvPr id="4" name="Text 2"/>
          <p:cNvSpPr/>
          <p:nvPr/>
        </p:nvSpPr>
        <p:spPr>
          <a:xfrm>
            <a:off x="274320" y="182880"/>
            <a:ext cx="658368" cy="658368"/>
          </a:xfrm>
          <a:prstGeom prst="rect">
            <a:avLst/>
          </a:prstGeom>
          <a:noFill/>
        </p:spPr>
        <p:txBody>
          <a:bodyPr wrap="square" lIns="0" tIns="0" rIns="0" bIns="0" rtlCol="0" anchor="ctr"/>
          <a:lstStyle/>
          <a:p>
            <a:pPr marL="0" indent="0" algn="ctr">
              <a:buNone/>
            </a:pPr>
            <a:r>
              <a:rPr lang="en-US" sz="1800" b="1" dirty="0">
                <a:solidFill>
                  <a:srgbClr val="0891B2"/>
                </a:solidFill>
              </a:rPr>
              <a:t>02</a:t>
            </a:r>
            <a:endParaRPr lang="en-US" sz="1800" dirty="0"/>
          </a:p>
        </p:txBody>
      </p:sp>
      <p:sp>
        <p:nvSpPr>
          <p:cNvPr id="5" name="Text 3"/>
          <p:cNvSpPr/>
          <p:nvPr/>
        </p:nvSpPr>
        <p:spPr>
          <a:xfrm>
            <a:off x="1078992" y="73152"/>
            <a:ext cx="7863840" cy="914400"/>
          </a:xfrm>
          <a:prstGeom prst="rect">
            <a:avLst/>
          </a:prstGeom>
          <a:noFill/>
        </p:spPr>
        <p:txBody>
          <a:bodyPr wrap="square" rtlCol="0" anchor="ctr"/>
          <a:lstStyle/>
          <a:p>
            <a:pPr marL="0" indent="0">
              <a:buNone/>
            </a:pPr>
            <a:r>
              <a:rPr lang="en-US" sz="3000" b="1" dirty="0">
                <a:solidFill>
                  <a:srgbClr val="1E3A5F"/>
                </a:solidFill>
                <a:latin typeface="Calibri" panose="020F0502020204030204" pitchFamily="34" charset="0"/>
                <a:ea typeface="Calibri" panose="020F0502020204030204" pitchFamily="34" charset="-122"/>
                <a:cs typeface="Calibri" panose="020F0502020204030204" pitchFamily="34" charset="-120"/>
              </a:rPr>
              <a:t>Importance</a:t>
            </a:r>
            <a:endParaRPr lang="en-US" sz="3000" dirty="0"/>
          </a:p>
        </p:txBody>
      </p:sp>
      <p:sp>
        <p:nvSpPr>
          <p:cNvPr id="6" name="Shape 4"/>
          <p:cNvSpPr/>
          <p:nvPr/>
        </p:nvSpPr>
        <p:spPr>
          <a:xfrm>
            <a:off x="320040" y="1207008"/>
            <a:ext cx="4114800" cy="1627632"/>
          </a:xfrm>
          <a:prstGeom prst="rect">
            <a:avLst/>
          </a:prstGeom>
          <a:solidFill>
            <a:srgbClr val="FFFFFF"/>
          </a:solidFill>
          <a:ln w="12700">
            <a:solidFill>
              <a:srgbClr val="0891B2">
                <a:alpha val="45000"/>
              </a:srgbClr>
            </a:solidFill>
            <a:prstDash val="solid"/>
          </a:ln>
          <a:effectLst>
            <a:outerShdw blurRad="127000" dist="38100" dir="8100000" algn="bl" rotWithShape="0">
              <a:srgbClr val="94A3B8">
                <a:alpha val="18000"/>
              </a:srgbClr>
            </a:outerShdw>
          </a:effectLst>
        </p:spPr>
      </p:sp>
      <p:sp>
        <p:nvSpPr>
          <p:cNvPr id="7" name="Shape 5"/>
          <p:cNvSpPr/>
          <p:nvPr/>
        </p:nvSpPr>
        <p:spPr>
          <a:xfrm>
            <a:off x="484632" y="1371600"/>
            <a:ext cx="530352" cy="530352"/>
          </a:xfrm>
          <a:prstGeom prst="ellipse">
            <a:avLst/>
          </a:prstGeom>
          <a:solidFill>
            <a:srgbClr val="0891B2">
              <a:alpha val="22000"/>
            </a:srgbClr>
          </a:solidFill>
          <a:ln w="12700">
            <a:solidFill>
              <a:srgbClr val="0891B2">
                <a:alpha val="22000"/>
              </a:srgbClr>
            </a:solidFill>
            <a:prstDash val="solid"/>
          </a:ln>
        </p:spPr>
      </p:sp>
      <p:sp>
        <p:nvSpPr>
          <p:cNvPr id="8" name="Text 6"/>
          <p:cNvSpPr/>
          <p:nvPr/>
        </p:nvSpPr>
        <p:spPr>
          <a:xfrm>
            <a:off x="484632" y="1371600"/>
            <a:ext cx="530352" cy="530352"/>
          </a:xfrm>
          <a:prstGeom prst="rect">
            <a:avLst/>
          </a:prstGeom>
          <a:noFill/>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9" name="Text 7"/>
          <p:cNvSpPr/>
          <p:nvPr/>
        </p:nvSpPr>
        <p:spPr>
          <a:xfrm>
            <a:off x="1143000" y="1298448"/>
            <a:ext cx="3154680" cy="457200"/>
          </a:xfrm>
          <a:prstGeom prst="rect">
            <a:avLst/>
          </a:prstGeom>
          <a:noFill/>
        </p:spPr>
        <p:txBody>
          <a:bodyPr wrap="square" lIns="0" tIns="0" rIns="0" bIns="0" rtlCol="0" anchor="ctr"/>
          <a:lstStyle/>
          <a:p>
            <a:pPr marL="0" indent="0">
              <a:buNone/>
            </a:pPr>
            <a:r>
              <a:rPr lang="en-US" sz="1300" b="1" dirty="0">
                <a:solidFill>
                  <a:srgbClr val="0891B2"/>
                </a:solidFill>
                <a:latin typeface="Calibri" panose="020F0502020204030204" pitchFamily="34" charset="0"/>
                <a:ea typeface="Calibri" panose="020F0502020204030204" pitchFamily="34" charset="-122"/>
                <a:cs typeface="Calibri" panose="020F0502020204030204" pitchFamily="34" charset="-120"/>
              </a:rPr>
              <a:t>Safety Guardrails</a:t>
            </a:r>
            <a:endParaRPr lang="en-US" sz="1300" dirty="0"/>
          </a:p>
        </p:txBody>
      </p:sp>
      <p:sp>
        <p:nvSpPr>
          <p:cNvPr id="10" name="Text 8"/>
          <p:cNvSpPr/>
          <p:nvPr/>
        </p:nvSpPr>
        <p:spPr>
          <a:xfrm>
            <a:off x="484632" y="1865376"/>
            <a:ext cx="3840480" cy="896112"/>
          </a:xfrm>
          <a:prstGeom prst="rect">
            <a:avLst/>
          </a:prstGeom>
          <a:noFill/>
        </p:spPr>
        <p:txBody>
          <a:bodyPr wrap="square" rtlCol="0" anchor="ctr"/>
          <a:lstStyle/>
          <a:p>
            <a:pPr marL="0" indent="0">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As AI enters phones, banks, hospitals and cars, governance prevents unfair decisions, data leaks, and adversarial manipulation.</a:t>
            </a:r>
            <a:endParaRPr lang="en-US" sz="1100" dirty="0"/>
          </a:p>
        </p:txBody>
      </p:sp>
      <p:sp>
        <p:nvSpPr>
          <p:cNvPr id="11" name="Shape 9"/>
          <p:cNvSpPr/>
          <p:nvPr/>
        </p:nvSpPr>
        <p:spPr>
          <a:xfrm>
            <a:off x="320040" y="3035808"/>
            <a:ext cx="4114800" cy="1627632"/>
          </a:xfrm>
          <a:prstGeom prst="rect">
            <a:avLst/>
          </a:prstGeom>
          <a:solidFill>
            <a:srgbClr val="FFFFFF"/>
          </a:solidFill>
          <a:ln w="12700">
            <a:solidFill>
              <a:srgbClr val="2563EB">
                <a:alpha val="45000"/>
              </a:srgbClr>
            </a:solidFill>
            <a:prstDash val="solid"/>
          </a:ln>
          <a:effectLst>
            <a:outerShdw blurRad="127000" dist="38100" dir="8100000" algn="bl" rotWithShape="0">
              <a:srgbClr val="94A3B8">
                <a:alpha val="18000"/>
              </a:srgbClr>
            </a:outerShdw>
          </a:effectLst>
        </p:spPr>
      </p:sp>
      <p:sp>
        <p:nvSpPr>
          <p:cNvPr id="12" name="Shape 10"/>
          <p:cNvSpPr/>
          <p:nvPr/>
        </p:nvSpPr>
        <p:spPr>
          <a:xfrm>
            <a:off x="484632" y="3200400"/>
            <a:ext cx="530352" cy="530352"/>
          </a:xfrm>
          <a:prstGeom prst="ellipse">
            <a:avLst/>
          </a:prstGeom>
          <a:solidFill>
            <a:srgbClr val="2563EB">
              <a:alpha val="22000"/>
            </a:srgbClr>
          </a:solidFill>
          <a:ln w="12700">
            <a:solidFill>
              <a:srgbClr val="2563EB">
                <a:alpha val="22000"/>
              </a:srgbClr>
            </a:solidFill>
            <a:prstDash val="solid"/>
          </a:ln>
        </p:spPr>
      </p:sp>
      <p:sp>
        <p:nvSpPr>
          <p:cNvPr id="13" name="Text 11"/>
          <p:cNvSpPr/>
          <p:nvPr/>
        </p:nvSpPr>
        <p:spPr>
          <a:xfrm>
            <a:off x="484632" y="3200400"/>
            <a:ext cx="530352" cy="530352"/>
          </a:xfrm>
          <a:prstGeom prst="rect">
            <a:avLst/>
          </a:prstGeom>
          <a:noFill/>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4" name="Text 12"/>
          <p:cNvSpPr/>
          <p:nvPr/>
        </p:nvSpPr>
        <p:spPr>
          <a:xfrm>
            <a:off x="1143000" y="3127248"/>
            <a:ext cx="3154680" cy="457200"/>
          </a:xfrm>
          <a:prstGeom prst="rect">
            <a:avLst/>
          </a:prstGeom>
          <a:noFill/>
        </p:spPr>
        <p:txBody>
          <a:bodyPr wrap="square" lIns="0" tIns="0" rIns="0" bIns="0" rtlCol="0" anchor="ctr"/>
          <a:lstStyle/>
          <a:p>
            <a:pPr marL="0" indent="0">
              <a:buNone/>
            </a:pPr>
            <a:r>
              <a:rPr lang="en-US" sz="1300" b="1" dirty="0">
                <a:solidFill>
                  <a:srgbClr val="2563EB"/>
                </a:solidFill>
                <a:latin typeface="Calibri" panose="020F0502020204030204" pitchFamily="34" charset="0"/>
                <a:ea typeface="Calibri" panose="020F0502020204030204" pitchFamily="34" charset="-122"/>
                <a:cs typeface="Calibri" panose="020F0502020204030204" pitchFamily="34" charset="-120"/>
              </a:rPr>
              <a:t>Public Trust</a:t>
            </a:r>
            <a:endParaRPr lang="en-US" sz="1300" dirty="0"/>
          </a:p>
        </p:txBody>
      </p:sp>
      <p:sp>
        <p:nvSpPr>
          <p:cNvPr id="15" name="Text 13"/>
          <p:cNvSpPr/>
          <p:nvPr/>
        </p:nvSpPr>
        <p:spPr>
          <a:xfrm>
            <a:off x="484632" y="3694176"/>
            <a:ext cx="3840480" cy="896112"/>
          </a:xfrm>
          <a:prstGeom prst="rect">
            <a:avLst/>
          </a:prstGeom>
          <a:noFill/>
        </p:spPr>
        <p:txBody>
          <a:bodyPr wrap="square" rtlCol="0" anchor="ctr"/>
          <a:lstStyle/>
          <a:p>
            <a:pPr marL="0" indent="0">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They act as guardrails allowing businesses to innovate responsibly — so people feel safe using AI systems.</a:t>
            </a:r>
            <a:endParaRPr lang="en-US" sz="1100" dirty="0"/>
          </a:p>
        </p:txBody>
      </p:sp>
      <p:sp>
        <p:nvSpPr>
          <p:cNvPr id="16" name="Shape 14"/>
          <p:cNvSpPr/>
          <p:nvPr/>
        </p:nvSpPr>
        <p:spPr>
          <a:xfrm>
            <a:off x="4709160" y="1207008"/>
            <a:ext cx="4114800" cy="1627632"/>
          </a:xfrm>
          <a:prstGeom prst="rect">
            <a:avLst/>
          </a:prstGeom>
          <a:solidFill>
            <a:srgbClr val="FFFFFF"/>
          </a:solidFill>
          <a:ln w="12700">
            <a:solidFill>
              <a:srgbClr val="D97706">
                <a:alpha val="45000"/>
              </a:srgbClr>
            </a:solidFill>
            <a:prstDash val="solid"/>
          </a:ln>
          <a:effectLst>
            <a:outerShdw blurRad="127000" dist="38100" dir="8100000" algn="bl" rotWithShape="0">
              <a:srgbClr val="94A3B8">
                <a:alpha val="18000"/>
              </a:srgbClr>
            </a:outerShdw>
          </a:effectLst>
        </p:spPr>
      </p:sp>
      <p:sp>
        <p:nvSpPr>
          <p:cNvPr id="17" name="Shape 15"/>
          <p:cNvSpPr/>
          <p:nvPr/>
        </p:nvSpPr>
        <p:spPr>
          <a:xfrm>
            <a:off x="4873752" y="1371600"/>
            <a:ext cx="530352" cy="530352"/>
          </a:xfrm>
          <a:prstGeom prst="ellipse">
            <a:avLst/>
          </a:prstGeom>
          <a:solidFill>
            <a:srgbClr val="D97706">
              <a:alpha val="22000"/>
            </a:srgbClr>
          </a:solidFill>
          <a:ln w="12700">
            <a:solidFill>
              <a:srgbClr val="D97706">
                <a:alpha val="22000"/>
              </a:srgbClr>
            </a:solidFill>
            <a:prstDash val="solid"/>
          </a:ln>
        </p:spPr>
      </p:sp>
      <p:sp>
        <p:nvSpPr>
          <p:cNvPr id="18" name="Text 16"/>
          <p:cNvSpPr/>
          <p:nvPr/>
        </p:nvSpPr>
        <p:spPr>
          <a:xfrm>
            <a:off x="4873752" y="1371600"/>
            <a:ext cx="530352" cy="530352"/>
          </a:xfrm>
          <a:prstGeom prst="rect">
            <a:avLst/>
          </a:prstGeom>
          <a:noFill/>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9" name="Text 17"/>
          <p:cNvSpPr/>
          <p:nvPr/>
        </p:nvSpPr>
        <p:spPr>
          <a:xfrm>
            <a:off x="5532120" y="1298448"/>
            <a:ext cx="3154680" cy="457200"/>
          </a:xfrm>
          <a:prstGeom prst="rect">
            <a:avLst/>
          </a:prstGeom>
          <a:noFill/>
        </p:spPr>
        <p:txBody>
          <a:bodyPr wrap="square" lIns="0" tIns="0" rIns="0" bIns="0" rtlCol="0" anchor="ctr"/>
          <a:lstStyle/>
          <a:p>
            <a:pPr marL="0" indent="0">
              <a:buNone/>
            </a:pPr>
            <a:r>
              <a:rPr lang="en-US" sz="1300" b="1" dirty="0">
                <a:solidFill>
                  <a:srgbClr val="D97706"/>
                </a:solidFill>
                <a:latin typeface="Calibri" panose="020F0502020204030204" pitchFamily="34" charset="0"/>
                <a:ea typeface="Calibri" panose="020F0502020204030204" pitchFamily="34" charset="-122"/>
                <a:cs typeface="Calibri" panose="020F0502020204030204" pitchFamily="34" charset="-120"/>
              </a:rPr>
              <a:t>Financial &amp; Reputation Protection</a:t>
            </a:r>
            <a:endParaRPr lang="en-US" sz="1300" dirty="0"/>
          </a:p>
        </p:txBody>
      </p:sp>
      <p:sp>
        <p:nvSpPr>
          <p:cNvPr id="20" name="Text 18"/>
          <p:cNvSpPr/>
          <p:nvPr/>
        </p:nvSpPr>
        <p:spPr>
          <a:xfrm>
            <a:off x="4873752" y="1865376"/>
            <a:ext cx="3840480" cy="896112"/>
          </a:xfrm>
          <a:prstGeom prst="rect">
            <a:avLst/>
          </a:prstGeom>
          <a:noFill/>
        </p:spPr>
        <p:txBody>
          <a:bodyPr wrap="square" rtlCol="0" anchor="ctr"/>
          <a:lstStyle/>
          <a:p>
            <a:pPr marL="0" indent="0">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Proactively identifying AI failures, biases, or security breaches helps companies avoid costly incidents and protect brand image.</a:t>
            </a:r>
            <a:endParaRPr lang="en-US" sz="1100" dirty="0"/>
          </a:p>
        </p:txBody>
      </p:sp>
      <p:sp>
        <p:nvSpPr>
          <p:cNvPr id="21" name="Shape 19"/>
          <p:cNvSpPr/>
          <p:nvPr/>
        </p:nvSpPr>
        <p:spPr>
          <a:xfrm>
            <a:off x="4709160" y="3035808"/>
            <a:ext cx="4114800" cy="1627632"/>
          </a:xfrm>
          <a:prstGeom prst="rect">
            <a:avLst/>
          </a:prstGeom>
          <a:solidFill>
            <a:srgbClr val="FFFFFF"/>
          </a:solidFill>
          <a:ln w="12700">
            <a:solidFill>
              <a:srgbClr val="7C3AED">
                <a:alpha val="45000"/>
              </a:srgbClr>
            </a:solidFill>
            <a:prstDash val="solid"/>
          </a:ln>
          <a:effectLst>
            <a:outerShdw blurRad="127000" dist="38100" dir="8100000" algn="bl" rotWithShape="0">
              <a:srgbClr val="94A3B8">
                <a:alpha val="18000"/>
              </a:srgbClr>
            </a:outerShdw>
          </a:effectLst>
        </p:spPr>
      </p:sp>
      <p:sp>
        <p:nvSpPr>
          <p:cNvPr id="22" name="Shape 20"/>
          <p:cNvSpPr/>
          <p:nvPr/>
        </p:nvSpPr>
        <p:spPr>
          <a:xfrm>
            <a:off x="4873752" y="3200400"/>
            <a:ext cx="530352" cy="530352"/>
          </a:xfrm>
          <a:prstGeom prst="ellipse">
            <a:avLst/>
          </a:prstGeom>
          <a:solidFill>
            <a:srgbClr val="7C3AED">
              <a:alpha val="22000"/>
            </a:srgbClr>
          </a:solidFill>
          <a:ln w="12700">
            <a:solidFill>
              <a:srgbClr val="7C3AED">
                <a:alpha val="22000"/>
              </a:srgbClr>
            </a:solidFill>
            <a:prstDash val="solid"/>
          </a:ln>
        </p:spPr>
      </p:sp>
      <p:sp>
        <p:nvSpPr>
          <p:cNvPr id="23" name="Text 21"/>
          <p:cNvSpPr/>
          <p:nvPr/>
        </p:nvSpPr>
        <p:spPr>
          <a:xfrm>
            <a:off x="4873752" y="3200400"/>
            <a:ext cx="530352" cy="530352"/>
          </a:xfrm>
          <a:prstGeom prst="rect">
            <a:avLst/>
          </a:prstGeom>
          <a:noFill/>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24" name="Text 22"/>
          <p:cNvSpPr/>
          <p:nvPr/>
        </p:nvSpPr>
        <p:spPr>
          <a:xfrm>
            <a:off x="5532120" y="3127248"/>
            <a:ext cx="3154680" cy="457200"/>
          </a:xfrm>
          <a:prstGeom prst="rect">
            <a:avLst/>
          </a:prstGeom>
          <a:noFill/>
        </p:spPr>
        <p:txBody>
          <a:bodyPr wrap="square" lIns="0" tIns="0" rIns="0" bIns="0" rtlCol="0" anchor="ctr"/>
          <a:lstStyle/>
          <a:p>
            <a:pPr marL="0" indent="0">
              <a:buNone/>
            </a:pPr>
            <a:r>
              <a:rPr lang="en-US" sz="1300" b="1" dirty="0">
                <a:solidFill>
                  <a:srgbClr val="7C3AED"/>
                </a:solidFill>
                <a:latin typeface="Calibri" panose="020F0502020204030204" pitchFamily="34" charset="0"/>
                <a:ea typeface="Calibri" panose="020F0502020204030204" pitchFamily="34" charset="-122"/>
                <a:cs typeface="Calibri" panose="020F0502020204030204" pitchFamily="34" charset="-120"/>
              </a:rPr>
              <a:t>Necessary — Not Optional</a:t>
            </a:r>
            <a:endParaRPr lang="en-US" sz="1300" dirty="0"/>
          </a:p>
        </p:txBody>
      </p:sp>
      <p:sp>
        <p:nvSpPr>
          <p:cNvPr id="25" name="Text 23"/>
          <p:cNvSpPr/>
          <p:nvPr/>
        </p:nvSpPr>
        <p:spPr>
          <a:xfrm>
            <a:off x="4873752" y="3694176"/>
            <a:ext cx="3840480" cy="896112"/>
          </a:xfrm>
          <a:prstGeom prst="rect">
            <a:avLst/>
          </a:prstGeom>
          <a:noFill/>
        </p:spPr>
        <p:txBody>
          <a:bodyPr wrap="square" rtlCol="0" anchor="ctr"/>
          <a:lstStyle/>
          <a:p>
            <a:pPr marL="0" indent="0">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In today's world, strong AI governance and cyber risk management are essential requirements for any organization leveraging AI.</a:t>
            </a:r>
            <a:endParaRPr lang="en-US" sz="1100"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p15:prstTrans prst="pageCurlDoubl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0F7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7C3AED">
              <a:alpha val="14000"/>
            </a:srgbClr>
          </a:solidFill>
          <a:ln w="12700">
            <a:solidFill>
              <a:srgbClr val="7C3AED">
                <a:alpha val="14000"/>
              </a:srgbClr>
            </a:solidFill>
            <a:prstDash val="solid"/>
          </a:ln>
        </p:spPr>
      </p:sp>
      <p:sp>
        <p:nvSpPr>
          <p:cNvPr id="3" name="Shape 1"/>
          <p:cNvSpPr/>
          <p:nvPr/>
        </p:nvSpPr>
        <p:spPr>
          <a:xfrm>
            <a:off x="274320" y="182880"/>
            <a:ext cx="658368" cy="658368"/>
          </a:xfrm>
          <a:prstGeom prst="ellipse">
            <a:avLst/>
          </a:prstGeom>
          <a:solidFill>
            <a:srgbClr val="7C3AED">
              <a:alpha val="45000"/>
            </a:srgbClr>
          </a:solidFill>
          <a:ln w="12700">
            <a:solidFill>
              <a:srgbClr val="7C3AED">
                <a:alpha val="45000"/>
              </a:srgbClr>
            </a:solidFill>
            <a:prstDash val="solid"/>
          </a:ln>
        </p:spPr>
      </p:sp>
      <p:sp>
        <p:nvSpPr>
          <p:cNvPr id="4" name="Text 2"/>
          <p:cNvSpPr/>
          <p:nvPr/>
        </p:nvSpPr>
        <p:spPr>
          <a:xfrm>
            <a:off x="274320" y="182880"/>
            <a:ext cx="658368" cy="658368"/>
          </a:xfrm>
          <a:prstGeom prst="rect">
            <a:avLst/>
          </a:prstGeom>
          <a:noFill/>
        </p:spPr>
        <p:txBody>
          <a:bodyPr wrap="square" lIns="0" tIns="0" rIns="0" bIns="0" rtlCol="0" anchor="ctr"/>
          <a:lstStyle/>
          <a:p>
            <a:pPr marL="0" indent="0" algn="ctr">
              <a:buNone/>
            </a:pPr>
            <a:r>
              <a:rPr lang="en-US" sz="1800" b="1" dirty="0">
                <a:solidFill>
                  <a:srgbClr val="7C3AED"/>
                </a:solidFill>
              </a:rPr>
              <a:t>03</a:t>
            </a:r>
            <a:endParaRPr lang="en-US" sz="1800" dirty="0"/>
          </a:p>
        </p:txBody>
      </p:sp>
      <p:sp>
        <p:nvSpPr>
          <p:cNvPr id="5" name="Text 3"/>
          <p:cNvSpPr/>
          <p:nvPr/>
        </p:nvSpPr>
        <p:spPr>
          <a:xfrm>
            <a:off x="1078992" y="73152"/>
            <a:ext cx="7863840" cy="914400"/>
          </a:xfrm>
          <a:prstGeom prst="rect">
            <a:avLst/>
          </a:prstGeom>
          <a:noFill/>
        </p:spPr>
        <p:txBody>
          <a:bodyPr wrap="square" rtlCol="0" anchor="ctr"/>
          <a:lstStyle/>
          <a:p>
            <a:pPr marL="0" indent="0">
              <a:buNone/>
            </a:pPr>
            <a:r>
              <a:rPr lang="en-US" sz="3000" b="1" dirty="0">
                <a:solidFill>
                  <a:srgbClr val="1E3A5F"/>
                </a:solidFill>
                <a:latin typeface="Calibri" panose="020F0502020204030204" pitchFamily="34" charset="0"/>
                <a:ea typeface="Calibri" panose="020F0502020204030204" pitchFamily="34" charset="-122"/>
                <a:cs typeface="Calibri" panose="020F0502020204030204" pitchFamily="34" charset="-120"/>
              </a:rPr>
              <a:t>Key Components</a:t>
            </a:r>
            <a:endParaRPr lang="en-US" sz="3000" dirty="0"/>
          </a:p>
        </p:txBody>
      </p:sp>
      <p:sp>
        <p:nvSpPr>
          <p:cNvPr id="6" name="Text 4"/>
          <p:cNvSpPr/>
          <p:nvPr/>
        </p:nvSpPr>
        <p:spPr>
          <a:xfrm>
            <a:off x="320040" y="1143000"/>
            <a:ext cx="5486400" cy="411480"/>
          </a:xfrm>
          <a:prstGeom prst="rect">
            <a:avLst/>
          </a:prstGeom>
          <a:noFill/>
        </p:spPr>
        <p:txBody>
          <a:bodyPr wrap="square" rtlCol="0" anchor="ctr"/>
          <a:lstStyle/>
          <a:p>
            <a:pPr marL="0" indent="0">
              <a:buNone/>
            </a:pPr>
            <a:r>
              <a:rPr lang="en-US" sz="1700" b="1" dirty="0">
                <a:solidFill>
                  <a:srgbClr val="7C3AED"/>
                </a:solidFill>
                <a:latin typeface="Calibri" panose="020F0502020204030204" pitchFamily="34" charset="0"/>
                <a:ea typeface="Calibri" panose="020F0502020204030204" pitchFamily="34" charset="-122"/>
                <a:cs typeface="Calibri" panose="020F0502020204030204" pitchFamily="34" charset="-120"/>
              </a:rPr>
              <a:t>Ethical Principles &amp; Guidelines</a:t>
            </a:r>
            <a:endParaRPr lang="en-US" sz="1700" dirty="0"/>
          </a:p>
        </p:txBody>
      </p:sp>
      <p:sp>
        <p:nvSpPr>
          <p:cNvPr id="7" name="Text 5"/>
          <p:cNvSpPr/>
          <p:nvPr/>
        </p:nvSpPr>
        <p:spPr>
          <a:xfrm>
            <a:off x="320040" y="1536192"/>
            <a:ext cx="5486400" cy="347472"/>
          </a:xfrm>
          <a:prstGeom prst="rect">
            <a:avLst/>
          </a:prstGeom>
          <a:noFill/>
        </p:spPr>
        <p:txBody>
          <a:bodyPr wrap="square" rtlCol="0" anchor="ctr"/>
          <a:lstStyle/>
          <a:p>
            <a:pPr marL="0" indent="0">
              <a:buNone/>
            </a:pPr>
            <a:r>
              <a:rPr lang="en-US" sz="1200" dirty="0">
                <a:solidFill>
                  <a:srgbClr val="64748B"/>
                </a:solidFill>
                <a:latin typeface="Calibri" panose="020F0502020204030204" pitchFamily="34" charset="0"/>
                <a:ea typeface="Calibri" panose="020F0502020204030204" pitchFamily="34" charset="-122"/>
                <a:cs typeface="Calibri" panose="020F0502020204030204" pitchFamily="34" charset="-120"/>
              </a:rPr>
              <a:t>These components act as a "Moral Compass" for AI systems:</a:t>
            </a:r>
            <a:endParaRPr lang="en-US" sz="1200" dirty="0"/>
          </a:p>
        </p:txBody>
      </p:sp>
      <p:sp>
        <p:nvSpPr>
          <p:cNvPr id="8" name="Shape 6"/>
          <p:cNvSpPr/>
          <p:nvPr/>
        </p:nvSpPr>
        <p:spPr>
          <a:xfrm>
            <a:off x="320040" y="1965960"/>
            <a:ext cx="960120" cy="1005840"/>
          </a:xfrm>
          <a:prstGeom prst="rect">
            <a:avLst/>
          </a:prstGeom>
          <a:solidFill>
            <a:srgbClr val="7C3AED">
              <a:alpha val="15000"/>
            </a:srgbClr>
          </a:solidFill>
          <a:ln w="12700">
            <a:solidFill>
              <a:srgbClr val="7C3AED">
                <a:alpha val="35000"/>
              </a:srgbClr>
            </a:solidFill>
            <a:prstDash val="solid"/>
          </a:ln>
          <a:effectLst>
            <a:outerShdw blurRad="127000" dist="38100" dir="8100000" algn="bl" rotWithShape="0">
              <a:srgbClr val="94A3B8">
                <a:alpha val="18000"/>
              </a:srgbClr>
            </a:outerShdw>
          </a:effectLst>
        </p:spPr>
      </p:sp>
      <p:sp>
        <p:nvSpPr>
          <p:cNvPr id="9" name="Text 7"/>
          <p:cNvSpPr/>
          <p:nvPr/>
        </p:nvSpPr>
        <p:spPr>
          <a:xfrm>
            <a:off x="320040" y="1993392"/>
            <a:ext cx="960120" cy="457200"/>
          </a:xfrm>
          <a:prstGeom prst="rect">
            <a:avLst/>
          </a:prstGeom>
          <a:noFill/>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0" name="Text 8"/>
          <p:cNvSpPr/>
          <p:nvPr/>
        </p:nvSpPr>
        <p:spPr>
          <a:xfrm>
            <a:off x="320040" y="2487168"/>
            <a:ext cx="960120" cy="384048"/>
          </a:xfrm>
          <a:prstGeom prst="rect">
            <a:avLst/>
          </a:prstGeom>
          <a:noFill/>
        </p:spPr>
        <p:txBody>
          <a:bodyPr wrap="square" lIns="0" tIns="0" rIns="0" bIns="0" rtlCol="0" anchor="ctr"/>
          <a:lstStyle/>
          <a:p>
            <a:pPr marL="0" indent="0" algn="ctr">
              <a:buNone/>
            </a:pPr>
            <a:r>
              <a:rPr lang="en-US" sz="1000" b="1" dirty="0">
                <a:solidFill>
                  <a:srgbClr val="7C3AED"/>
                </a:solidFill>
                <a:latin typeface="Calibri" panose="020F0502020204030204" pitchFamily="34" charset="0"/>
                <a:ea typeface="Calibri" panose="020F0502020204030204" pitchFamily="34" charset="-122"/>
                <a:cs typeface="Calibri" panose="020F0502020204030204" pitchFamily="34" charset="-120"/>
              </a:rPr>
              <a:t>Ethics</a:t>
            </a:r>
            <a:endParaRPr lang="en-US" sz="1000" dirty="0"/>
          </a:p>
        </p:txBody>
      </p:sp>
      <p:sp>
        <p:nvSpPr>
          <p:cNvPr id="11" name="Shape 9"/>
          <p:cNvSpPr/>
          <p:nvPr/>
        </p:nvSpPr>
        <p:spPr>
          <a:xfrm>
            <a:off x="1417320" y="1965960"/>
            <a:ext cx="960120" cy="1005840"/>
          </a:xfrm>
          <a:prstGeom prst="rect">
            <a:avLst/>
          </a:prstGeom>
          <a:solidFill>
            <a:srgbClr val="2563EB">
              <a:alpha val="15000"/>
            </a:srgbClr>
          </a:solidFill>
          <a:ln w="12700">
            <a:solidFill>
              <a:srgbClr val="2563EB">
                <a:alpha val="35000"/>
              </a:srgbClr>
            </a:solidFill>
            <a:prstDash val="solid"/>
          </a:ln>
          <a:effectLst>
            <a:outerShdw blurRad="127000" dist="38100" dir="8100000" algn="bl" rotWithShape="0">
              <a:srgbClr val="94A3B8">
                <a:alpha val="18000"/>
              </a:srgbClr>
            </a:outerShdw>
          </a:effectLst>
        </p:spPr>
      </p:sp>
      <p:sp>
        <p:nvSpPr>
          <p:cNvPr id="12" name="Text 10"/>
          <p:cNvSpPr/>
          <p:nvPr/>
        </p:nvSpPr>
        <p:spPr>
          <a:xfrm>
            <a:off x="1417320" y="1993392"/>
            <a:ext cx="960120" cy="457200"/>
          </a:xfrm>
          <a:prstGeom prst="rect">
            <a:avLst/>
          </a:prstGeom>
          <a:noFill/>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3" name="Text 11"/>
          <p:cNvSpPr/>
          <p:nvPr/>
        </p:nvSpPr>
        <p:spPr>
          <a:xfrm>
            <a:off x="1417320" y="2487168"/>
            <a:ext cx="960120" cy="384048"/>
          </a:xfrm>
          <a:prstGeom prst="rect">
            <a:avLst/>
          </a:prstGeom>
          <a:noFill/>
        </p:spPr>
        <p:txBody>
          <a:bodyPr wrap="square" lIns="0" tIns="0" rIns="0" bIns="0" rtlCol="0" anchor="ctr"/>
          <a:lstStyle/>
          <a:p>
            <a:pPr marL="0" indent="0" algn="ctr">
              <a:buNone/>
            </a:pPr>
            <a:r>
              <a:rPr lang="en-US" sz="1000" b="1" dirty="0">
                <a:solidFill>
                  <a:srgbClr val="2563EB"/>
                </a:solidFill>
                <a:latin typeface="Calibri" panose="020F0502020204030204" pitchFamily="34" charset="0"/>
                <a:ea typeface="Calibri" panose="020F0502020204030204" pitchFamily="34" charset="-122"/>
                <a:cs typeface="Calibri" panose="020F0502020204030204" pitchFamily="34" charset="-120"/>
              </a:rPr>
              <a:t>Fairness</a:t>
            </a:r>
            <a:endParaRPr lang="en-US" sz="1000" dirty="0"/>
          </a:p>
        </p:txBody>
      </p:sp>
      <p:sp>
        <p:nvSpPr>
          <p:cNvPr id="14" name="Shape 12"/>
          <p:cNvSpPr/>
          <p:nvPr/>
        </p:nvSpPr>
        <p:spPr>
          <a:xfrm>
            <a:off x="2514600" y="1965960"/>
            <a:ext cx="960120" cy="1005840"/>
          </a:xfrm>
          <a:prstGeom prst="rect">
            <a:avLst/>
          </a:prstGeom>
          <a:solidFill>
            <a:srgbClr val="10B981">
              <a:alpha val="15000"/>
            </a:srgbClr>
          </a:solidFill>
          <a:ln w="12700">
            <a:solidFill>
              <a:srgbClr val="10B981">
                <a:alpha val="35000"/>
              </a:srgbClr>
            </a:solidFill>
            <a:prstDash val="solid"/>
          </a:ln>
          <a:effectLst>
            <a:outerShdw blurRad="127000" dist="38100" dir="8100000" algn="bl" rotWithShape="0">
              <a:srgbClr val="94A3B8">
                <a:alpha val="18000"/>
              </a:srgbClr>
            </a:outerShdw>
          </a:effectLst>
        </p:spPr>
      </p:sp>
      <p:sp>
        <p:nvSpPr>
          <p:cNvPr id="15" name="Text 13"/>
          <p:cNvSpPr/>
          <p:nvPr/>
        </p:nvSpPr>
        <p:spPr>
          <a:xfrm>
            <a:off x="2514600" y="1993392"/>
            <a:ext cx="960120" cy="457200"/>
          </a:xfrm>
          <a:prstGeom prst="rect">
            <a:avLst/>
          </a:prstGeom>
          <a:noFill/>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6" name="Text 14"/>
          <p:cNvSpPr/>
          <p:nvPr/>
        </p:nvSpPr>
        <p:spPr>
          <a:xfrm>
            <a:off x="2514600" y="2487168"/>
            <a:ext cx="960120" cy="384048"/>
          </a:xfrm>
          <a:prstGeom prst="rect">
            <a:avLst/>
          </a:prstGeom>
          <a:noFill/>
        </p:spPr>
        <p:txBody>
          <a:bodyPr wrap="square" lIns="0" tIns="0" rIns="0" bIns="0" rtlCol="0" anchor="ctr"/>
          <a:lstStyle/>
          <a:p>
            <a:pPr marL="0" indent="0" algn="ctr">
              <a:buNone/>
            </a:pPr>
            <a:r>
              <a:rPr lang="en-US" sz="1000" b="1" dirty="0">
                <a:solidFill>
                  <a:srgbClr val="10B981"/>
                </a:solidFill>
                <a:latin typeface="Calibri" panose="020F0502020204030204" pitchFamily="34" charset="0"/>
                <a:ea typeface="Calibri" panose="020F0502020204030204" pitchFamily="34" charset="-122"/>
                <a:cs typeface="Calibri" panose="020F0502020204030204" pitchFamily="34" charset="-120"/>
              </a:rPr>
              <a:t>Reliability</a:t>
            </a:r>
            <a:endParaRPr lang="en-US" sz="1000" dirty="0"/>
          </a:p>
        </p:txBody>
      </p:sp>
      <p:sp>
        <p:nvSpPr>
          <p:cNvPr id="17" name="Shape 15"/>
          <p:cNvSpPr/>
          <p:nvPr/>
        </p:nvSpPr>
        <p:spPr>
          <a:xfrm>
            <a:off x="3611880" y="1965960"/>
            <a:ext cx="960120" cy="1005840"/>
          </a:xfrm>
          <a:prstGeom prst="rect">
            <a:avLst/>
          </a:prstGeom>
          <a:solidFill>
            <a:srgbClr val="0891B2">
              <a:alpha val="15000"/>
            </a:srgbClr>
          </a:solidFill>
          <a:ln w="12700">
            <a:solidFill>
              <a:srgbClr val="0891B2">
                <a:alpha val="35000"/>
              </a:srgbClr>
            </a:solidFill>
            <a:prstDash val="solid"/>
          </a:ln>
          <a:effectLst>
            <a:outerShdw blurRad="127000" dist="38100" dir="8100000" algn="bl" rotWithShape="0">
              <a:srgbClr val="94A3B8">
                <a:alpha val="18000"/>
              </a:srgbClr>
            </a:outerShdw>
          </a:effectLst>
        </p:spPr>
      </p:sp>
      <p:sp>
        <p:nvSpPr>
          <p:cNvPr id="18" name="Text 16"/>
          <p:cNvSpPr/>
          <p:nvPr/>
        </p:nvSpPr>
        <p:spPr>
          <a:xfrm>
            <a:off x="3611880" y="1993392"/>
            <a:ext cx="960120" cy="457200"/>
          </a:xfrm>
          <a:prstGeom prst="rect">
            <a:avLst/>
          </a:prstGeom>
          <a:noFill/>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9" name="Text 17"/>
          <p:cNvSpPr/>
          <p:nvPr/>
        </p:nvSpPr>
        <p:spPr>
          <a:xfrm>
            <a:off x="3611880" y="2487168"/>
            <a:ext cx="960120" cy="384048"/>
          </a:xfrm>
          <a:prstGeom prst="rect">
            <a:avLst/>
          </a:prstGeom>
          <a:noFill/>
        </p:spPr>
        <p:txBody>
          <a:bodyPr wrap="square" lIns="0" tIns="0" rIns="0" bIns="0" rtlCol="0" anchor="ctr"/>
          <a:lstStyle/>
          <a:p>
            <a:pPr marL="0" indent="0" algn="ctr">
              <a:buNone/>
            </a:pPr>
            <a:r>
              <a:rPr lang="en-US" sz="1000" b="1" dirty="0">
                <a:solidFill>
                  <a:srgbClr val="0891B2"/>
                </a:solidFill>
                <a:latin typeface="Calibri" panose="020F0502020204030204" pitchFamily="34" charset="0"/>
                <a:ea typeface="Calibri" panose="020F0502020204030204" pitchFamily="34" charset="-122"/>
                <a:cs typeface="Calibri" panose="020F0502020204030204" pitchFamily="34" charset="-120"/>
              </a:rPr>
              <a:t>Governance</a:t>
            </a:r>
            <a:endParaRPr lang="en-US" sz="1000" dirty="0"/>
          </a:p>
        </p:txBody>
      </p:sp>
      <p:sp>
        <p:nvSpPr>
          <p:cNvPr id="20" name="Shape 18"/>
          <p:cNvSpPr/>
          <p:nvPr/>
        </p:nvSpPr>
        <p:spPr>
          <a:xfrm>
            <a:off x="4709160" y="1965960"/>
            <a:ext cx="960120" cy="1005840"/>
          </a:xfrm>
          <a:prstGeom prst="rect">
            <a:avLst/>
          </a:prstGeom>
          <a:solidFill>
            <a:srgbClr val="D97706">
              <a:alpha val="15000"/>
            </a:srgbClr>
          </a:solidFill>
          <a:ln w="12700">
            <a:solidFill>
              <a:srgbClr val="D97706">
                <a:alpha val="35000"/>
              </a:srgbClr>
            </a:solidFill>
            <a:prstDash val="solid"/>
          </a:ln>
          <a:effectLst>
            <a:outerShdw blurRad="127000" dist="38100" dir="8100000" algn="bl" rotWithShape="0">
              <a:srgbClr val="94A3B8">
                <a:alpha val="18000"/>
              </a:srgbClr>
            </a:outerShdw>
          </a:effectLst>
        </p:spPr>
      </p:sp>
      <p:sp>
        <p:nvSpPr>
          <p:cNvPr id="21" name="Text 19"/>
          <p:cNvSpPr/>
          <p:nvPr/>
        </p:nvSpPr>
        <p:spPr>
          <a:xfrm>
            <a:off x="4709160" y="1993392"/>
            <a:ext cx="960120" cy="457200"/>
          </a:xfrm>
          <a:prstGeom prst="rect">
            <a:avLst/>
          </a:prstGeom>
          <a:noFill/>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22" name="Text 20"/>
          <p:cNvSpPr/>
          <p:nvPr/>
        </p:nvSpPr>
        <p:spPr>
          <a:xfrm>
            <a:off x="4709160" y="2487168"/>
            <a:ext cx="960120" cy="384048"/>
          </a:xfrm>
          <a:prstGeom prst="rect">
            <a:avLst/>
          </a:prstGeom>
          <a:noFill/>
        </p:spPr>
        <p:txBody>
          <a:bodyPr wrap="square" lIns="0" tIns="0" rIns="0" bIns="0" rtlCol="0" anchor="ctr"/>
          <a:lstStyle/>
          <a:p>
            <a:pPr marL="0" indent="0" algn="ctr">
              <a:buNone/>
            </a:pPr>
            <a:r>
              <a:rPr lang="en-US" sz="1000" b="1" dirty="0">
                <a:solidFill>
                  <a:srgbClr val="D97706"/>
                </a:solidFill>
                <a:latin typeface="Calibri" panose="020F0502020204030204" pitchFamily="34" charset="0"/>
                <a:ea typeface="Calibri" panose="020F0502020204030204" pitchFamily="34" charset="-122"/>
                <a:cs typeface="Calibri" panose="020F0502020204030204" pitchFamily="34" charset="-120"/>
              </a:rPr>
              <a:t>Privacy</a:t>
            </a:r>
            <a:endParaRPr lang="en-US" sz="1000" dirty="0"/>
          </a:p>
        </p:txBody>
      </p:sp>
      <p:sp>
        <p:nvSpPr>
          <p:cNvPr id="23" name="Shape 21"/>
          <p:cNvSpPr/>
          <p:nvPr/>
        </p:nvSpPr>
        <p:spPr>
          <a:xfrm>
            <a:off x="320040" y="3154680"/>
            <a:ext cx="5486400" cy="45720"/>
          </a:xfrm>
          <a:prstGeom prst="rect">
            <a:avLst/>
          </a:prstGeom>
          <a:solidFill>
            <a:srgbClr val="CBD5E1"/>
          </a:solidFill>
          <a:ln w="12700">
            <a:solidFill>
              <a:srgbClr val="CBD5E1"/>
            </a:solidFill>
            <a:prstDash val="solid"/>
          </a:ln>
        </p:spPr>
      </p:sp>
      <p:sp>
        <p:nvSpPr>
          <p:cNvPr id="24" name="Text 22"/>
          <p:cNvSpPr/>
          <p:nvPr/>
        </p:nvSpPr>
        <p:spPr>
          <a:xfrm>
            <a:off x="320040" y="3291840"/>
            <a:ext cx="5486400" cy="347472"/>
          </a:xfrm>
          <a:prstGeom prst="rect">
            <a:avLst/>
          </a:prstGeom>
          <a:noFill/>
        </p:spPr>
        <p:txBody>
          <a:bodyPr wrap="square" rtlCol="0" anchor="ctr"/>
          <a:lstStyle/>
          <a:p>
            <a:pPr marL="0" indent="0">
              <a:buNone/>
            </a:pPr>
            <a:r>
              <a:rPr lang="en-US" sz="1200" i="1" dirty="0">
                <a:solidFill>
                  <a:srgbClr val="64748B"/>
                </a:solidFill>
                <a:latin typeface="Calibri" panose="020F0502020204030204" pitchFamily="34" charset="0"/>
                <a:ea typeface="Calibri" panose="020F0502020204030204" pitchFamily="34" charset="-122"/>
                <a:cs typeface="Calibri" panose="020F0502020204030204" pitchFamily="34" charset="-120"/>
              </a:rPr>
              <a:t>Each Element Plays a Different AND Vital Role</a:t>
            </a:r>
            <a:endParaRPr lang="en-US" sz="1200" dirty="0"/>
          </a:p>
        </p:txBody>
      </p:sp>
      <p:sp>
        <p:nvSpPr>
          <p:cNvPr id="25" name="Shape 23"/>
          <p:cNvSpPr/>
          <p:nvPr/>
        </p:nvSpPr>
        <p:spPr>
          <a:xfrm>
            <a:off x="320040" y="3749040"/>
            <a:ext cx="960120" cy="1005840"/>
          </a:xfrm>
          <a:prstGeom prst="roundRect">
            <a:avLst>
              <a:gd name="adj" fmla="val 7619"/>
            </a:avLst>
          </a:prstGeom>
          <a:solidFill>
            <a:srgbClr val="0891B2">
              <a:alpha val="15000"/>
            </a:srgbClr>
          </a:solidFill>
          <a:ln w="12700">
            <a:solidFill>
              <a:srgbClr val="0891B2">
                <a:alpha val="35000"/>
              </a:srgbClr>
            </a:solidFill>
            <a:prstDash val="solid"/>
          </a:ln>
          <a:effectLst>
            <a:outerShdw blurRad="127000" dist="38100" dir="8100000" algn="bl" rotWithShape="0">
              <a:srgbClr val="94A3B8">
                <a:alpha val="18000"/>
              </a:srgbClr>
            </a:outerShdw>
          </a:effectLst>
        </p:spPr>
      </p:sp>
      <p:sp>
        <p:nvSpPr>
          <p:cNvPr id="26" name="Text 24"/>
          <p:cNvSpPr/>
          <p:nvPr/>
        </p:nvSpPr>
        <p:spPr>
          <a:xfrm>
            <a:off x="320040" y="3776472"/>
            <a:ext cx="960120" cy="457200"/>
          </a:xfrm>
          <a:prstGeom prst="rect">
            <a:avLst/>
          </a:prstGeom>
          <a:noFill/>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27" name="Text 25"/>
          <p:cNvSpPr/>
          <p:nvPr/>
        </p:nvSpPr>
        <p:spPr>
          <a:xfrm>
            <a:off x="320040" y="4270248"/>
            <a:ext cx="960120" cy="384048"/>
          </a:xfrm>
          <a:prstGeom prst="rect">
            <a:avLst/>
          </a:prstGeom>
          <a:noFill/>
        </p:spPr>
        <p:txBody>
          <a:bodyPr wrap="square" lIns="0" tIns="0" rIns="0" bIns="0" rtlCol="0" anchor="ctr"/>
          <a:lstStyle/>
          <a:p>
            <a:pPr marL="0" indent="0" algn="ctr">
              <a:buNone/>
            </a:pPr>
            <a:r>
              <a:rPr lang="en-US" sz="950" b="1" dirty="0">
                <a:solidFill>
                  <a:srgbClr val="0891B2"/>
                </a:solidFill>
                <a:latin typeface="Calibri" panose="020F0502020204030204" pitchFamily="34" charset="0"/>
                <a:ea typeface="Calibri" panose="020F0502020204030204" pitchFamily="34" charset="-122"/>
                <a:cs typeface="Calibri" panose="020F0502020204030204" pitchFamily="34" charset="-120"/>
              </a:rPr>
              <a:t>Data</a:t>
            </a:r>
            <a:endParaRPr lang="en-US" sz="950" dirty="0"/>
          </a:p>
        </p:txBody>
      </p:sp>
      <p:sp>
        <p:nvSpPr>
          <p:cNvPr id="28" name="Shape 26"/>
          <p:cNvSpPr/>
          <p:nvPr/>
        </p:nvSpPr>
        <p:spPr>
          <a:xfrm>
            <a:off x="1417320" y="3749040"/>
            <a:ext cx="960120" cy="1005840"/>
          </a:xfrm>
          <a:prstGeom prst="roundRect">
            <a:avLst>
              <a:gd name="adj" fmla="val 7619"/>
            </a:avLst>
          </a:prstGeom>
          <a:solidFill>
            <a:srgbClr val="2563EB">
              <a:alpha val="15000"/>
            </a:srgbClr>
          </a:solidFill>
          <a:ln w="12700">
            <a:solidFill>
              <a:srgbClr val="2563EB">
                <a:alpha val="35000"/>
              </a:srgbClr>
            </a:solidFill>
            <a:prstDash val="solid"/>
          </a:ln>
          <a:effectLst>
            <a:outerShdw blurRad="127000" dist="38100" dir="8100000" algn="bl" rotWithShape="0">
              <a:srgbClr val="94A3B8">
                <a:alpha val="18000"/>
              </a:srgbClr>
            </a:outerShdw>
          </a:effectLst>
        </p:spPr>
      </p:sp>
      <p:sp>
        <p:nvSpPr>
          <p:cNvPr id="29" name="Text 27"/>
          <p:cNvSpPr/>
          <p:nvPr/>
        </p:nvSpPr>
        <p:spPr>
          <a:xfrm>
            <a:off x="1417320" y="3776472"/>
            <a:ext cx="960120" cy="457200"/>
          </a:xfrm>
          <a:prstGeom prst="rect">
            <a:avLst/>
          </a:prstGeom>
          <a:noFill/>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30" name="Text 28"/>
          <p:cNvSpPr/>
          <p:nvPr/>
        </p:nvSpPr>
        <p:spPr>
          <a:xfrm>
            <a:off x="1417320" y="4270248"/>
            <a:ext cx="960120" cy="384048"/>
          </a:xfrm>
          <a:prstGeom prst="rect">
            <a:avLst/>
          </a:prstGeom>
          <a:noFill/>
        </p:spPr>
        <p:txBody>
          <a:bodyPr wrap="square" lIns="0" tIns="0" rIns="0" bIns="0" rtlCol="0" anchor="ctr"/>
          <a:lstStyle/>
          <a:p>
            <a:pPr marL="0" indent="0" algn="ctr">
              <a:buNone/>
            </a:pPr>
            <a:r>
              <a:rPr lang="en-US" sz="950" b="1" dirty="0">
                <a:solidFill>
                  <a:srgbClr val="2563EB"/>
                </a:solidFill>
                <a:latin typeface="Calibri" panose="020F0502020204030204" pitchFamily="34" charset="0"/>
                <a:ea typeface="Calibri" panose="020F0502020204030204" pitchFamily="34" charset="-122"/>
                <a:cs typeface="Calibri" panose="020F0502020204030204" pitchFamily="34" charset="-120"/>
              </a:rPr>
              <a:t>Monitoring</a:t>
            </a:r>
            <a:endParaRPr lang="en-US" sz="950" dirty="0"/>
          </a:p>
        </p:txBody>
      </p:sp>
      <p:sp>
        <p:nvSpPr>
          <p:cNvPr id="31" name="Shape 29"/>
          <p:cNvSpPr/>
          <p:nvPr/>
        </p:nvSpPr>
        <p:spPr>
          <a:xfrm>
            <a:off x="2514600" y="3749040"/>
            <a:ext cx="960120" cy="1005840"/>
          </a:xfrm>
          <a:prstGeom prst="roundRect">
            <a:avLst>
              <a:gd name="adj" fmla="val 7619"/>
            </a:avLst>
          </a:prstGeom>
          <a:solidFill>
            <a:srgbClr val="DC2626">
              <a:alpha val="15000"/>
            </a:srgbClr>
          </a:solidFill>
          <a:ln w="12700">
            <a:solidFill>
              <a:srgbClr val="DC2626">
                <a:alpha val="35000"/>
              </a:srgbClr>
            </a:solidFill>
            <a:prstDash val="solid"/>
          </a:ln>
          <a:effectLst>
            <a:outerShdw blurRad="127000" dist="38100" dir="8100000" algn="bl" rotWithShape="0">
              <a:srgbClr val="94A3B8">
                <a:alpha val="18000"/>
              </a:srgbClr>
            </a:outerShdw>
          </a:effectLst>
        </p:spPr>
      </p:sp>
      <p:sp>
        <p:nvSpPr>
          <p:cNvPr id="32" name="Text 30"/>
          <p:cNvSpPr/>
          <p:nvPr/>
        </p:nvSpPr>
        <p:spPr>
          <a:xfrm>
            <a:off x="2514600" y="3776472"/>
            <a:ext cx="960120" cy="457200"/>
          </a:xfrm>
          <a:prstGeom prst="rect">
            <a:avLst/>
          </a:prstGeom>
          <a:noFill/>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33" name="Text 31"/>
          <p:cNvSpPr/>
          <p:nvPr/>
        </p:nvSpPr>
        <p:spPr>
          <a:xfrm>
            <a:off x="2514600" y="4270248"/>
            <a:ext cx="960120" cy="384048"/>
          </a:xfrm>
          <a:prstGeom prst="rect">
            <a:avLst/>
          </a:prstGeom>
          <a:noFill/>
        </p:spPr>
        <p:txBody>
          <a:bodyPr wrap="square" lIns="0" tIns="0" rIns="0" bIns="0" rtlCol="0" anchor="ctr"/>
          <a:lstStyle/>
          <a:p>
            <a:pPr marL="0" indent="0" algn="ctr">
              <a:buNone/>
            </a:pPr>
            <a:r>
              <a:rPr lang="en-US" sz="950" b="1" dirty="0">
                <a:solidFill>
                  <a:srgbClr val="DC2626"/>
                </a:solidFill>
                <a:latin typeface="Calibri" panose="020F0502020204030204" pitchFamily="34" charset="0"/>
                <a:ea typeface="Calibri" panose="020F0502020204030204" pitchFamily="34" charset="-122"/>
                <a:cs typeface="Calibri" panose="020F0502020204030204" pitchFamily="34" charset="-120"/>
              </a:rPr>
              <a:t>Security</a:t>
            </a:r>
            <a:endParaRPr lang="en-US" sz="950" dirty="0"/>
          </a:p>
        </p:txBody>
      </p:sp>
      <p:sp>
        <p:nvSpPr>
          <p:cNvPr id="34" name="Shape 32"/>
          <p:cNvSpPr/>
          <p:nvPr/>
        </p:nvSpPr>
        <p:spPr>
          <a:xfrm>
            <a:off x="3611880" y="3749040"/>
            <a:ext cx="960120" cy="1005840"/>
          </a:xfrm>
          <a:prstGeom prst="roundRect">
            <a:avLst>
              <a:gd name="adj" fmla="val 7619"/>
            </a:avLst>
          </a:prstGeom>
          <a:solidFill>
            <a:srgbClr val="7C3AED">
              <a:alpha val="15000"/>
            </a:srgbClr>
          </a:solidFill>
          <a:ln w="12700">
            <a:solidFill>
              <a:srgbClr val="7C3AED">
                <a:alpha val="35000"/>
              </a:srgbClr>
            </a:solidFill>
            <a:prstDash val="solid"/>
          </a:ln>
          <a:effectLst>
            <a:outerShdw blurRad="127000" dist="38100" dir="8100000" algn="bl" rotWithShape="0">
              <a:srgbClr val="94A3B8">
                <a:alpha val="18000"/>
              </a:srgbClr>
            </a:outerShdw>
          </a:effectLst>
        </p:spPr>
      </p:sp>
      <p:sp>
        <p:nvSpPr>
          <p:cNvPr id="35" name="Text 33"/>
          <p:cNvSpPr/>
          <p:nvPr/>
        </p:nvSpPr>
        <p:spPr>
          <a:xfrm>
            <a:off x="3611880" y="3776472"/>
            <a:ext cx="960120" cy="457200"/>
          </a:xfrm>
          <a:prstGeom prst="rect">
            <a:avLst/>
          </a:prstGeom>
          <a:noFill/>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36" name="Text 34"/>
          <p:cNvSpPr/>
          <p:nvPr/>
        </p:nvSpPr>
        <p:spPr>
          <a:xfrm>
            <a:off x="3611880" y="4270248"/>
            <a:ext cx="960120" cy="384048"/>
          </a:xfrm>
          <a:prstGeom prst="rect">
            <a:avLst/>
          </a:prstGeom>
          <a:noFill/>
        </p:spPr>
        <p:txBody>
          <a:bodyPr wrap="square" lIns="0" tIns="0" rIns="0" bIns="0" rtlCol="0" anchor="ctr"/>
          <a:lstStyle/>
          <a:p>
            <a:pPr marL="0" indent="0" algn="ctr">
              <a:buNone/>
            </a:pPr>
            <a:r>
              <a:rPr lang="en-US" sz="950" b="1" dirty="0">
                <a:solidFill>
                  <a:srgbClr val="7C3AED"/>
                </a:solidFill>
                <a:latin typeface="Calibri" panose="020F0502020204030204" pitchFamily="34" charset="0"/>
                <a:ea typeface="Calibri" panose="020F0502020204030204" pitchFamily="34" charset="-122"/>
                <a:cs typeface="Calibri" panose="020F0502020204030204" pitchFamily="34" charset="-120"/>
              </a:rPr>
              <a:t>Transparency</a:t>
            </a:r>
            <a:endParaRPr lang="en-US" sz="950" dirty="0"/>
          </a:p>
        </p:txBody>
      </p:sp>
      <p:sp>
        <p:nvSpPr>
          <p:cNvPr id="37" name="Shape 35"/>
          <p:cNvSpPr/>
          <p:nvPr/>
        </p:nvSpPr>
        <p:spPr>
          <a:xfrm>
            <a:off x="4709160" y="3749040"/>
            <a:ext cx="960120" cy="1005840"/>
          </a:xfrm>
          <a:prstGeom prst="roundRect">
            <a:avLst>
              <a:gd name="adj" fmla="val 7619"/>
            </a:avLst>
          </a:prstGeom>
          <a:solidFill>
            <a:srgbClr val="D97706">
              <a:alpha val="15000"/>
            </a:srgbClr>
          </a:solidFill>
          <a:ln w="12700">
            <a:solidFill>
              <a:srgbClr val="D97706">
                <a:alpha val="35000"/>
              </a:srgbClr>
            </a:solidFill>
            <a:prstDash val="solid"/>
          </a:ln>
          <a:effectLst>
            <a:outerShdw blurRad="127000" dist="38100" dir="8100000" algn="bl" rotWithShape="0">
              <a:srgbClr val="94A3B8">
                <a:alpha val="18000"/>
              </a:srgbClr>
            </a:outerShdw>
          </a:effectLst>
        </p:spPr>
      </p:sp>
      <p:sp>
        <p:nvSpPr>
          <p:cNvPr id="38" name="Text 36"/>
          <p:cNvSpPr/>
          <p:nvPr/>
        </p:nvSpPr>
        <p:spPr>
          <a:xfrm>
            <a:off x="4709160" y="3776472"/>
            <a:ext cx="960120" cy="457200"/>
          </a:xfrm>
          <a:prstGeom prst="rect">
            <a:avLst/>
          </a:prstGeom>
          <a:noFill/>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39" name="Text 37"/>
          <p:cNvSpPr/>
          <p:nvPr/>
        </p:nvSpPr>
        <p:spPr>
          <a:xfrm>
            <a:off x="4709160" y="4270248"/>
            <a:ext cx="960120" cy="384048"/>
          </a:xfrm>
          <a:prstGeom prst="rect">
            <a:avLst/>
          </a:prstGeom>
          <a:noFill/>
        </p:spPr>
        <p:txBody>
          <a:bodyPr wrap="square" lIns="0" tIns="0" rIns="0" bIns="0" rtlCol="0" anchor="ctr"/>
          <a:lstStyle/>
          <a:p>
            <a:pPr marL="0" indent="0" algn="ctr">
              <a:buNone/>
            </a:pPr>
            <a:r>
              <a:rPr lang="en-US" sz="950" b="1" dirty="0">
                <a:solidFill>
                  <a:srgbClr val="D97706"/>
                </a:solidFill>
                <a:latin typeface="Calibri" panose="020F0502020204030204" pitchFamily="34" charset="0"/>
                <a:ea typeface="Calibri" panose="020F0502020204030204" pitchFamily="34" charset="-122"/>
                <a:cs typeface="Calibri" panose="020F0502020204030204" pitchFamily="34" charset="-120"/>
              </a:rPr>
              <a:t>Accountability</a:t>
            </a:r>
            <a:endParaRPr lang="en-US" sz="950" dirty="0"/>
          </a:p>
        </p:txBody>
      </p:sp>
      <p:sp>
        <p:nvSpPr>
          <p:cNvPr id="40" name="Shape 38"/>
          <p:cNvSpPr/>
          <p:nvPr/>
        </p:nvSpPr>
        <p:spPr>
          <a:xfrm>
            <a:off x="6080760" y="1143000"/>
            <a:ext cx="2743200" cy="3657600"/>
          </a:xfrm>
          <a:prstGeom prst="rect">
            <a:avLst/>
          </a:prstGeom>
          <a:solidFill>
            <a:srgbClr val="FFFFFF"/>
          </a:solidFill>
          <a:ln w="12700">
            <a:solidFill>
              <a:srgbClr val="7C3AED">
                <a:alpha val="40000"/>
              </a:srgbClr>
            </a:solidFill>
            <a:prstDash val="solid"/>
          </a:ln>
          <a:effectLst>
            <a:outerShdw blurRad="127000" dist="38100" dir="8100000" algn="bl" rotWithShape="0">
              <a:srgbClr val="94A3B8">
                <a:alpha val="18000"/>
              </a:srgbClr>
            </a:outerShdw>
          </a:effectLst>
        </p:spPr>
      </p:sp>
      <p:sp>
        <p:nvSpPr>
          <p:cNvPr id="41" name="Shape 39"/>
          <p:cNvSpPr/>
          <p:nvPr/>
        </p:nvSpPr>
        <p:spPr>
          <a:xfrm>
            <a:off x="6080760" y="1143000"/>
            <a:ext cx="2743200" cy="457200"/>
          </a:xfrm>
          <a:prstGeom prst="rect">
            <a:avLst/>
          </a:prstGeom>
          <a:solidFill>
            <a:srgbClr val="7C3AED">
              <a:alpha val="20000"/>
            </a:srgbClr>
          </a:solidFill>
          <a:ln w="12700">
            <a:solidFill>
              <a:srgbClr val="7C3AED">
                <a:alpha val="20000"/>
              </a:srgbClr>
            </a:solidFill>
            <a:prstDash val="solid"/>
          </a:ln>
        </p:spPr>
      </p:sp>
      <p:sp>
        <p:nvSpPr>
          <p:cNvPr id="42" name="Text 40"/>
          <p:cNvSpPr/>
          <p:nvPr/>
        </p:nvSpPr>
        <p:spPr>
          <a:xfrm>
            <a:off x="6217920" y="1143000"/>
            <a:ext cx="2560320" cy="457200"/>
          </a:xfrm>
          <a:prstGeom prst="rect">
            <a:avLst/>
          </a:prstGeom>
          <a:noFill/>
        </p:spPr>
        <p:txBody>
          <a:bodyPr wrap="square" lIns="0" tIns="0" rIns="0" bIns="0" rtlCol="0" anchor="ctr"/>
          <a:lstStyle/>
          <a:p>
            <a:pPr marL="0" indent="0">
              <a:buNone/>
            </a:pPr>
            <a:r>
              <a:rPr lang="en-US" sz="1300" b="1" dirty="0">
                <a:solidFill>
                  <a:srgbClr val="7C3AED"/>
                </a:solidFill>
                <a:latin typeface="Calibri" panose="020F0502020204030204" pitchFamily="34" charset="0"/>
                <a:ea typeface="Calibri" panose="020F0502020204030204" pitchFamily="34" charset="-122"/>
                <a:cs typeface="Calibri" panose="020F0502020204030204" pitchFamily="34" charset="-120"/>
              </a:rPr>
              <a:t>  Governance Structure</a:t>
            </a:r>
            <a:endParaRPr lang="en-US" sz="1300" dirty="0"/>
          </a:p>
        </p:txBody>
      </p:sp>
      <p:sp>
        <p:nvSpPr>
          <p:cNvPr id="43" name="Text 41"/>
          <p:cNvSpPr/>
          <p:nvPr/>
        </p:nvSpPr>
        <p:spPr>
          <a:xfrm>
            <a:off x="6217920" y="1719072"/>
            <a:ext cx="2514600" cy="2971800"/>
          </a:xfrm>
          <a:prstGeom prst="rect">
            <a:avLst/>
          </a:prstGeom>
          <a:noFill/>
        </p:spPr>
        <p:txBody>
          <a:bodyPr wrap="square" rtlCol="0" anchor="ctr"/>
          <a:lstStyle/>
          <a:p>
            <a:pPr marL="0" indent="0">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 AI Oversight Committee
</a:t>
            </a:r>
            <a:endParaRPr lang="en-US" sz="1100" dirty="0"/>
          </a:p>
          <a:p>
            <a:pPr marL="0" indent="0">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 Chief AI Officers
</a:t>
            </a:r>
            <a:endParaRPr lang="en-US" sz="1100" dirty="0"/>
          </a:p>
          <a:p>
            <a:pPr marL="0" indent="0">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 Multiple departments managing AI projects
</a:t>
            </a:r>
            <a:endParaRPr lang="en-US" sz="1100" dirty="0"/>
          </a:p>
          <a:p>
            <a:pPr marL="0" indent="0">
              <a:buNone/>
            </a:pPr>
            <a:r>
              <a:rPr lang="en-US" sz="1100" b="1" dirty="0">
                <a:solidFill>
                  <a:srgbClr val="334155"/>
                </a:solidFill>
                <a:latin typeface="Calibri" panose="020F0502020204030204" pitchFamily="34" charset="0"/>
                <a:ea typeface="Calibri" panose="020F0502020204030204" pitchFamily="34" charset="-122"/>
                <a:cs typeface="Calibri" panose="020F0502020204030204" pitchFamily="34" charset="-120"/>
              </a:rPr>
              <a:t>Policies &amp; Standards
</a:t>
            </a:r>
            <a:endParaRPr lang="en-US" sz="1100" dirty="0"/>
          </a:p>
          <a:p>
            <a:pPr marL="0" indent="0">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 Written rules for AI boundaries
</a:t>
            </a:r>
            <a:endParaRPr lang="en-US" sz="1100" dirty="0"/>
          </a:p>
          <a:p>
            <a:pPr marL="0" indent="0">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 Protect against data poisoning, hacking, model theft
</a:t>
            </a:r>
            <a:endParaRPr lang="en-US" sz="1100" dirty="0"/>
          </a:p>
          <a:p>
            <a:pPr marL="0" indent="0">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 Based on NIST AI RMF</a:t>
            </a:r>
            <a:endParaRPr lang="en-US" sz="1100" dirty="0"/>
          </a:p>
        </p:txBody>
      </p:sp>
    </p:spTree>
  </p:cSld>
  <p:clrMapOvr>
    <a:masterClrMapping/>
  </p:clrMapOvr>
  <mc:AlternateContent xmlns:mc="http://schemas.openxmlformats.org/markup-compatibility/2006">
    <mc:Choice xmlns:p14="http://schemas.microsoft.com/office/powerpoint/2010/main" Requires="p14">
      <p:transition spd="slow" p14:dur="2200">
        <p14:doors dir="ver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0F7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7C3AED">
              <a:alpha val="14000"/>
            </a:srgbClr>
          </a:solidFill>
          <a:ln w="12700">
            <a:solidFill>
              <a:srgbClr val="7C3AED">
                <a:alpha val="14000"/>
              </a:srgbClr>
            </a:solidFill>
            <a:prstDash val="solid"/>
          </a:ln>
        </p:spPr>
      </p:sp>
      <p:sp>
        <p:nvSpPr>
          <p:cNvPr id="3" name="Shape 1"/>
          <p:cNvSpPr/>
          <p:nvPr/>
        </p:nvSpPr>
        <p:spPr>
          <a:xfrm>
            <a:off x="274320" y="182880"/>
            <a:ext cx="658368" cy="658368"/>
          </a:xfrm>
          <a:prstGeom prst="ellipse">
            <a:avLst/>
          </a:prstGeom>
          <a:solidFill>
            <a:srgbClr val="7C3AED">
              <a:alpha val="45000"/>
            </a:srgbClr>
          </a:solidFill>
          <a:ln w="12700">
            <a:solidFill>
              <a:srgbClr val="7C3AED">
                <a:alpha val="45000"/>
              </a:srgbClr>
            </a:solidFill>
            <a:prstDash val="solid"/>
          </a:ln>
        </p:spPr>
      </p:sp>
      <p:sp>
        <p:nvSpPr>
          <p:cNvPr id="4" name="Text 2"/>
          <p:cNvSpPr/>
          <p:nvPr/>
        </p:nvSpPr>
        <p:spPr>
          <a:xfrm>
            <a:off x="274320" y="182880"/>
            <a:ext cx="658368" cy="658368"/>
          </a:xfrm>
          <a:prstGeom prst="rect">
            <a:avLst/>
          </a:prstGeom>
          <a:noFill/>
        </p:spPr>
        <p:txBody>
          <a:bodyPr wrap="square" lIns="0" tIns="0" rIns="0" bIns="0" rtlCol="0" anchor="ctr"/>
          <a:lstStyle/>
          <a:p>
            <a:pPr marL="0" indent="0" algn="ctr">
              <a:buNone/>
            </a:pPr>
            <a:r>
              <a:rPr lang="en-US" sz="1800" b="1" dirty="0">
                <a:solidFill>
                  <a:srgbClr val="7C3AED"/>
                </a:solidFill>
              </a:rPr>
              <a:t>03</a:t>
            </a:r>
            <a:endParaRPr lang="en-US" sz="1800" dirty="0"/>
          </a:p>
        </p:txBody>
      </p:sp>
      <p:sp>
        <p:nvSpPr>
          <p:cNvPr id="5" name="Text 3"/>
          <p:cNvSpPr/>
          <p:nvPr/>
        </p:nvSpPr>
        <p:spPr>
          <a:xfrm>
            <a:off x="1078992" y="73152"/>
            <a:ext cx="7863840" cy="914400"/>
          </a:xfrm>
          <a:prstGeom prst="rect">
            <a:avLst/>
          </a:prstGeom>
          <a:noFill/>
        </p:spPr>
        <p:txBody>
          <a:bodyPr wrap="square" rtlCol="0" anchor="ctr"/>
          <a:lstStyle/>
          <a:p>
            <a:pPr marL="0" indent="0">
              <a:buNone/>
            </a:pPr>
            <a:r>
              <a:rPr lang="en-US" sz="3000" b="1" dirty="0">
                <a:solidFill>
                  <a:srgbClr val="1E3A5F"/>
                </a:solidFill>
                <a:latin typeface="Calibri" panose="020F0502020204030204" pitchFamily="34" charset="0"/>
                <a:ea typeface="Calibri" panose="020F0502020204030204" pitchFamily="34" charset="-122"/>
                <a:cs typeface="Calibri" panose="020F0502020204030204" pitchFamily="34" charset="-120"/>
              </a:rPr>
              <a:t>Key Components: Risk Management</a:t>
            </a:r>
            <a:endParaRPr lang="en-US" sz="3000" dirty="0"/>
          </a:p>
        </p:txBody>
      </p:sp>
      <p:sp>
        <p:nvSpPr>
          <p:cNvPr id="6" name="Shape 4"/>
          <p:cNvSpPr/>
          <p:nvPr/>
        </p:nvSpPr>
        <p:spPr>
          <a:xfrm>
            <a:off x="320040" y="1170432"/>
            <a:ext cx="8503920" cy="621792"/>
          </a:xfrm>
          <a:prstGeom prst="rect">
            <a:avLst/>
          </a:prstGeom>
          <a:solidFill>
            <a:srgbClr val="7C3AED">
              <a:alpha val="12000"/>
            </a:srgbClr>
          </a:solidFill>
          <a:ln w="12700">
            <a:solidFill>
              <a:srgbClr val="7C3AED">
                <a:alpha val="25000"/>
              </a:srgbClr>
            </a:solidFill>
            <a:prstDash val="solid"/>
          </a:ln>
        </p:spPr>
      </p:sp>
      <p:sp>
        <p:nvSpPr>
          <p:cNvPr id="7" name="Text 5"/>
          <p:cNvSpPr/>
          <p:nvPr/>
        </p:nvSpPr>
        <p:spPr>
          <a:xfrm>
            <a:off x="457200" y="1207008"/>
            <a:ext cx="8321040" cy="548640"/>
          </a:xfrm>
          <a:prstGeom prst="rect">
            <a:avLst/>
          </a:prstGeom>
          <a:noFill/>
        </p:spPr>
        <p:txBody>
          <a:bodyPr wrap="square" rtlCol="0" anchor="ctr"/>
          <a:lstStyle/>
          <a:p>
            <a:pPr marL="0" indent="0">
              <a:buNone/>
            </a:pPr>
            <a:r>
              <a:rPr lang="en-US" sz="1200" i="1" dirty="0">
                <a:solidFill>
                  <a:srgbClr val="7C3AED"/>
                </a:solidFill>
                <a:latin typeface="Calibri" panose="020F0502020204030204" pitchFamily="34" charset="0"/>
                <a:ea typeface="Calibri" panose="020F0502020204030204" pitchFamily="34" charset="-122"/>
                <a:cs typeface="Calibri" panose="020F0502020204030204" pitchFamily="34" charset="-120"/>
              </a:rPr>
              <a:t>Risk management is the process of spotting, understanding, and handling risks in AI systems — making AI trustworthy, ethical, secure, and compliant.</a:t>
            </a:r>
            <a:endParaRPr lang="en-US" sz="1200" dirty="0"/>
          </a:p>
        </p:txBody>
      </p:sp>
      <p:sp>
        <p:nvSpPr>
          <p:cNvPr id="8" name="Shape 6"/>
          <p:cNvSpPr/>
          <p:nvPr/>
        </p:nvSpPr>
        <p:spPr>
          <a:xfrm>
            <a:off x="320040" y="1993392"/>
            <a:ext cx="1572768" cy="2834640"/>
          </a:xfrm>
          <a:prstGeom prst="rect">
            <a:avLst/>
          </a:prstGeom>
          <a:solidFill>
            <a:srgbClr val="FFFFFF"/>
          </a:solidFill>
          <a:ln w="12700">
            <a:solidFill>
              <a:srgbClr val="2563EB">
                <a:alpha val="45000"/>
              </a:srgbClr>
            </a:solidFill>
            <a:prstDash val="solid"/>
          </a:ln>
          <a:effectLst>
            <a:outerShdw blurRad="127000" dist="38100" dir="8100000" algn="bl" rotWithShape="0">
              <a:srgbClr val="94A3B8">
                <a:alpha val="18000"/>
              </a:srgbClr>
            </a:outerShdw>
          </a:effectLst>
        </p:spPr>
      </p:sp>
      <p:sp>
        <p:nvSpPr>
          <p:cNvPr id="9" name="Shape 7"/>
          <p:cNvSpPr/>
          <p:nvPr/>
        </p:nvSpPr>
        <p:spPr>
          <a:xfrm>
            <a:off x="786384" y="2103120"/>
            <a:ext cx="640080" cy="640080"/>
          </a:xfrm>
          <a:prstGeom prst="ellipse">
            <a:avLst/>
          </a:prstGeom>
          <a:solidFill>
            <a:srgbClr val="2563EB"/>
          </a:solidFill>
          <a:ln w="12700">
            <a:solidFill>
              <a:srgbClr val="2563EB"/>
            </a:solidFill>
            <a:prstDash val="solid"/>
          </a:ln>
        </p:spPr>
      </p:sp>
      <p:sp>
        <p:nvSpPr>
          <p:cNvPr id="10" name="Text 8"/>
          <p:cNvSpPr/>
          <p:nvPr/>
        </p:nvSpPr>
        <p:spPr>
          <a:xfrm>
            <a:off x="786384" y="2103120"/>
            <a:ext cx="640080" cy="640080"/>
          </a:xfrm>
          <a:prstGeom prst="rect">
            <a:avLst/>
          </a:prstGeom>
          <a:noFill/>
        </p:spPr>
        <p:txBody>
          <a:bodyPr wrap="square" lIns="0" tIns="0" rIns="0" bIns="0" rtlCol="0" anchor="ctr"/>
          <a:lstStyle/>
          <a:p>
            <a:pPr marL="0" indent="0" algn="ctr">
              <a:buNone/>
            </a:pPr>
            <a:r>
              <a:rPr lang="en-US" sz="1800" b="1" dirty="0">
                <a:solidFill>
                  <a:srgbClr val="FFFFFF"/>
                </a:solidFill>
              </a:rPr>
              <a:t>1</a:t>
            </a:r>
            <a:endParaRPr lang="en-US" sz="1800" dirty="0"/>
          </a:p>
        </p:txBody>
      </p:sp>
      <p:sp>
        <p:nvSpPr>
          <p:cNvPr id="11" name="Text 9"/>
          <p:cNvSpPr/>
          <p:nvPr/>
        </p:nvSpPr>
        <p:spPr>
          <a:xfrm>
            <a:off x="320040" y="2852928"/>
            <a:ext cx="1572768" cy="384048"/>
          </a:xfrm>
          <a:prstGeom prst="rect">
            <a:avLst/>
          </a:prstGeom>
          <a:noFill/>
        </p:spPr>
        <p:txBody>
          <a:bodyPr wrap="square" lIns="0" tIns="0" rIns="0" bIns="0" rtlCol="0" anchor="ctr"/>
          <a:lstStyle/>
          <a:p>
            <a:pPr marL="0" indent="0" algn="ctr">
              <a:buNone/>
            </a:pPr>
            <a:r>
              <a:rPr lang="en-US" sz="1300" b="1" dirty="0">
                <a:solidFill>
                  <a:srgbClr val="2563EB"/>
                </a:solidFill>
                <a:latin typeface="Calibri" panose="020F0502020204030204" pitchFamily="34" charset="0"/>
                <a:ea typeface="Calibri" panose="020F0502020204030204" pitchFamily="34" charset="-122"/>
                <a:cs typeface="Calibri" panose="020F0502020204030204" pitchFamily="34" charset="-120"/>
              </a:rPr>
              <a:t>Identify</a:t>
            </a:r>
            <a:endParaRPr lang="en-US" sz="1300" dirty="0"/>
          </a:p>
        </p:txBody>
      </p:sp>
      <p:sp>
        <p:nvSpPr>
          <p:cNvPr id="12" name="Text 10"/>
          <p:cNvSpPr/>
          <p:nvPr/>
        </p:nvSpPr>
        <p:spPr>
          <a:xfrm>
            <a:off x="411480" y="3291840"/>
            <a:ext cx="1417320" cy="1444752"/>
          </a:xfrm>
          <a:prstGeom prst="rect">
            <a:avLst/>
          </a:prstGeom>
          <a:noFill/>
        </p:spPr>
        <p:txBody>
          <a:bodyPr wrap="square" rtlCol="0" anchor="ctr"/>
          <a:lstStyle/>
          <a:p>
            <a:pPr marL="0" indent="0" algn="ctr">
              <a:buNone/>
            </a:pPr>
            <a:r>
              <a:rPr lang="en-US" sz="1050" dirty="0">
                <a:solidFill>
                  <a:srgbClr val="334155"/>
                </a:solidFill>
                <a:latin typeface="Calibri" panose="020F0502020204030204" pitchFamily="34" charset="0"/>
                <a:ea typeface="Calibri" panose="020F0502020204030204" pitchFamily="34" charset="-122"/>
                <a:cs typeface="Calibri" panose="020F0502020204030204" pitchFamily="34" charset="-120"/>
              </a:rPr>
              <a:t>Spot potential problems within the AI system early in development.</a:t>
            </a:r>
            <a:endParaRPr lang="en-US" sz="1050" dirty="0"/>
          </a:p>
        </p:txBody>
      </p:sp>
      <p:sp>
        <p:nvSpPr>
          <p:cNvPr id="13" name="Shape 11"/>
          <p:cNvSpPr/>
          <p:nvPr/>
        </p:nvSpPr>
        <p:spPr>
          <a:xfrm>
            <a:off x="2039112" y="1993392"/>
            <a:ext cx="1572768" cy="2834640"/>
          </a:xfrm>
          <a:prstGeom prst="rect">
            <a:avLst/>
          </a:prstGeom>
          <a:solidFill>
            <a:srgbClr val="FFFFFF"/>
          </a:solidFill>
          <a:ln w="12700">
            <a:solidFill>
              <a:srgbClr val="0891B2">
                <a:alpha val="45000"/>
              </a:srgbClr>
            </a:solidFill>
            <a:prstDash val="solid"/>
          </a:ln>
          <a:effectLst>
            <a:outerShdw blurRad="127000" dist="38100" dir="8100000" algn="bl" rotWithShape="0">
              <a:srgbClr val="94A3B8">
                <a:alpha val="18000"/>
              </a:srgbClr>
            </a:outerShdw>
          </a:effectLst>
        </p:spPr>
      </p:sp>
      <p:sp>
        <p:nvSpPr>
          <p:cNvPr id="14" name="Shape 12"/>
          <p:cNvSpPr/>
          <p:nvPr/>
        </p:nvSpPr>
        <p:spPr>
          <a:xfrm>
            <a:off x="2505456" y="2103120"/>
            <a:ext cx="640080" cy="640080"/>
          </a:xfrm>
          <a:prstGeom prst="ellipse">
            <a:avLst/>
          </a:prstGeom>
          <a:solidFill>
            <a:srgbClr val="0891B2"/>
          </a:solidFill>
          <a:ln w="12700">
            <a:solidFill>
              <a:srgbClr val="0891B2"/>
            </a:solidFill>
            <a:prstDash val="solid"/>
          </a:ln>
        </p:spPr>
      </p:sp>
      <p:sp>
        <p:nvSpPr>
          <p:cNvPr id="15" name="Text 13"/>
          <p:cNvSpPr/>
          <p:nvPr/>
        </p:nvSpPr>
        <p:spPr>
          <a:xfrm>
            <a:off x="2505456" y="2103120"/>
            <a:ext cx="640080" cy="640080"/>
          </a:xfrm>
          <a:prstGeom prst="rect">
            <a:avLst/>
          </a:prstGeom>
          <a:noFill/>
        </p:spPr>
        <p:txBody>
          <a:bodyPr wrap="square" lIns="0" tIns="0" rIns="0" bIns="0" rtlCol="0" anchor="ctr"/>
          <a:lstStyle/>
          <a:p>
            <a:pPr marL="0" indent="0" algn="ctr">
              <a:buNone/>
            </a:pPr>
            <a:r>
              <a:rPr lang="en-US" sz="1800" b="1" dirty="0">
                <a:solidFill>
                  <a:srgbClr val="FFFFFF"/>
                </a:solidFill>
              </a:rPr>
              <a:t>2</a:t>
            </a:r>
            <a:endParaRPr lang="en-US" sz="1800" dirty="0"/>
          </a:p>
        </p:txBody>
      </p:sp>
      <p:sp>
        <p:nvSpPr>
          <p:cNvPr id="16" name="Text 14"/>
          <p:cNvSpPr/>
          <p:nvPr/>
        </p:nvSpPr>
        <p:spPr>
          <a:xfrm>
            <a:off x="2039112" y="2852928"/>
            <a:ext cx="1572768" cy="384048"/>
          </a:xfrm>
          <a:prstGeom prst="rect">
            <a:avLst/>
          </a:prstGeom>
          <a:noFill/>
        </p:spPr>
        <p:txBody>
          <a:bodyPr wrap="square" lIns="0" tIns="0" rIns="0" bIns="0" rtlCol="0" anchor="ctr"/>
          <a:lstStyle/>
          <a:p>
            <a:pPr marL="0" indent="0" algn="ctr">
              <a:buNone/>
            </a:pPr>
            <a:r>
              <a:rPr lang="en-US" sz="1300" b="1" dirty="0">
                <a:solidFill>
                  <a:srgbClr val="0891B2"/>
                </a:solidFill>
                <a:latin typeface="Calibri" panose="020F0502020204030204" pitchFamily="34" charset="0"/>
                <a:ea typeface="Calibri" panose="020F0502020204030204" pitchFamily="34" charset="-122"/>
                <a:cs typeface="Calibri" panose="020F0502020204030204" pitchFamily="34" charset="-120"/>
              </a:rPr>
              <a:t>Assess</a:t>
            </a:r>
            <a:endParaRPr lang="en-US" sz="1300" dirty="0"/>
          </a:p>
        </p:txBody>
      </p:sp>
      <p:sp>
        <p:nvSpPr>
          <p:cNvPr id="17" name="Text 15"/>
          <p:cNvSpPr/>
          <p:nvPr/>
        </p:nvSpPr>
        <p:spPr>
          <a:xfrm>
            <a:off x="2130552" y="3291840"/>
            <a:ext cx="1417320" cy="1444752"/>
          </a:xfrm>
          <a:prstGeom prst="rect">
            <a:avLst/>
          </a:prstGeom>
          <a:noFill/>
        </p:spPr>
        <p:txBody>
          <a:bodyPr wrap="square" rtlCol="0" anchor="ctr"/>
          <a:lstStyle/>
          <a:p>
            <a:pPr marL="0" indent="0" algn="ctr">
              <a:buNone/>
            </a:pPr>
            <a:r>
              <a:rPr lang="en-US" sz="1050" dirty="0">
                <a:solidFill>
                  <a:srgbClr val="334155"/>
                </a:solidFill>
                <a:latin typeface="Calibri" panose="020F0502020204030204" pitchFamily="34" charset="0"/>
                <a:ea typeface="Calibri" panose="020F0502020204030204" pitchFamily="34" charset="-122"/>
                <a:cs typeface="Calibri" panose="020F0502020204030204" pitchFamily="34" charset="-120"/>
              </a:rPr>
              <a:t>Evaluate how serious each identified risk is to the organization.</a:t>
            </a:r>
            <a:endParaRPr lang="en-US" sz="1050" dirty="0"/>
          </a:p>
        </p:txBody>
      </p:sp>
      <p:sp>
        <p:nvSpPr>
          <p:cNvPr id="18" name="Shape 16"/>
          <p:cNvSpPr/>
          <p:nvPr/>
        </p:nvSpPr>
        <p:spPr>
          <a:xfrm>
            <a:off x="3758184" y="1993392"/>
            <a:ext cx="1572768" cy="2834640"/>
          </a:xfrm>
          <a:prstGeom prst="rect">
            <a:avLst/>
          </a:prstGeom>
          <a:solidFill>
            <a:srgbClr val="FFFFFF"/>
          </a:solidFill>
          <a:ln w="12700">
            <a:solidFill>
              <a:srgbClr val="10B981">
                <a:alpha val="45000"/>
              </a:srgbClr>
            </a:solidFill>
            <a:prstDash val="solid"/>
          </a:ln>
          <a:effectLst>
            <a:outerShdw blurRad="127000" dist="38100" dir="8100000" algn="bl" rotWithShape="0">
              <a:srgbClr val="94A3B8">
                <a:alpha val="18000"/>
              </a:srgbClr>
            </a:outerShdw>
          </a:effectLst>
        </p:spPr>
      </p:sp>
      <p:sp>
        <p:nvSpPr>
          <p:cNvPr id="19" name="Shape 17"/>
          <p:cNvSpPr/>
          <p:nvPr/>
        </p:nvSpPr>
        <p:spPr>
          <a:xfrm>
            <a:off x="4224528" y="2103120"/>
            <a:ext cx="640080" cy="640080"/>
          </a:xfrm>
          <a:prstGeom prst="ellipse">
            <a:avLst/>
          </a:prstGeom>
          <a:solidFill>
            <a:srgbClr val="10B981"/>
          </a:solidFill>
          <a:ln w="12700">
            <a:solidFill>
              <a:srgbClr val="10B981"/>
            </a:solidFill>
            <a:prstDash val="solid"/>
          </a:ln>
        </p:spPr>
      </p:sp>
      <p:sp>
        <p:nvSpPr>
          <p:cNvPr id="20" name="Text 18"/>
          <p:cNvSpPr/>
          <p:nvPr/>
        </p:nvSpPr>
        <p:spPr>
          <a:xfrm>
            <a:off x="4224528" y="2103120"/>
            <a:ext cx="640080" cy="640080"/>
          </a:xfrm>
          <a:prstGeom prst="rect">
            <a:avLst/>
          </a:prstGeom>
          <a:noFill/>
        </p:spPr>
        <p:txBody>
          <a:bodyPr wrap="square" lIns="0" tIns="0" rIns="0" bIns="0" rtlCol="0" anchor="ctr"/>
          <a:lstStyle/>
          <a:p>
            <a:pPr marL="0" indent="0" algn="ctr">
              <a:buNone/>
            </a:pPr>
            <a:r>
              <a:rPr lang="en-US" sz="1800" b="1" dirty="0">
                <a:solidFill>
                  <a:srgbClr val="FFFFFF"/>
                </a:solidFill>
              </a:rPr>
              <a:t>3</a:t>
            </a:r>
            <a:endParaRPr lang="en-US" sz="1800" dirty="0"/>
          </a:p>
        </p:txBody>
      </p:sp>
      <p:sp>
        <p:nvSpPr>
          <p:cNvPr id="21" name="Text 19"/>
          <p:cNvSpPr/>
          <p:nvPr/>
        </p:nvSpPr>
        <p:spPr>
          <a:xfrm>
            <a:off x="3758184" y="2852928"/>
            <a:ext cx="1572768" cy="384048"/>
          </a:xfrm>
          <a:prstGeom prst="rect">
            <a:avLst/>
          </a:prstGeom>
          <a:noFill/>
        </p:spPr>
        <p:txBody>
          <a:bodyPr wrap="square" lIns="0" tIns="0" rIns="0" bIns="0" rtlCol="0" anchor="ctr"/>
          <a:lstStyle/>
          <a:p>
            <a:pPr marL="0" indent="0" algn="ctr">
              <a:buNone/>
            </a:pPr>
            <a:r>
              <a:rPr lang="en-US" sz="1300" b="1" dirty="0">
                <a:solidFill>
                  <a:srgbClr val="10B981"/>
                </a:solidFill>
                <a:latin typeface="Calibri" panose="020F0502020204030204" pitchFamily="34" charset="0"/>
                <a:ea typeface="Calibri" panose="020F0502020204030204" pitchFamily="34" charset="-122"/>
                <a:cs typeface="Calibri" panose="020F0502020204030204" pitchFamily="34" charset="-120"/>
              </a:rPr>
              <a:t>Reduce</a:t>
            </a:r>
            <a:endParaRPr lang="en-US" sz="1300" dirty="0"/>
          </a:p>
        </p:txBody>
      </p:sp>
      <p:sp>
        <p:nvSpPr>
          <p:cNvPr id="22" name="Text 20"/>
          <p:cNvSpPr/>
          <p:nvPr/>
        </p:nvSpPr>
        <p:spPr>
          <a:xfrm>
            <a:off x="3849624" y="3291840"/>
            <a:ext cx="1417320" cy="1444752"/>
          </a:xfrm>
          <a:prstGeom prst="rect">
            <a:avLst/>
          </a:prstGeom>
          <a:noFill/>
        </p:spPr>
        <p:txBody>
          <a:bodyPr wrap="square" rtlCol="0" anchor="ctr"/>
          <a:lstStyle/>
          <a:p>
            <a:pPr marL="0" indent="0" algn="ctr">
              <a:buNone/>
            </a:pPr>
            <a:r>
              <a:rPr lang="en-US" sz="1050" dirty="0">
                <a:solidFill>
                  <a:srgbClr val="334155"/>
                </a:solidFill>
                <a:latin typeface="Calibri" panose="020F0502020204030204" pitchFamily="34" charset="0"/>
                <a:ea typeface="Calibri" panose="020F0502020204030204" pitchFamily="34" charset="-122"/>
                <a:cs typeface="Calibri" panose="020F0502020204030204" pitchFamily="34" charset="-120"/>
              </a:rPr>
              <a:t>Take steps to mitigate or eliminate risks before deployment.</a:t>
            </a:r>
            <a:endParaRPr lang="en-US" sz="1050" dirty="0"/>
          </a:p>
        </p:txBody>
      </p:sp>
      <p:sp>
        <p:nvSpPr>
          <p:cNvPr id="23" name="Shape 21"/>
          <p:cNvSpPr/>
          <p:nvPr/>
        </p:nvSpPr>
        <p:spPr>
          <a:xfrm>
            <a:off x="5477256" y="1993392"/>
            <a:ext cx="1572768" cy="2834640"/>
          </a:xfrm>
          <a:prstGeom prst="rect">
            <a:avLst/>
          </a:prstGeom>
          <a:solidFill>
            <a:srgbClr val="FFFFFF"/>
          </a:solidFill>
          <a:ln w="12700">
            <a:solidFill>
              <a:srgbClr val="D97706">
                <a:alpha val="45000"/>
              </a:srgbClr>
            </a:solidFill>
            <a:prstDash val="solid"/>
          </a:ln>
          <a:effectLst>
            <a:outerShdw blurRad="127000" dist="38100" dir="8100000" algn="bl" rotWithShape="0">
              <a:srgbClr val="94A3B8">
                <a:alpha val="18000"/>
              </a:srgbClr>
            </a:outerShdw>
          </a:effectLst>
        </p:spPr>
      </p:sp>
      <p:sp>
        <p:nvSpPr>
          <p:cNvPr id="24" name="Shape 22"/>
          <p:cNvSpPr/>
          <p:nvPr/>
        </p:nvSpPr>
        <p:spPr>
          <a:xfrm>
            <a:off x="5943600" y="2103120"/>
            <a:ext cx="640080" cy="640080"/>
          </a:xfrm>
          <a:prstGeom prst="ellipse">
            <a:avLst/>
          </a:prstGeom>
          <a:solidFill>
            <a:srgbClr val="D97706"/>
          </a:solidFill>
          <a:ln w="12700">
            <a:solidFill>
              <a:srgbClr val="D97706"/>
            </a:solidFill>
            <a:prstDash val="solid"/>
          </a:ln>
        </p:spPr>
      </p:sp>
      <p:sp>
        <p:nvSpPr>
          <p:cNvPr id="25" name="Text 23"/>
          <p:cNvSpPr/>
          <p:nvPr/>
        </p:nvSpPr>
        <p:spPr>
          <a:xfrm>
            <a:off x="5943600" y="2103120"/>
            <a:ext cx="640080" cy="640080"/>
          </a:xfrm>
          <a:prstGeom prst="rect">
            <a:avLst/>
          </a:prstGeom>
          <a:noFill/>
        </p:spPr>
        <p:txBody>
          <a:bodyPr wrap="square" lIns="0" tIns="0" rIns="0" bIns="0" rtlCol="0" anchor="ctr"/>
          <a:lstStyle/>
          <a:p>
            <a:pPr marL="0" indent="0" algn="ctr">
              <a:buNone/>
            </a:pPr>
            <a:r>
              <a:rPr lang="en-US" sz="1800" b="1" dirty="0">
                <a:solidFill>
                  <a:srgbClr val="FFFFFF"/>
                </a:solidFill>
              </a:rPr>
              <a:t>4</a:t>
            </a:r>
            <a:endParaRPr lang="en-US" sz="1800" dirty="0"/>
          </a:p>
        </p:txBody>
      </p:sp>
      <p:sp>
        <p:nvSpPr>
          <p:cNvPr id="26" name="Text 24"/>
          <p:cNvSpPr/>
          <p:nvPr/>
        </p:nvSpPr>
        <p:spPr>
          <a:xfrm>
            <a:off x="5477256" y="2852928"/>
            <a:ext cx="1572768" cy="384048"/>
          </a:xfrm>
          <a:prstGeom prst="rect">
            <a:avLst/>
          </a:prstGeom>
          <a:noFill/>
        </p:spPr>
        <p:txBody>
          <a:bodyPr wrap="square" lIns="0" tIns="0" rIns="0" bIns="0" rtlCol="0" anchor="ctr"/>
          <a:lstStyle/>
          <a:p>
            <a:pPr marL="0" indent="0" algn="ctr">
              <a:buNone/>
            </a:pPr>
            <a:r>
              <a:rPr lang="en-US" sz="1300" b="1" dirty="0">
                <a:solidFill>
                  <a:srgbClr val="D97706"/>
                </a:solidFill>
                <a:latin typeface="Calibri" panose="020F0502020204030204" pitchFamily="34" charset="0"/>
                <a:ea typeface="Calibri" panose="020F0502020204030204" pitchFamily="34" charset="-122"/>
                <a:cs typeface="Calibri" panose="020F0502020204030204" pitchFamily="34" charset="-120"/>
              </a:rPr>
              <a:t>Monitor</a:t>
            </a:r>
            <a:endParaRPr lang="en-US" sz="1300" dirty="0"/>
          </a:p>
        </p:txBody>
      </p:sp>
      <p:sp>
        <p:nvSpPr>
          <p:cNvPr id="27" name="Text 25"/>
          <p:cNvSpPr/>
          <p:nvPr/>
        </p:nvSpPr>
        <p:spPr>
          <a:xfrm>
            <a:off x="5568696" y="3291840"/>
            <a:ext cx="1417320" cy="1444752"/>
          </a:xfrm>
          <a:prstGeom prst="rect">
            <a:avLst/>
          </a:prstGeom>
          <a:noFill/>
        </p:spPr>
        <p:txBody>
          <a:bodyPr wrap="square" rtlCol="0" anchor="ctr"/>
          <a:lstStyle/>
          <a:p>
            <a:pPr marL="0" indent="0" algn="ctr">
              <a:buNone/>
            </a:pPr>
            <a:r>
              <a:rPr lang="en-US" sz="1050" dirty="0">
                <a:solidFill>
                  <a:srgbClr val="334155"/>
                </a:solidFill>
                <a:latin typeface="Calibri" panose="020F0502020204030204" pitchFamily="34" charset="0"/>
                <a:ea typeface="Calibri" panose="020F0502020204030204" pitchFamily="34" charset="-122"/>
                <a:cs typeface="Calibri" panose="020F0502020204030204" pitchFamily="34" charset="-120"/>
              </a:rPr>
              <a:t>Continuously watch for new threats and control existing ones.</a:t>
            </a:r>
            <a:endParaRPr lang="en-US" sz="1050" dirty="0"/>
          </a:p>
        </p:txBody>
      </p:sp>
      <p:sp>
        <p:nvSpPr>
          <p:cNvPr id="28" name="Shape 26"/>
          <p:cNvSpPr/>
          <p:nvPr/>
        </p:nvSpPr>
        <p:spPr>
          <a:xfrm>
            <a:off x="7196328" y="1993392"/>
            <a:ext cx="1572768" cy="2834640"/>
          </a:xfrm>
          <a:prstGeom prst="rect">
            <a:avLst/>
          </a:prstGeom>
          <a:solidFill>
            <a:srgbClr val="FFFFFF"/>
          </a:solidFill>
          <a:ln w="12700">
            <a:solidFill>
              <a:srgbClr val="7C3AED">
                <a:alpha val="45000"/>
              </a:srgbClr>
            </a:solidFill>
            <a:prstDash val="solid"/>
          </a:ln>
          <a:effectLst>
            <a:outerShdw blurRad="127000" dist="38100" dir="8100000" algn="bl" rotWithShape="0">
              <a:srgbClr val="94A3B8">
                <a:alpha val="18000"/>
              </a:srgbClr>
            </a:outerShdw>
          </a:effectLst>
        </p:spPr>
      </p:sp>
      <p:sp>
        <p:nvSpPr>
          <p:cNvPr id="29" name="Shape 27"/>
          <p:cNvSpPr/>
          <p:nvPr/>
        </p:nvSpPr>
        <p:spPr>
          <a:xfrm>
            <a:off x="7662672" y="2103120"/>
            <a:ext cx="640080" cy="640080"/>
          </a:xfrm>
          <a:prstGeom prst="ellipse">
            <a:avLst/>
          </a:prstGeom>
          <a:solidFill>
            <a:srgbClr val="7C3AED"/>
          </a:solidFill>
          <a:ln w="12700">
            <a:solidFill>
              <a:srgbClr val="7C3AED"/>
            </a:solidFill>
            <a:prstDash val="solid"/>
          </a:ln>
        </p:spPr>
      </p:sp>
      <p:sp>
        <p:nvSpPr>
          <p:cNvPr id="30" name="Text 28"/>
          <p:cNvSpPr/>
          <p:nvPr/>
        </p:nvSpPr>
        <p:spPr>
          <a:xfrm>
            <a:off x="7662672" y="2103120"/>
            <a:ext cx="640080" cy="640080"/>
          </a:xfrm>
          <a:prstGeom prst="rect">
            <a:avLst/>
          </a:prstGeom>
          <a:noFill/>
        </p:spPr>
        <p:txBody>
          <a:bodyPr wrap="square" lIns="0" tIns="0" rIns="0" bIns="0" rtlCol="0" anchor="ctr"/>
          <a:lstStyle/>
          <a:p>
            <a:pPr marL="0" indent="0" algn="ctr">
              <a:buNone/>
            </a:pPr>
            <a:r>
              <a:rPr lang="en-US" sz="1800" b="1" dirty="0">
                <a:solidFill>
                  <a:srgbClr val="FFFFFF"/>
                </a:solidFill>
              </a:rPr>
              <a:t>5</a:t>
            </a:r>
            <a:endParaRPr lang="en-US" sz="1800" dirty="0"/>
          </a:p>
        </p:txBody>
      </p:sp>
      <p:sp>
        <p:nvSpPr>
          <p:cNvPr id="31" name="Text 29"/>
          <p:cNvSpPr/>
          <p:nvPr/>
        </p:nvSpPr>
        <p:spPr>
          <a:xfrm>
            <a:off x="7196328" y="2852928"/>
            <a:ext cx="1572768" cy="384048"/>
          </a:xfrm>
          <a:prstGeom prst="rect">
            <a:avLst/>
          </a:prstGeom>
          <a:noFill/>
        </p:spPr>
        <p:txBody>
          <a:bodyPr wrap="square" lIns="0" tIns="0" rIns="0" bIns="0" rtlCol="0" anchor="ctr"/>
          <a:lstStyle/>
          <a:p>
            <a:pPr marL="0" indent="0" algn="ctr">
              <a:buNone/>
            </a:pPr>
            <a:r>
              <a:rPr lang="en-US" sz="1300" b="1" dirty="0">
                <a:solidFill>
                  <a:srgbClr val="7C3AED"/>
                </a:solidFill>
                <a:latin typeface="Calibri" panose="020F0502020204030204" pitchFamily="34" charset="0"/>
                <a:ea typeface="Calibri" panose="020F0502020204030204" pitchFamily="34" charset="-122"/>
                <a:cs typeface="Calibri" panose="020F0502020204030204" pitchFamily="34" charset="-120"/>
              </a:rPr>
              <a:t>Protect</a:t>
            </a:r>
            <a:endParaRPr lang="en-US" sz="1300" dirty="0"/>
          </a:p>
        </p:txBody>
      </p:sp>
      <p:sp>
        <p:nvSpPr>
          <p:cNvPr id="32" name="Text 30"/>
          <p:cNvSpPr/>
          <p:nvPr/>
        </p:nvSpPr>
        <p:spPr>
          <a:xfrm>
            <a:off x="7287768" y="3291840"/>
            <a:ext cx="1417320" cy="1444752"/>
          </a:xfrm>
          <a:prstGeom prst="rect">
            <a:avLst/>
          </a:prstGeom>
          <a:noFill/>
        </p:spPr>
        <p:txBody>
          <a:bodyPr wrap="square" rtlCol="0" anchor="ctr"/>
          <a:lstStyle/>
          <a:p>
            <a:pPr marL="0" indent="0" algn="ctr">
              <a:buNone/>
            </a:pPr>
            <a:r>
              <a:rPr lang="en-US" sz="1050" dirty="0">
                <a:solidFill>
                  <a:srgbClr val="334155"/>
                </a:solidFill>
                <a:latin typeface="Calibri" panose="020F0502020204030204" pitchFamily="34" charset="0"/>
                <a:ea typeface="Calibri" panose="020F0502020204030204" pitchFamily="34" charset="-122"/>
                <a:cs typeface="Calibri" panose="020F0502020204030204" pitchFamily="34" charset="-120"/>
              </a:rPr>
              <a:t>Ensure people, organizations, and society are shielded from harm.</a:t>
            </a:r>
            <a:endParaRPr lang="en-US" sz="1050" dirty="0"/>
          </a:p>
        </p:txBody>
      </p:sp>
    </p:spTree>
  </p:cSld>
  <p:clrMapOvr>
    <a:masterClrMapping/>
  </p:clrMapOvr>
  <mc:AlternateContent xmlns:mc="http://schemas.openxmlformats.org/markup-compatibility/2006">
    <mc:Choice xmlns:p14="http://schemas.microsoft.com/office/powerpoint/2010/main" Requires="p14">
      <p:transition spd="slow" p14:dur="3000">
        <p:randomBar dir="vert"/>
      </p:transition>
    </mc:Choice>
    <mc:Fallback>
      <p:transition spd="slow">
        <p:randomBar dir="ver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0F7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DC2626">
              <a:alpha val="14000"/>
            </a:srgbClr>
          </a:solidFill>
          <a:ln w="12700">
            <a:solidFill>
              <a:srgbClr val="DC2626">
                <a:alpha val="14000"/>
              </a:srgbClr>
            </a:solidFill>
            <a:prstDash val="solid"/>
          </a:ln>
        </p:spPr>
      </p:sp>
      <p:sp>
        <p:nvSpPr>
          <p:cNvPr id="3" name="Shape 1"/>
          <p:cNvSpPr/>
          <p:nvPr/>
        </p:nvSpPr>
        <p:spPr>
          <a:xfrm>
            <a:off x="274320" y="182880"/>
            <a:ext cx="658368" cy="658368"/>
          </a:xfrm>
          <a:prstGeom prst="ellipse">
            <a:avLst/>
          </a:prstGeom>
          <a:solidFill>
            <a:srgbClr val="DC2626">
              <a:alpha val="45000"/>
            </a:srgbClr>
          </a:solidFill>
          <a:ln w="12700">
            <a:solidFill>
              <a:srgbClr val="DC2626">
                <a:alpha val="45000"/>
              </a:srgbClr>
            </a:solidFill>
            <a:prstDash val="solid"/>
          </a:ln>
        </p:spPr>
      </p:sp>
      <p:sp>
        <p:nvSpPr>
          <p:cNvPr id="4" name="Text 2"/>
          <p:cNvSpPr/>
          <p:nvPr/>
        </p:nvSpPr>
        <p:spPr>
          <a:xfrm>
            <a:off x="274320" y="182880"/>
            <a:ext cx="658368" cy="658368"/>
          </a:xfrm>
          <a:prstGeom prst="rect">
            <a:avLst/>
          </a:prstGeom>
          <a:noFill/>
        </p:spPr>
        <p:txBody>
          <a:bodyPr wrap="square" lIns="0" tIns="0" rIns="0" bIns="0" rtlCol="0" anchor="ctr"/>
          <a:lstStyle/>
          <a:p>
            <a:pPr marL="0" indent="0" algn="ctr">
              <a:buNone/>
            </a:pPr>
            <a:r>
              <a:rPr lang="en-US" sz="1800" b="1" dirty="0">
                <a:solidFill>
                  <a:srgbClr val="DC2626"/>
                </a:solidFill>
              </a:rPr>
              <a:t>04</a:t>
            </a:r>
            <a:endParaRPr lang="en-US" sz="1800" dirty="0"/>
          </a:p>
        </p:txBody>
      </p:sp>
      <p:sp>
        <p:nvSpPr>
          <p:cNvPr id="5" name="Text 3"/>
          <p:cNvSpPr/>
          <p:nvPr/>
        </p:nvSpPr>
        <p:spPr>
          <a:xfrm>
            <a:off x="1078992" y="73152"/>
            <a:ext cx="7863840" cy="914400"/>
          </a:xfrm>
          <a:prstGeom prst="rect">
            <a:avLst/>
          </a:prstGeom>
          <a:noFill/>
        </p:spPr>
        <p:txBody>
          <a:bodyPr wrap="square" rtlCol="0" anchor="ctr"/>
          <a:lstStyle/>
          <a:p>
            <a:pPr marL="0" indent="0">
              <a:buNone/>
            </a:pPr>
            <a:r>
              <a:rPr lang="en-US" sz="3000" b="1" dirty="0">
                <a:solidFill>
                  <a:srgbClr val="1E3A5F"/>
                </a:solidFill>
                <a:latin typeface="Calibri" panose="020F0502020204030204" pitchFamily="34" charset="0"/>
                <a:ea typeface="Calibri" panose="020F0502020204030204" pitchFamily="34" charset="-122"/>
                <a:cs typeface="Calibri" panose="020F0502020204030204" pitchFamily="34" charset="-120"/>
              </a:rPr>
              <a:t>Types of Risk</a:t>
            </a:r>
            <a:endParaRPr lang="en-US" sz="3000" dirty="0"/>
          </a:p>
        </p:txBody>
      </p:sp>
      <p:sp>
        <p:nvSpPr>
          <p:cNvPr id="6" name="Shape 4"/>
          <p:cNvSpPr/>
          <p:nvPr/>
        </p:nvSpPr>
        <p:spPr>
          <a:xfrm>
            <a:off x="320040" y="1188720"/>
            <a:ext cx="4114800" cy="3566160"/>
          </a:xfrm>
          <a:prstGeom prst="rect">
            <a:avLst/>
          </a:prstGeom>
          <a:solidFill>
            <a:srgbClr val="FFFFFF"/>
          </a:solidFill>
          <a:ln w="12700">
            <a:solidFill>
              <a:srgbClr val="DC2626">
                <a:alpha val="50000"/>
              </a:srgbClr>
            </a:solidFill>
            <a:prstDash val="solid"/>
          </a:ln>
          <a:effectLst>
            <a:outerShdw blurRad="127000" dist="38100" dir="8100000" algn="bl" rotWithShape="0">
              <a:srgbClr val="94A3B8">
                <a:alpha val="18000"/>
              </a:srgbClr>
            </a:outerShdw>
          </a:effectLst>
        </p:spPr>
      </p:sp>
      <p:sp>
        <p:nvSpPr>
          <p:cNvPr id="7" name="Shape 5"/>
          <p:cNvSpPr/>
          <p:nvPr/>
        </p:nvSpPr>
        <p:spPr>
          <a:xfrm>
            <a:off x="320040" y="1188720"/>
            <a:ext cx="4114800" cy="502920"/>
          </a:xfrm>
          <a:prstGeom prst="rect">
            <a:avLst/>
          </a:prstGeom>
          <a:solidFill>
            <a:srgbClr val="DC2626">
              <a:alpha val="18000"/>
            </a:srgbClr>
          </a:solidFill>
          <a:ln w="12700">
            <a:solidFill>
              <a:srgbClr val="DC2626">
                <a:alpha val="18000"/>
              </a:srgbClr>
            </a:solidFill>
            <a:prstDash val="solid"/>
          </a:ln>
        </p:spPr>
      </p:sp>
      <p:sp>
        <p:nvSpPr>
          <p:cNvPr id="8" name="Text 6"/>
          <p:cNvSpPr/>
          <p:nvPr/>
        </p:nvSpPr>
        <p:spPr>
          <a:xfrm>
            <a:off x="457200" y="1216152"/>
            <a:ext cx="3840480" cy="457200"/>
          </a:xfrm>
          <a:prstGeom prst="rect">
            <a:avLst/>
          </a:prstGeom>
          <a:noFill/>
        </p:spPr>
        <p:txBody>
          <a:bodyPr wrap="square" lIns="0" tIns="0" rIns="0" bIns="0" rtlCol="0" anchor="ctr"/>
          <a:lstStyle/>
          <a:p>
            <a:pPr marL="0" indent="0">
              <a:buNone/>
            </a:pPr>
            <a:r>
              <a:rPr lang="en-US" sz="1500" b="1" dirty="0">
                <a:solidFill>
                  <a:srgbClr val="DC2626"/>
                </a:solidFill>
              </a:rPr>
              <a:t>💉  Prompt Injection</a:t>
            </a:r>
            <a:endParaRPr lang="en-US" sz="1500" dirty="0"/>
          </a:p>
        </p:txBody>
      </p:sp>
      <p:sp>
        <p:nvSpPr>
          <p:cNvPr id="9" name="Text 7"/>
          <p:cNvSpPr/>
          <p:nvPr/>
        </p:nvSpPr>
        <p:spPr>
          <a:xfrm>
            <a:off x="502920" y="1828800"/>
            <a:ext cx="3794760" cy="2743200"/>
          </a:xfrm>
          <a:prstGeom prst="rect">
            <a:avLst/>
          </a:prstGeom>
          <a:noFill/>
        </p:spPr>
        <p:txBody>
          <a:bodyPr wrap="square" rtlCol="0" anchor="ctr"/>
          <a:lstStyle/>
          <a:p>
            <a:pPr marL="0" indent="0">
              <a:buNone/>
            </a:pP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Malicious user input tricks an AI into ignoring its system instructions and executing the attacker's hidden commands instead.</a:t>
            </a:r>
            <a:endParaRPr lang="en-US" sz="1200" dirty="0"/>
          </a:p>
          <a:p>
            <a:pPr marL="0" indent="0">
              <a:buNone/>
            </a:pPr>
            <a:endParaRPr lang="en-US" sz="1200" dirty="0"/>
          </a:p>
          <a:p>
            <a:pPr marL="0" indent="0">
              <a:buNone/>
            </a:pP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Example: A user crafts input that overrides the AI's safety rules and extracts confidential data.</a:t>
            </a:r>
            <a:endParaRPr lang="en-US" sz="1200" dirty="0"/>
          </a:p>
        </p:txBody>
      </p:sp>
      <p:sp>
        <p:nvSpPr>
          <p:cNvPr id="10" name="Shape 8"/>
          <p:cNvSpPr/>
          <p:nvPr/>
        </p:nvSpPr>
        <p:spPr>
          <a:xfrm>
            <a:off x="4754880" y="1188720"/>
            <a:ext cx="4114800" cy="3566160"/>
          </a:xfrm>
          <a:prstGeom prst="rect">
            <a:avLst/>
          </a:prstGeom>
          <a:solidFill>
            <a:srgbClr val="FFFFFF"/>
          </a:solidFill>
          <a:ln w="12700">
            <a:solidFill>
              <a:srgbClr val="D97706">
                <a:alpha val="50000"/>
              </a:srgbClr>
            </a:solidFill>
            <a:prstDash val="solid"/>
          </a:ln>
          <a:effectLst>
            <a:outerShdw blurRad="127000" dist="38100" dir="8100000" algn="bl" rotWithShape="0">
              <a:srgbClr val="94A3B8">
                <a:alpha val="18000"/>
              </a:srgbClr>
            </a:outerShdw>
          </a:effectLst>
        </p:spPr>
      </p:sp>
      <p:sp>
        <p:nvSpPr>
          <p:cNvPr id="11" name="Shape 9"/>
          <p:cNvSpPr/>
          <p:nvPr/>
        </p:nvSpPr>
        <p:spPr>
          <a:xfrm>
            <a:off x="4754880" y="1188720"/>
            <a:ext cx="4114800" cy="502920"/>
          </a:xfrm>
          <a:prstGeom prst="rect">
            <a:avLst/>
          </a:prstGeom>
          <a:solidFill>
            <a:srgbClr val="D97706">
              <a:alpha val="18000"/>
            </a:srgbClr>
          </a:solidFill>
          <a:ln w="12700">
            <a:solidFill>
              <a:srgbClr val="D97706">
                <a:alpha val="18000"/>
              </a:srgbClr>
            </a:solidFill>
            <a:prstDash val="solid"/>
          </a:ln>
        </p:spPr>
      </p:sp>
      <p:sp>
        <p:nvSpPr>
          <p:cNvPr id="12" name="Text 10"/>
          <p:cNvSpPr/>
          <p:nvPr/>
        </p:nvSpPr>
        <p:spPr>
          <a:xfrm>
            <a:off x="4892040" y="1216152"/>
            <a:ext cx="3840480" cy="457200"/>
          </a:xfrm>
          <a:prstGeom prst="rect">
            <a:avLst/>
          </a:prstGeom>
          <a:noFill/>
        </p:spPr>
        <p:txBody>
          <a:bodyPr wrap="square" lIns="0" tIns="0" rIns="0" bIns="0" rtlCol="0" anchor="ctr"/>
          <a:lstStyle/>
          <a:p>
            <a:pPr marL="0" indent="0">
              <a:buNone/>
            </a:pPr>
            <a:r>
              <a:rPr lang="en-US" sz="1500" b="1" dirty="0">
                <a:solidFill>
                  <a:srgbClr val="D97706"/>
                </a:solidFill>
              </a:rPr>
              <a:t>🚫  Denial of Service (DoS)</a:t>
            </a:r>
            <a:endParaRPr lang="en-US" sz="1500" dirty="0"/>
          </a:p>
        </p:txBody>
      </p:sp>
      <p:sp>
        <p:nvSpPr>
          <p:cNvPr id="13" name="Text 11"/>
          <p:cNvSpPr/>
          <p:nvPr/>
        </p:nvSpPr>
        <p:spPr>
          <a:xfrm>
            <a:off x="4937760" y="1828800"/>
            <a:ext cx="3794760" cy="2743200"/>
          </a:xfrm>
          <a:prstGeom prst="rect">
            <a:avLst/>
          </a:prstGeom>
          <a:noFill/>
        </p:spPr>
        <p:txBody>
          <a:bodyPr wrap="square" rtlCol="0" anchor="ctr"/>
          <a:lstStyle/>
          <a:p>
            <a:pPr marL="0" indent="0">
              <a:buNone/>
            </a:pP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A cyber attack that floods a system, server, or network with excessive traffic or requests to make it unavailable to legitimate users.</a:t>
            </a:r>
            <a:endParaRPr lang="en-US" sz="1200" dirty="0"/>
          </a:p>
          <a:p>
            <a:pPr marL="0" indent="0">
              <a:buNone/>
            </a:pPr>
            <a:endParaRPr lang="en-US" sz="1200" dirty="0"/>
          </a:p>
          <a:p>
            <a:pPr marL="0" indent="0">
              <a:buNone/>
            </a:pP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Impact: AI systems become unresponsive, causing operational failure and financial loss.</a:t>
            </a:r>
            <a:endParaRPr lang="en-US" sz="1200" dirty="0"/>
          </a:p>
        </p:txBody>
      </p:sp>
    </p:spTree>
  </p:cSld>
  <p:clrMapOvr>
    <a:masterClrMapping/>
  </p:clrMapOvr>
  <mc:AlternateContent xmlns:mc="http://schemas.openxmlformats.org/markup-compatibility/2006">
    <mc:Choice xmlns:p14="http://schemas.microsoft.com/office/powerpoint/2010/main" Requires="p14">
      <p:transition spd="slow" p14:dur="1750">
        <p:dissolve/>
      </p:transition>
    </mc:Choice>
    <mc:Fallback>
      <p:transition spd="slow">
        <p:dissolv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0F7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DC2626">
              <a:alpha val="14000"/>
            </a:srgbClr>
          </a:solidFill>
          <a:ln w="12700">
            <a:solidFill>
              <a:srgbClr val="DC2626">
                <a:alpha val="14000"/>
              </a:srgbClr>
            </a:solidFill>
            <a:prstDash val="solid"/>
          </a:ln>
        </p:spPr>
      </p:sp>
      <p:sp>
        <p:nvSpPr>
          <p:cNvPr id="3" name="Shape 1"/>
          <p:cNvSpPr/>
          <p:nvPr/>
        </p:nvSpPr>
        <p:spPr>
          <a:xfrm>
            <a:off x="274320" y="182880"/>
            <a:ext cx="658368" cy="658368"/>
          </a:xfrm>
          <a:prstGeom prst="ellipse">
            <a:avLst/>
          </a:prstGeom>
          <a:solidFill>
            <a:srgbClr val="DC2626">
              <a:alpha val="45000"/>
            </a:srgbClr>
          </a:solidFill>
          <a:ln w="12700">
            <a:solidFill>
              <a:srgbClr val="DC2626">
                <a:alpha val="45000"/>
              </a:srgbClr>
            </a:solidFill>
            <a:prstDash val="solid"/>
          </a:ln>
        </p:spPr>
      </p:sp>
      <p:sp>
        <p:nvSpPr>
          <p:cNvPr id="4" name="Text 2"/>
          <p:cNvSpPr/>
          <p:nvPr/>
        </p:nvSpPr>
        <p:spPr>
          <a:xfrm>
            <a:off x="274320" y="182880"/>
            <a:ext cx="658368" cy="658368"/>
          </a:xfrm>
          <a:prstGeom prst="rect">
            <a:avLst/>
          </a:prstGeom>
          <a:noFill/>
        </p:spPr>
        <p:txBody>
          <a:bodyPr wrap="square" lIns="0" tIns="0" rIns="0" bIns="0" rtlCol="0" anchor="ctr"/>
          <a:lstStyle/>
          <a:p>
            <a:pPr marL="0" indent="0" algn="ctr">
              <a:buNone/>
            </a:pPr>
            <a:r>
              <a:rPr lang="en-US" sz="1800" b="1" dirty="0">
                <a:solidFill>
                  <a:srgbClr val="DC2626"/>
                </a:solidFill>
              </a:rPr>
              <a:t>04</a:t>
            </a:r>
            <a:endParaRPr lang="en-US" sz="1800" dirty="0"/>
          </a:p>
        </p:txBody>
      </p:sp>
      <p:sp>
        <p:nvSpPr>
          <p:cNvPr id="5" name="Text 3"/>
          <p:cNvSpPr/>
          <p:nvPr/>
        </p:nvSpPr>
        <p:spPr>
          <a:xfrm>
            <a:off x="1078992" y="73152"/>
            <a:ext cx="7863840" cy="914400"/>
          </a:xfrm>
          <a:prstGeom prst="rect">
            <a:avLst/>
          </a:prstGeom>
          <a:noFill/>
        </p:spPr>
        <p:txBody>
          <a:bodyPr wrap="square" rtlCol="0" anchor="ctr"/>
          <a:lstStyle/>
          <a:p>
            <a:pPr marL="0" indent="0">
              <a:buNone/>
            </a:pPr>
            <a:r>
              <a:rPr lang="en-US" sz="3000" b="1" dirty="0">
                <a:solidFill>
                  <a:srgbClr val="1E3A5F"/>
                </a:solidFill>
                <a:latin typeface="Calibri" panose="020F0502020204030204" pitchFamily="34" charset="0"/>
                <a:ea typeface="Calibri" panose="020F0502020204030204" pitchFamily="34" charset="-122"/>
                <a:cs typeface="Calibri" panose="020F0502020204030204" pitchFamily="34" charset="-120"/>
              </a:rPr>
              <a:t>Types of Risk (Continued)</a:t>
            </a:r>
            <a:endParaRPr lang="en-US" sz="3000" dirty="0"/>
          </a:p>
        </p:txBody>
      </p:sp>
      <p:sp>
        <p:nvSpPr>
          <p:cNvPr id="6" name="Shape 4"/>
          <p:cNvSpPr/>
          <p:nvPr/>
        </p:nvSpPr>
        <p:spPr>
          <a:xfrm>
            <a:off x="320040" y="1188720"/>
            <a:ext cx="4114800" cy="3566160"/>
          </a:xfrm>
          <a:prstGeom prst="rect">
            <a:avLst/>
          </a:prstGeom>
          <a:solidFill>
            <a:srgbClr val="FFFFFF"/>
          </a:solidFill>
          <a:ln w="12700">
            <a:solidFill>
              <a:srgbClr val="7C3AED">
                <a:alpha val="50000"/>
              </a:srgbClr>
            </a:solidFill>
            <a:prstDash val="solid"/>
          </a:ln>
          <a:effectLst>
            <a:outerShdw blurRad="127000" dist="38100" dir="8100000" algn="bl" rotWithShape="0">
              <a:srgbClr val="94A3B8">
                <a:alpha val="18000"/>
              </a:srgbClr>
            </a:outerShdw>
          </a:effectLst>
        </p:spPr>
      </p:sp>
      <p:sp>
        <p:nvSpPr>
          <p:cNvPr id="7" name="Shape 5"/>
          <p:cNvSpPr/>
          <p:nvPr/>
        </p:nvSpPr>
        <p:spPr>
          <a:xfrm>
            <a:off x="320040" y="1188720"/>
            <a:ext cx="4114800" cy="502920"/>
          </a:xfrm>
          <a:prstGeom prst="rect">
            <a:avLst/>
          </a:prstGeom>
          <a:solidFill>
            <a:srgbClr val="7C3AED">
              <a:alpha val="18000"/>
            </a:srgbClr>
          </a:solidFill>
          <a:ln w="12700">
            <a:solidFill>
              <a:srgbClr val="7C3AED">
                <a:alpha val="18000"/>
              </a:srgbClr>
            </a:solidFill>
            <a:prstDash val="solid"/>
          </a:ln>
        </p:spPr>
      </p:sp>
      <p:sp>
        <p:nvSpPr>
          <p:cNvPr id="8" name="Text 6"/>
          <p:cNvSpPr/>
          <p:nvPr/>
        </p:nvSpPr>
        <p:spPr>
          <a:xfrm>
            <a:off x="457200" y="1216152"/>
            <a:ext cx="3840480" cy="457200"/>
          </a:xfrm>
          <a:prstGeom prst="rect">
            <a:avLst/>
          </a:prstGeom>
          <a:noFill/>
        </p:spPr>
        <p:txBody>
          <a:bodyPr wrap="square" lIns="0" tIns="0" rIns="0" bIns="0" rtlCol="0" anchor="ctr"/>
          <a:lstStyle/>
          <a:p>
            <a:pPr marL="0" indent="0">
              <a:buNone/>
            </a:pPr>
            <a:r>
              <a:rPr lang="en-US" sz="1500" b="1" dirty="0">
                <a:solidFill>
                  <a:srgbClr val="7C3AED"/>
                </a:solidFill>
              </a:rPr>
              <a:t>🔑  Session Hijacking</a:t>
            </a:r>
            <a:endParaRPr lang="en-US" sz="1500" dirty="0"/>
          </a:p>
        </p:txBody>
      </p:sp>
      <p:sp>
        <p:nvSpPr>
          <p:cNvPr id="9" name="Text 7"/>
          <p:cNvSpPr/>
          <p:nvPr/>
        </p:nvSpPr>
        <p:spPr>
          <a:xfrm>
            <a:off x="502920" y="1828800"/>
            <a:ext cx="3794760" cy="2743200"/>
          </a:xfrm>
          <a:prstGeom prst="rect">
            <a:avLst/>
          </a:prstGeom>
          <a:noFill/>
        </p:spPr>
        <p:txBody>
          <a:bodyPr wrap="square" rtlCol="0" anchor="ctr"/>
          <a:lstStyle/>
          <a:p>
            <a:pPr marL="0" indent="0">
              <a:buNone/>
            </a:pP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An attack where an adversary steals or predicts a user's active session token to impersonate them and gain unauthorized access.</a:t>
            </a:r>
            <a:endParaRPr lang="en-US" sz="1200" dirty="0"/>
          </a:p>
          <a:p>
            <a:pPr marL="0" indent="0">
              <a:buNone/>
            </a:pPr>
            <a:endParaRPr lang="en-US" sz="1200" dirty="0"/>
          </a:p>
          <a:p>
            <a:pPr marL="0" indent="0">
              <a:buNone/>
            </a:pP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Result: Unauthorized access to sensitive user accounts and private data within AI platforms.</a:t>
            </a:r>
            <a:endParaRPr lang="en-US" sz="1200" dirty="0"/>
          </a:p>
        </p:txBody>
      </p:sp>
      <p:sp>
        <p:nvSpPr>
          <p:cNvPr id="10" name="Shape 8"/>
          <p:cNvSpPr/>
          <p:nvPr/>
        </p:nvSpPr>
        <p:spPr>
          <a:xfrm>
            <a:off x="4754880" y="1188720"/>
            <a:ext cx="4114800" cy="3566160"/>
          </a:xfrm>
          <a:prstGeom prst="rect">
            <a:avLst/>
          </a:prstGeom>
          <a:solidFill>
            <a:srgbClr val="FFFFFF"/>
          </a:solidFill>
          <a:ln w="12700">
            <a:solidFill>
              <a:srgbClr val="0891B2">
                <a:alpha val="50000"/>
              </a:srgbClr>
            </a:solidFill>
            <a:prstDash val="solid"/>
          </a:ln>
          <a:effectLst>
            <a:outerShdw blurRad="127000" dist="38100" dir="8100000" algn="bl" rotWithShape="0">
              <a:srgbClr val="94A3B8">
                <a:alpha val="18000"/>
              </a:srgbClr>
            </a:outerShdw>
          </a:effectLst>
        </p:spPr>
      </p:sp>
      <p:sp>
        <p:nvSpPr>
          <p:cNvPr id="11" name="Shape 9"/>
          <p:cNvSpPr/>
          <p:nvPr/>
        </p:nvSpPr>
        <p:spPr>
          <a:xfrm>
            <a:off x="4754880" y="1188720"/>
            <a:ext cx="4114800" cy="502920"/>
          </a:xfrm>
          <a:prstGeom prst="rect">
            <a:avLst/>
          </a:prstGeom>
          <a:solidFill>
            <a:srgbClr val="0891B2">
              <a:alpha val="18000"/>
            </a:srgbClr>
          </a:solidFill>
          <a:ln w="12700">
            <a:solidFill>
              <a:srgbClr val="0891B2">
                <a:alpha val="18000"/>
              </a:srgbClr>
            </a:solidFill>
            <a:prstDash val="solid"/>
          </a:ln>
        </p:spPr>
      </p:sp>
      <p:sp>
        <p:nvSpPr>
          <p:cNvPr id="12" name="Text 10"/>
          <p:cNvSpPr/>
          <p:nvPr/>
        </p:nvSpPr>
        <p:spPr>
          <a:xfrm>
            <a:off x="4892040" y="1216152"/>
            <a:ext cx="3840480" cy="457200"/>
          </a:xfrm>
          <a:prstGeom prst="rect">
            <a:avLst/>
          </a:prstGeom>
          <a:noFill/>
        </p:spPr>
        <p:txBody>
          <a:bodyPr wrap="square" lIns="0" tIns="0" rIns="0" bIns="0" rtlCol="0" anchor="ctr"/>
          <a:lstStyle/>
          <a:p>
            <a:pPr marL="0" indent="0">
              <a:buNone/>
            </a:pPr>
            <a:r>
              <a:rPr lang="en-US" sz="1500" b="1" dirty="0">
                <a:solidFill>
                  <a:srgbClr val="0891B2"/>
                </a:solidFill>
              </a:rPr>
              <a:t>☠  Data Poisoning</a:t>
            </a:r>
            <a:endParaRPr lang="en-US" sz="1500" dirty="0"/>
          </a:p>
        </p:txBody>
      </p:sp>
      <p:sp>
        <p:nvSpPr>
          <p:cNvPr id="13" name="Text 11"/>
          <p:cNvSpPr/>
          <p:nvPr/>
        </p:nvSpPr>
        <p:spPr>
          <a:xfrm>
            <a:off x="4937760" y="1828800"/>
            <a:ext cx="3794760" cy="2743200"/>
          </a:xfrm>
          <a:prstGeom prst="rect">
            <a:avLst/>
          </a:prstGeom>
          <a:noFill/>
        </p:spPr>
        <p:txBody>
          <a:bodyPr wrap="square" rtlCol="0" anchor="ctr"/>
          <a:lstStyle/>
          <a:p>
            <a:pPr marL="0" indent="0">
              <a:buNone/>
            </a:pP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Deliberately injecting malicious or misleading data into training datasets to corrupt, bias, or backdoor a machine learning model.</a:t>
            </a:r>
            <a:endParaRPr lang="en-US" sz="1200" dirty="0"/>
          </a:p>
          <a:p>
            <a:pPr marL="0" indent="0">
              <a:buNone/>
            </a:pPr>
            <a:endParaRPr lang="en-US" sz="1200" dirty="0"/>
          </a:p>
          <a:p>
            <a:pPr marL="0" indent="0">
              <a:buNone/>
            </a:pP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Result: AI makes systematically wrong or harmful decisions undetected.</a:t>
            </a:r>
            <a:endParaRPr lang="en-US" sz="1200" dirty="0"/>
          </a:p>
        </p:txBody>
      </p:sp>
    </p:spTree>
  </p:cSld>
  <p:clrMapOvr>
    <a:masterClrMapping/>
  </p:clrMapOvr>
  <mc:AlternateContent xmlns:mc="http://schemas.openxmlformats.org/markup-compatibility/2006">
    <mc:Choice xmlns:p14="http://schemas.microsoft.com/office/powerpoint/2010/main" Requires="p14">
      <p:transition spd="slow" p14:dur="1750">
        <p:dissolve/>
      </p:transition>
    </mc:Choice>
    <mc:Fallback>
      <p:transition spd="slow">
        <p:dissolv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0F7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D97706">
              <a:alpha val="14000"/>
            </a:srgbClr>
          </a:solidFill>
          <a:ln w="12700">
            <a:solidFill>
              <a:srgbClr val="D97706">
                <a:alpha val="14000"/>
              </a:srgbClr>
            </a:solidFill>
            <a:prstDash val="solid"/>
          </a:ln>
        </p:spPr>
      </p:sp>
      <p:sp>
        <p:nvSpPr>
          <p:cNvPr id="3" name="Shape 1"/>
          <p:cNvSpPr/>
          <p:nvPr/>
        </p:nvSpPr>
        <p:spPr>
          <a:xfrm>
            <a:off x="274320" y="182880"/>
            <a:ext cx="658368" cy="658368"/>
          </a:xfrm>
          <a:prstGeom prst="ellipse">
            <a:avLst/>
          </a:prstGeom>
          <a:solidFill>
            <a:srgbClr val="D97706">
              <a:alpha val="45000"/>
            </a:srgbClr>
          </a:solidFill>
          <a:ln w="12700">
            <a:solidFill>
              <a:srgbClr val="D97706">
                <a:alpha val="45000"/>
              </a:srgbClr>
            </a:solidFill>
            <a:prstDash val="solid"/>
          </a:ln>
        </p:spPr>
      </p:sp>
      <p:sp>
        <p:nvSpPr>
          <p:cNvPr id="4" name="Text 2"/>
          <p:cNvSpPr/>
          <p:nvPr/>
        </p:nvSpPr>
        <p:spPr>
          <a:xfrm>
            <a:off x="274320" y="182880"/>
            <a:ext cx="658368" cy="658368"/>
          </a:xfrm>
          <a:prstGeom prst="rect">
            <a:avLst/>
          </a:prstGeom>
          <a:noFill/>
        </p:spPr>
        <p:txBody>
          <a:bodyPr wrap="square" lIns="0" tIns="0" rIns="0" bIns="0" rtlCol="0" anchor="ctr"/>
          <a:lstStyle/>
          <a:p>
            <a:pPr marL="0" indent="0" algn="ctr">
              <a:buNone/>
            </a:pPr>
            <a:r>
              <a:rPr lang="en-US" sz="1800" b="1" dirty="0">
                <a:solidFill>
                  <a:srgbClr val="D97706"/>
                </a:solidFill>
              </a:rPr>
              <a:t>05</a:t>
            </a:r>
            <a:endParaRPr lang="en-US" sz="1800" dirty="0"/>
          </a:p>
        </p:txBody>
      </p:sp>
      <p:sp>
        <p:nvSpPr>
          <p:cNvPr id="5" name="Text 3"/>
          <p:cNvSpPr/>
          <p:nvPr/>
        </p:nvSpPr>
        <p:spPr>
          <a:xfrm>
            <a:off x="1078992" y="73152"/>
            <a:ext cx="7863840" cy="914400"/>
          </a:xfrm>
          <a:prstGeom prst="rect">
            <a:avLst/>
          </a:prstGeom>
          <a:noFill/>
        </p:spPr>
        <p:txBody>
          <a:bodyPr wrap="square" rtlCol="0" anchor="ctr"/>
          <a:lstStyle/>
          <a:p>
            <a:pPr marL="0" indent="0">
              <a:buNone/>
            </a:pPr>
            <a:r>
              <a:rPr lang="en-US" sz="3000" b="1" dirty="0">
                <a:solidFill>
                  <a:srgbClr val="1E3A5F"/>
                </a:solidFill>
                <a:latin typeface="Calibri" panose="020F0502020204030204" pitchFamily="34" charset="0"/>
                <a:ea typeface="Calibri" panose="020F0502020204030204" pitchFamily="34" charset="-122"/>
                <a:cs typeface="Calibri" panose="020F0502020204030204" pitchFamily="34" charset="-120"/>
              </a:rPr>
              <a:t>Potential Risks</a:t>
            </a:r>
            <a:endParaRPr lang="en-US" sz="3000" dirty="0"/>
          </a:p>
        </p:txBody>
      </p:sp>
      <p:sp>
        <p:nvSpPr>
          <p:cNvPr id="6" name="Shape 4"/>
          <p:cNvSpPr/>
          <p:nvPr/>
        </p:nvSpPr>
        <p:spPr>
          <a:xfrm>
            <a:off x="320040" y="1170432"/>
            <a:ext cx="8503920" cy="1691640"/>
          </a:xfrm>
          <a:prstGeom prst="rect">
            <a:avLst/>
          </a:prstGeom>
          <a:solidFill>
            <a:srgbClr val="FFFFFF"/>
          </a:solidFill>
          <a:ln w="12700">
            <a:solidFill>
              <a:srgbClr val="DC2626">
                <a:alpha val="45000"/>
              </a:srgbClr>
            </a:solidFill>
            <a:prstDash val="solid"/>
          </a:ln>
          <a:effectLst>
            <a:outerShdw blurRad="127000" dist="38100" dir="8100000" algn="bl" rotWithShape="0">
              <a:srgbClr val="94A3B8">
                <a:alpha val="18000"/>
              </a:srgbClr>
            </a:outerShdw>
          </a:effectLst>
        </p:spPr>
      </p:sp>
      <p:sp>
        <p:nvSpPr>
          <p:cNvPr id="7" name="Shape 5"/>
          <p:cNvSpPr/>
          <p:nvPr/>
        </p:nvSpPr>
        <p:spPr>
          <a:xfrm>
            <a:off x="320040" y="1170432"/>
            <a:ext cx="8503920" cy="475488"/>
          </a:xfrm>
          <a:prstGeom prst="rect">
            <a:avLst/>
          </a:prstGeom>
          <a:solidFill>
            <a:srgbClr val="DC2626">
              <a:alpha val="18000"/>
            </a:srgbClr>
          </a:solidFill>
          <a:ln w="12700">
            <a:solidFill>
              <a:srgbClr val="DC2626">
                <a:alpha val="18000"/>
              </a:srgbClr>
            </a:solidFill>
            <a:prstDash val="solid"/>
          </a:ln>
        </p:spPr>
      </p:sp>
      <p:sp>
        <p:nvSpPr>
          <p:cNvPr id="8" name="Text 6"/>
          <p:cNvSpPr/>
          <p:nvPr/>
        </p:nvSpPr>
        <p:spPr>
          <a:xfrm>
            <a:off x="475488" y="1197864"/>
            <a:ext cx="8229600" cy="438912"/>
          </a:xfrm>
          <a:prstGeom prst="rect">
            <a:avLst/>
          </a:prstGeom>
          <a:noFill/>
        </p:spPr>
        <p:txBody>
          <a:bodyPr wrap="square" lIns="0" tIns="0" rIns="0" bIns="0" rtlCol="0" anchor="ctr"/>
          <a:lstStyle/>
          <a:p>
            <a:pPr marL="0" indent="0">
              <a:buNone/>
            </a:pPr>
            <a:r>
              <a:rPr lang="en-US" sz="1400" b="1" dirty="0">
                <a:solidFill>
                  <a:srgbClr val="DC2626"/>
                </a:solidFill>
              </a:rPr>
              <a:t>⚙  Technical Risks to AI Systems</a:t>
            </a:r>
            <a:endParaRPr lang="en-US" sz="1400" dirty="0"/>
          </a:p>
        </p:txBody>
      </p:sp>
      <p:sp>
        <p:nvSpPr>
          <p:cNvPr id="9" name="Text 7"/>
          <p:cNvSpPr/>
          <p:nvPr/>
        </p:nvSpPr>
        <p:spPr>
          <a:xfrm>
            <a:off x="475488" y="1719072"/>
            <a:ext cx="8229600" cy="1005840"/>
          </a:xfrm>
          <a:prstGeom prst="rect">
            <a:avLst/>
          </a:prstGeom>
          <a:noFill/>
        </p:spPr>
        <p:txBody>
          <a:bodyPr wrap="square" rtlCol="0" anchor="ctr"/>
          <a:lstStyle/>
          <a:p>
            <a:pPr marL="0" indent="0">
              <a:buNone/>
            </a:pPr>
            <a:r>
              <a:rPr lang="en-US" sz="1200" b="1" dirty="0">
                <a:solidFill>
                  <a:srgbClr val="334155"/>
                </a:solidFill>
                <a:latin typeface="Calibri" panose="020F0502020204030204" pitchFamily="34" charset="0"/>
                <a:ea typeface="Calibri" panose="020F0502020204030204" pitchFamily="34" charset="-122"/>
                <a:cs typeface="Calibri" panose="020F0502020204030204" pitchFamily="34" charset="-120"/>
              </a:rPr>
              <a:t>• </a:t>
            </a: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Data poisoning, hijacking, prompt injection, and model extraction can compromise AI systems.
</a:t>
            </a:r>
            <a:endParaRPr lang="en-US" sz="1200" dirty="0"/>
          </a:p>
          <a:p>
            <a:pPr marL="0" indent="0">
              <a:buNone/>
            </a:pPr>
            <a:r>
              <a:rPr lang="en-US" sz="1200" b="1" dirty="0">
                <a:solidFill>
                  <a:srgbClr val="334155"/>
                </a:solidFill>
                <a:latin typeface="Calibri" panose="020F0502020204030204" pitchFamily="34" charset="0"/>
                <a:ea typeface="Calibri" panose="020F0502020204030204" pitchFamily="34" charset="-122"/>
                <a:cs typeface="Calibri" panose="020F0502020204030204" pitchFamily="34" charset="-120"/>
              </a:rPr>
              <a:t>• </a:t>
            </a: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Lack of security monitoring and weak authentication amplifies technical risk exposure.</a:t>
            </a:r>
            <a:endParaRPr lang="en-US" sz="1200" dirty="0"/>
          </a:p>
        </p:txBody>
      </p:sp>
      <p:sp>
        <p:nvSpPr>
          <p:cNvPr id="10" name="Shape 8"/>
          <p:cNvSpPr/>
          <p:nvPr/>
        </p:nvSpPr>
        <p:spPr>
          <a:xfrm>
            <a:off x="320040" y="3017520"/>
            <a:ext cx="8503920" cy="1783080"/>
          </a:xfrm>
          <a:prstGeom prst="rect">
            <a:avLst/>
          </a:prstGeom>
          <a:solidFill>
            <a:srgbClr val="FFFFFF"/>
          </a:solidFill>
          <a:ln w="12700">
            <a:solidFill>
              <a:srgbClr val="D97706">
                <a:alpha val="45000"/>
              </a:srgbClr>
            </a:solidFill>
            <a:prstDash val="solid"/>
          </a:ln>
          <a:effectLst>
            <a:outerShdw blurRad="127000" dist="38100" dir="8100000" algn="bl" rotWithShape="0">
              <a:srgbClr val="94A3B8">
                <a:alpha val="18000"/>
              </a:srgbClr>
            </a:outerShdw>
          </a:effectLst>
        </p:spPr>
      </p:sp>
      <p:sp>
        <p:nvSpPr>
          <p:cNvPr id="11" name="Shape 9"/>
          <p:cNvSpPr/>
          <p:nvPr/>
        </p:nvSpPr>
        <p:spPr>
          <a:xfrm>
            <a:off x="320040" y="3017520"/>
            <a:ext cx="8503920" cy="475488"/>
          </a:xfrm>
          <a:prstGeom prst="rect">
            <a:avLst/>
          </a:prstGeom>
          <a:solidFill>
            <a:srgbClr val="D97706">
              <a:alpha val="18000"/>
            </a:srgbClr>
          </a:solidFill>
          <a:ln w="12700">
            <a:solidFill>
              <a:srgbClr val="D97706">
                <a:alpha val="18000"/>
              </a:srgbClr>
            </a:solidFill>
            <a:prstDash val="solid"/>
          </a:ln>
        </p:spPr>
      </p:sp>
      <p:sp>
        <p:nvSpPr>
          <p:cNvPr id="12" name="Text 10"/>
          <p:cNvSpPr/>
          <p:nvPr/>
        </p:nvSpPr>
        <p:spPr>
          <a:xfrm>
            <a:off x="475488" y="3044952"/>
            <a:ext cx="8229600" cy="438912"/>
          </a:xfrm>
          <a:prstGeom prst="rect">
            <a:avLst/>
          </a:prstGeom>
          <a:noFill/>
        </p:spPr>
        <p:txBody>
          <a:bodyPr wrap="square" lIns="0" tIns="0" rIns="0" bIns="0" rtlCol="0" anchor="ctr"/>
          <a:lstStyle/>
          <a:p>
            <a:pPr marL="0" indent="0">
              <a:buNone/>
            </a:pPr>
            <a:r>
              <a:rPr lang="en-US" sz="1400" b="1" dirty="0">
                <a:solidFill>
                  <a:srgbClr val="D97706"/>
                </a:solidFill>
              </a:rPr>
              <a:t>🔐  Data Privacy &amp; Security Risks</a:t>
            </a:r>
            <a:endParaRPr lang="en-US" sz="1400" dirty="0"/>
          </a:p>
        </p:txBody>
      </p:sp>
      <p:sp>
        <p:nvSpPr>
          <p:cNvPr id="13" name="Text 11"/>
          <p:cNvSpPr/>
          <p:nvPr/>
        </p:nvSpPr>
        <p:spPr>
          <a:xfrm>
            <a:off x="475488" y="3566160"/>
            <a:ext cx="8229600" cy="1097280"/>
          </a:xfrm>
          <a:prstGeom prst="rect">
            <a:avLst/>
          </a:prstGeom>
          <a:noFill/>
        </p:spPr>
        <p:txBody>
          <a:bodyPr wrap="square" rtlCol="0" anchor="ctr"/>
          <a:lstStyle/>
          <a:p>
            <a:pPr marL="0" indent="0">
              <a:buNone/>
            </a:pPr>
            <a:r>
              <a:rPr lang="en-US" sz="1200" b="1" dirty="0">
                <a:solidFill>
                  <a:srgbClr val="334155"/>
                </a:solidFill>
                <a:latin typeface="Calibri" panose="020F0502020204030204" pitchFamily="34" charset="0"/>
                <a:ea typeface="Calibri" panose="020F0502020204030204" pitchFamily="34" charset="-122"/>
                <a:cs typeface="Calibri" panose="020F0502020204030204" pitchFamily="34" charset="-120"/>
              </a:rPr>
              <a:t>• </a:t>
            </a: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AI models can accidentally reveal personal or confidential data through inference attacks.
</a:t>
            </a:r>
            <a:endParaRPr lang="en-US" sz="1200" dirty="0"/>
          </a:p>
          <a:p>
            <a:pPr marL="0" indent="0">
              <a:buNone/>
            </a:pPr>
            <a:r>
              <a:rPr lang="en-US" sz="1200" b="1" dirty="0">
                <a:solidFill>
                  <a:srgbClr val="334155"/>
                </a:solidFill>
                <a:latin typeface="Calibri" panose="020F0502020204030204" pitchFamily="34" charset="0"/>
                <a:ea typeface="Calibri" panose="020F0502020204030204" pitchFamily="34" charset="-122"/>
                <a:cs typeface="Calibri" panose="020F0502020204030204" pitchFamily="34" charset="-120"/>
              </a:rPr>
              <a:t>• </a:t>
            </a: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Mishandling of sensitive data during training or inference can violate regulations and trigger data leaks.</a:t>
            </a:r>
            <a:endParaRPr lang="en-US" sz="1200" dirty="0"/>
          </a:p>
        </p:txBody>
      </p:sp>
    </p:spTree>
  </p:cSld>
  <p:clrMapOvr>
    <a:masterClrMapping/>
  </p:clrMapOvr>
  <mc:AlternateContent xmlns:mc="http://schemas.openxmlformats.org/markup-compatibility/2006">
    <mc:Choice xmlns:p14="http://schemas.microsoft.com/office/powerpoint/2010/main" Requires="p14">
      <p:transition spd="slow" p14:dur="3500">
        <p:checker dir="vert"/>
      </p:transition>
    </mc:Choice>
    <mc:Fallback>
      <p:transition spd="slow">
        <p:checker dir="ver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0F7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1E3A5F">
              <a:alpha val="14000"/>
            </a:srgbClr>
          </a:solidFill>
          <a:ln w="12700">
            <a:solidFill>
              <a:srgbClr val="1E3A5F">
                <a:alpha val="14000"/>
              </a:srgbClr>
            </a:solidFill>
            <a:prstDash val="solid"/>
          </a:ln>
        </p:spPr>
      </p:sp>
      <p:sp>
        <p:nvSpPr>
          <p:cNvPr id="3" name="Shape 1"/>
          <p:cNvSpPr/>
          <p:nvPr/>
        </p:nvSpPr>
        <p:spPr>
          <a:xfrm>
            <a:off x="274320" y="182880"/>
            <a:ext cx="658368" cy="658368"/>
          </a:xfrm>
          <a:prstGeom prst="ellipse">
            <a:avLst/>
          </a:prstGeom>
          <a:solidFill>
            <a:srgbClr val="1E3A5F">
              <a:alpha val="45000"/>
            </a:srgbClr>
          </a:solidFill>
          <a:ln w="12700">
            <a:solidFill>
              <a:srgbClr val="1E3A5F">
                <a:alpha val="45000"/>
              </a:srgbClr>
            </a:solidFill>
            <a:prstDash val="solid"/>
          </a:ln>
        </p:spPr>
      </p:sp>
      <p:sp>
        <p:nvSpPr>
          <p:cNvPr id="4" name="Text 2"/>
          <p:cNvSpPr/>
          <p:nvPr/>
        </p:nvSpPr>
        <p:spPr>
          <a:xfrm>
            <a:off x="274320" y="182880"/>
            <a:ext cx="658368" cy="658368"/>
          </a:xfrm>
          <a:prstGeom prst="rect">
            <a:avLst/>
          </a:prstGeom>
          <a:noFill/>
        </p:spPr>
        <p:txBody>
          <a:bodyPr wrap="square" lIns="0" tIns="0" rIns="0" bIns="0" rtlCol="0" anchor="ctr"/>
          <a:lstStyle/>
          <a:p>
            <a:pPr marL="0" indent="0" algn="ctr">
              <a:buNone/>
            </a:pPr>
            <a:r>
              <a:rPr lang="en-US" sz="1800" b="1" dirty="0">
                <a:solidFill>
                  <a:srgbClr val="1E3A5F"/>
                </a:solidFill>
              </a:rPr>
              <a:t>06</a:t>
            </a:r>
            <a:endParaRPr lang="en-US" sz="1800" dirty="0"/>
          </a:p>
        </p:txBody>
      </p:sp>
      <p:sp>
        <p:nvSpPr>
          <p:cNvPr id="5" name="Text 3"/>
          <p:cNvSpPr/>
          <p:nvPr/>
        </p:nvSpPr>
        <p:spPr>
          <a:xfrm>
            <a:off x="1078992" y="73152"/>
            <a:ext cx="7863840" cy="914400"/>
          </a:xfrm>
          <a:prstGeom prst="rect">
            <a:avLst/>
          </a:prstGeom>
          <a:noFill/>
        </p:spPr>
        <p:txBody>
          <a:bodyPr wrap="square" rtlCol="0" anchor="ctr"/>
          <a:lstStyle/>
          <a:p>
            <a:pPr marL="0" indent="0">
              <a:buNone/>
            </a:pPr>
            <a:r>
              <a:rPr lang="en-US" sz="3000" b="1" dirty="0">
                <a:solidFill>
                  <a:srgbClr val="1E3A5F"/>
                </a:solidFill>
                <a:latin typeface="Calibri" panose="020F0502020204030204" pitchFamily="34" charset="0"/>
                <a:ea typeface="Calibri" panose="020F0502020204030204" pitchFamily="34" charset="-122"/>
                <a:cs typeface="Calibri" panose="020F0502020204030204" pitchFamily="34" charset="-120"/>
              </a:rPr>
              <a:t>Risk Due to Lack of Transparency</a:t>
            </a:r>
            <a:endParaRPr lang="en-US" sz="3000" dirty="0"/>
          </a:p>
        </p:txBody>
      </p:sp>
      <p:sp>
        <p:nvSpPr>
          <p:cNvPr id="6" name="Shape 4"/>
          <p:cNvSpPr/>
          <p:nvPr/>
        </p:nvSpPr>
        <p:spPr>
          <a:xfrm>
            <a:off x="228600" y="1234440"/>
            <a:ext cx="1508760" cy="658368"/>
          </a:xfrm>
          <a:prstGeom prst="rect">
            <a:avLst/>
          </a:prstGeom>
          <a:solidFill>
            <a:srgbClr val="1E3A5F">
              <a:alpha val="18000"/>
            </a:srgbClr>
          </a:solidFill>
          <a:ln w="12700">
            <a:solidFill>
              <a:srgbClr val="1E3A5F">
                <a:alpha val="40000"/>
              </a:srgbClr>
            </a:solidFill>
            <a:prstDash val="solid"/>
          </a:ln>
          <a:effectLst>
            <a:outerShdw blurRad="127000" dist="38100" dir="8100000" algn="bl" rotWithShape="0">
              <a:srgbClr val="94A3B8">
                <a:alpha val="18000"/>
              </a:srgbClr>
            </a:outerShdw>
          </a:effectLst>
        </p:spPr>
      </p:sp>
      <p:sp>
        <p:nvSpPr>
          <p:cNvPr id="7" name="Text 5"/>
          <p:cNvSpPr/>
          <p:nvPr/>
        </p:nvSpPr>
        <p:spPr>
          <a:xfrm>
            <a:off x="228600" y="1261872"/>
            <a:ext cx="1508760" cy="603504"/>
          </a:xfrm>
          <a:prstGeom prst="rect">
            <a:avLst/>
          </a:prstGeom>
          <a:noFill/>
        </p:spPr>
        <p:txBody>
          <a:bodyPr wrap="square" lIns="0" tIns="0" rIns="0" bIns="0" rtlCol="0" anchor="ctr"/>
          <a:lstStyle/>
          <a:p>
            <a:pPr marL="0" indent="0" algn="ctr">
              <a:buNone/>
            </a:pPr>
            <a:r>
              <a:rPr lang="en-US" sz="1000" b="1" dirty="0">
                <a:solidFill>
                  <a:srgbClr val="1E3A5F"/>
                </a:solidFill>
                <a:latin typeface="Calibri" panose="020F0502020204030204" pitchFamily="34" charset="0"/>
                <a:ea typeface="Calibri" panose="020F0502020204030204" pitchFamily="34" charset="-122"/>
                <a:cs typeface="Calibri" panose="020F0502020204030204" pitchFamily="34" charset="-120"/>
              </a:rPr>
              <a:t>No Transparency</a:t>
            </a:r>
            <a:endParaRPr lang="en-US" sz="1000" dirty="0"/>
          </a:p>
        </p:txBody>
      </p:sp>
      <p:sp>
        <p:nvSpPr>
          <p:cNvPr id="8" name="Text 6"/>
          <p:cNvSpPr/>
          <p:nvPr/>
        </p:nvSpPr>
        <p:spPr>
          <a:xfrm>
            <a:off x="1737360" y="1325880"/>
            <a:ext cx="228600" cy="457200"/>
          </a:xfrm>
          <a:prstGeom prst="rect">
            <a:avLst/>
          </a:prstGeom>
          <a:noFill/>
        </p:spPr>
        <p:txBody>
          <a:bodyPr wrap="square" lIns="0" tIns="0" rIns="0" bIns="0" rtlCol="0" anchor="ctr"/>
          <a:lstStyle/>
          <a:p>
            <a:pPr marL="0" indent="0" algn="ctr">
              <a:buNone/>
            </a:pPr>
            <a:r>
              <a:rPr lang="en-US" sz="1600" dirty="0">
                <a:solidFill>
                  <a:srgbClr val="64748B"/>
                </a:solidFill>
              </a:rPr>
              <a:t>→</a:t>
            </a:r>
            <a:endParaRPr lang="en-US" sz="1600" dirty="0"/>
          </a:p>
        </p:txBody>
      </p:sp>
      <p:sp>
        <p:nvSpPr>
          <p:cNvPr id="9" name="Shape 7"/>
          <p:cNvSpPr/>
          <p:nvPr/>
        </p:nvSpPr>
        <p:spPr>
          <a:xfrm>
            <a:off x="1965960" y="1234440"/>
            <a:ext cx="1508760" cy="658368"/>
          </a:xfrm>
          <a:prstGeom prst="rect">
            <a:avLst/>
          </a:prstGeom>
          <a:solidFill>
            <a:srgbClr val="DC2626">
              <a:alpha val="18000"/>
            </a:srgbClr>
          </a:solidFill>
          <a:ln w="12700">
            <a:solidFill>
              <a:srgbClr val="DC2626">
                <a:alpha val="40000"/>
              </a:srgbClr>
            </a:solidFill>
            <a:prstDash val="solid"/>
          </a:ln>
          <a:effectLst>
            <a:outerShdw blurRad="127000" dist="38100" dir="8100000" algn="bl" rotWithShape="0">
              <a:srgbClr val="94A3B8">
                <a:alpha val="18000"/>
              </a:srgbClr>
            </a:outerShdw>
          </a:effectLst>
        </p:spPr>
      </p:sp>
      <p:sp>
        <p:nvSpPr>
          <p:cNvPr id="10" name="Text 8"/>
          <p:cNvSpPr/>
          <p:nvPr/>
        </p:nvSpPr>
        <p:spPr>
          <a:xfrm>
            <a:off x="1965960" y="1261872"/>
            <a:ext cx="1508760" cy="603504"/>
          </a:xfrm>
          <a:prstGeom prst="rect">
            <a:avLst/>
          </a:prstGeom>
          <a:noFill/>
        </p:spPr>
        <p:txBody>
          <a:bodyPr wrap="square" lIns="0" tIns="0" rIns="0" bIns="0" rtlCol="0" anchor="ctr"/>
          <a:lstStyle/>
          <a:p>
            <a:pPr marL="0" indent="0" algn="ctr">
              <a:buNone/>
            </a:pPr>
            <a:r>
              <a:rPr lang="en-US" sz="1000" b="1" dirty="0">
                <a:solidFill>
                  <a:srgbClr val="DC2626"/>
                </a:solidFill>
                <a:latin typeface="Calibri" panose="020F0502020204030204" pitchFamily="34" charset="0"/>
                <a:ea typeface="Calibri" panose="020F0502020204030204" pitchFamily="34" charset="-122"/>
                <a:cs typeface="Calibri" panose="020F0502020204030204" pitchFamily="34" charset="-120"/>
              </a:rPr>
              <a:t>No Accountability</a:t>
            </a:r>
            <a:endParaRPr lang="en-US" sz="1000" dirty="0"/>
          </a:p>
        </p:txBody>
      </p:sp>
      <p:sp>
        <p:nvSpPr>
          <p:cNvPr id="11" name="Text 9"/>
          <p:cNvSpPr/>
          <p:nvPr/>
        </p:nvSpPr>
        <p:spPr>
          <a:xfrm>
            <a:off x="3474720" y="1325880"/>
            <a:ext cx="228600" cy="457200"/>
          </a:xfrm>
          <a:prstGeom prst="rect">
            <a:avLst/>
          </a:prstGeom>
          <a:noFill/>
        </p:spPr>
        <p:txBody>
          <a:bodyPr wrap="square" lIns="0" tIns="0" rIns="0" bIns="0" rtlCol="0" anchor="ctr"/>
          <a:lstStyle/>
          <a:p>
            <a:pPr marL="0" indent="0" algn="ctr">
              <a:buNone/>
            </a:pPr>
            <a:r>
              <a:rPr lang="en-US" sz="1600" dirty="0">
                <a:solidFill>
                  <a:srgbClr val="64748B"/>
                </a:solidFill>
              </a:rPr>
              <a:t>→</a:t>
            </a:r>
            <a:endParaRPr lang="en-US" sz="1600" dirty="0"/>
          </a:p>
        </p:txBody>
      </p:sp>
      <p:sp>
        <p:nvSpPr>
          <p:cNvPr id="12" name="Shape 10"/>
          <p:cNvSpPr/>
          <p:nvPr/>
        </p:nvSpPr>
        <p:spPr>
          <a:xfrm>
            <a:off x="3703320" y="1234440"/>
            <a:ext cx="1508760" cy="658368"/>
          </a:xfrm>
          <a:prstGeom prst="rect">
            <a:avLst/>
          </a:prstGeom>
          <a:solidFill>
            <a:srgbClr val="D97706">
              <a:alpha val="18000"/>
            </a:srgbClr>
          </a:solidFill>
          <a:ln w="12700">
            <a:solidFill>
              <a:srgbClr val="D97706">
                <a:alpha val="40000"/>
              </a:srgbClr>
            </a:solidFill>
            <a:prstDash val="solid"/>
          </a:ln>
          <a:effectLst>
            <a:outerShdw blurRad="127000" dist="38100" dir="8100000" algn="bl" rotWithShape="0">
              <a:srgbClr val="94A3B8">
                <a:alpha val="18000"/>
              </a:srgbClr>
            </a:outerShdw>
          </a:effectLst>
        </p:spPr>
      </p:sp>
      <p:sp>
        <p:nvSpPr>
          <p:cNvPr id="13" name="Text 11"/>
          <p:cNvSpPr/>
          <p:nvPr/>
        </p:nvSpPr>
        <p:spPr>
          <a:xfrm>
            <a:off x="3703320" y="1261872"/>
            <a:ext cx="1508760" cy="603504"/>
          </a:xfrm>
          <a:prstGeom prst="rect">
            <a:avLst/>
          </a:prstGeom>
          <a:noFill/>
        </p:spPr>
        <p:txBody>
          <a:bodyPr wrap="square" lIns="0" tIns="0" rIns="0" bIns="0" rtlCol="0" anchor="ctr"/>
          <a:lstStyle/>
          <a:p>
            <a:pPr marL="0" indent="0" algn="ctr">
              <a:buNone/>
            </a:pPr>
            <a:r>
              <a:rPr lang="en-US" sz="1000" b="1" dirty="0">
                <a:solidFill>
                  <a:srgbClr val="D97706"/>
                </a:solidFill>
                <a:latin typeface="Calibri" panose="020F0502020204030204" pitchFamily="34" charset="0"/>
                <a:ea typeface="Calibri" panose="020F0502020204030204" pitchFamily="34" charset="-122"/>
                <a:cs typeface="Calibri" panose="020F0502020204030204" pitchFamily="34" charset="-120"/>
              </a:rPr>
              <a:t>Security Vulnerabilities</a:t>
            </a:r>
            <a:endParaRPr lang="en-US" sz="1000" dirty="0"/>
          </a:p>
        </p:txBody>
      </p:sp>
      <p:sp>
        <p:nvSpPr>
          <p:cNvPr id="14" name="Text 12"/>
          <p:cNvSpPr/>
          <p:nvPr/>
        </p:nvSpPr>
        <p:spPr>
          <a:xfrm>
            <a:off x="5212080" y="1325880"/>
            <a:ext cx="228600" cy="457200"/>
          </a:xfrm>
          <a:prstGeom prst="rect">
            <a:avLst/>
          </a:prstGeom>
          <a:noFill/>
        </p:spPr>
        <p:txBody>
          <a:bodyPr wrap="square" lIns="0" tIns="0" rIns="0" bIns="0" rtlCol="0" anchor="ctr"/>
          <a:lstStyle/>
          <a:p>
            <a:pPr marL="0" indent="0" algn="ctr">
              <a:buNone/>
            </a:pPr>
            <a:r>
              <a:rPr lang="en-US" sz="1600" dirty="0">
                <a:solidFill>
                  <a:srgbClr val="64748B"/>
                </a:solidFill>
              </a:rPr>
              <a:t>→</a:t>
            </a:r>
            <a:endParaRPr lang="en-US" sz="1600" dirty="0"/>
          </a:p>
        </p:txBody>
      </p:sp>
      <p:sp>
        <p:nvSpPr>
          <p:cNvPr id="15" name="Shape 13"/>
          <p:cNvSpPr/>
          <p:nvPr/>
        </p:nvSpPr>
        <p:spPr>
          <a:xfrm>
            <a:off x="5440680" y="1234440"/>
            <a:ext cx="1508760" cy="658368"/>
          </a:xfrm>
          <a:prstGeom prst="rect">
            <a:avLst/>
          </a:prstGeom>
          <a:solidFill>
            <a:srgbClr val="DC2626">
              <a:alpha val="18000"/>
            </a:srgbClr>
          </a:solidFill>
          <a:ln w="12700">
            <a:solidFill>
              <a:srgbClr val="DC2626">
                <a:alpha val="40000"/>
              </a:srgbClr>
            </a:solidFill>
            <a:prstDash val="solid"/>
          </a:ln>
          <a:effectLst>
            <a:outerShdw blurRad="127000" dist="38100" dir="8100000" algn="bl" rotWithShape="0">
              <a:srgbClr val="94A3B8">
                <a:alpha val="18000"/>
              </a:srgbClr>
            </a:outerShdw>
          </a:effectLst>
        </p:spPr>
      </p:sp>
      <p:sp>
        <p:nvSpPr>
          <p:cNvPr id="16" name="Text 14"/>
          <p:cNvSpPr/>
          <p:nvPr/>
        </p:nvSpPr>
        <p:spPr>
          <a:xfrm>
            <a:off x="5440680" y="1261872"/>
            <a:ext cx="1508760" cy="603504"/>
          </a:xfrm>
          <a:prstGeom prst="rect">
            <a:avLst/>
          </a:prstGeom>
          <a:noFill/>
        </p:spPr>
        <p:txBody>
          <a:bodyPr wrap="square" lIns="0" tIns="0" rIns="0" bIns="0" rtlCol="0" anchor="ctr"/>
          <a:lstStyle/>
          <a:p>
            <a:pPr marL="0" indent="0" algn="ctr">
              <a:buNone/>
            </a:pPr>
            <a:r>
              <a:rPr lang="en-US" sz="1000" b="1" dirty="0">
                <a:solidFill>
                  <a:srgbClr val="DC2626"/>
                </a:solidFill>
                <a:latin typeface="Calibri" panose="020F0502020204030204" pitchFamily="34" charset="0"/>
                <a:ea typeface="Calibri" panose="020F0502020204030204" pitchFamily="34" charset="-122"/>
                <a:cs typeface="Calibri" panose="020F0502020204030204" pitchFamily="34" charset="-120"/>
              </a:rPr>
              <a:t>Cyber Attacks</a:t>
            </a:r>
            <a:endParaRPr lang="en-US" sz="1000" dirty="0"/>
          </a:p>
        </p:txBody>
      </p:sp>
      <p:sp>
        <p:nvSpPr>
          <p:cNvPr id="17" name="Text 15"/>
          <p:cNvSpPr/>
          <p:nvPr/>
        </p:nvSpPr>
        <p:spPr>
          <a:xfrm>
            <a:off x="6949440" y="1325880"/>
            <a:ext cx="228600" cy="457200"/>
          </a:xfrm>
          <a:prstGeom prst="rect">
            <a:avLst/>
          </a:prstGeom>
          <a:noFill/>
        </p:spPr>
        <p:txBody>
          <a:bodyPr wrap="square" lIns="0" tIns="0" rIns="0" bIns="0" rtlCol="0" anchor="ctr"/>
          <a:lstStyle/>
          <a:p>
            <a:pPr marL="0" indent="0" algn="ctr">
              <a:buNone/>
            </a:pPr>
            <a:r>
              <a:rPr lang="en-US" sz="1600" dirty="0">
                <a:solidFill>
                  <a:srgbClr val="64748B"/>
                </a:solidFill>
              </a:rPr>
              <a:t>→</a:t>
            </a:r>
            <a:endParaRPr lang="en-US" sz="1600" dirty="0"/>
          </a:p>
        </p:txBody>
      </p:sp>
      <p:sp>
        <p:nvSpPr>
          <p:cNvPr id="18" name="Shape 16"/>
          <p:cNvSpPr/>
          <p:nvPr/>
        </p:nvSpPr>
        <p:spPr>
          <a:xfrm>
            <a:off x="7178040" y="1234440"/>
            <a:ext cx="1508760" cy="658368"/>
          </a:xfrm>
          <a:prstGeom prst="rect">
            <a:avLst/>
          </a:prstGeom>
          <a:solidFill>
            <a:srgbClr val="1E3A5F">
              <a:alpha val="18000"/>
            </a:srgbClr>
          </a:solidFill>
          <a:ln w="12700">
            <a:solidFill>
              <a:srgbClr val="1E3A5F">
                <a:alpha val="40000"/>
              </a:srgbClr>
            </a:solidFill>
            <a:prstDash val="solid"/>
          </a:ln>
          <a:effectLst>
            <a:outerShdw blurRad="127000" dist="38100" dir="8100000" algn="bl" rotWithShape="0">
              <a:srgbClr val="94A3B8">
                <a:alpha val="18000"/>
              </a:srgbClr>
            </a:outerShdw>
          </a:effectLst>
        </p:spPr>
      </p:sp>
      <p:sp>
        <p:nvSpPr>
          <p:cNvPr id="19" name="Text 17"/>
          <p:cNvSpPr/>
          <p:nvPr/>
        </p:nvSpPr>
        <p:spPr>
          <a:xfrm>
            <a:off x="7178040" y="1261872"/>
            <a:ext cx="1508760" cy="603504"/>
          </a:xfrm>
          <a:prstGeom prst="rect">
            <a:avLst/>
          </a:prstGeom>
          <a:noFill/>
        </p:spPr>
        <p:txBody>
          <a:bodyPr wrap="square" lIns="0" tIns="0" rIns="0" bIns="0" rtlCol="0" anchor="ctr"/>
          <a:lstStyle/>
          <a:p>
            <a:pPr marL="0" indent="0" algn="ctr">
              <a:buNone/>
            </a:pPr>
            <a:r>
              <a:rPr lang="en-US" sz="1000" b="1" dirty="0">
                <a:solidFill>
                  <a:srgbClr val="1E3A5F"/>
                </a:solidFill>
                <a:latin typeface="Calibri" panose="020F0502020204030204" pitchFamily="34" charset="0"/>
                <a:ea typeface="Calibri" panose="020F0502020204030204" pitchFamily="34" charset="-122"/>
                <a:cs typeface="Calibri" panose="020F0502020204030204" pitchFamily="34" charset="-120"/>
              </a:rPr>
              <a:t>Loss of Public Trust</a:t>
            </a:r>
            <a:endParaRPr lang="en-US" sz="1000" dirty="0"/>
          </a:p>
        </p:txBody>
      </p:sp>
      <p:sp>
        <p:nvSpPr>
          <p:cNvPr id="20" name="Shape 18"/>
          <p:cNvSpPr/>
          <p:nvPr/>
        </p:nvSpPr>
        <p:spPr>
          <a:xfrm>
            <a:off x="320040" y="2103120"/>
            <a:ext cx="8503920" cy="1371600"/>
          </a:xfrm>
          <a:prstGeom prst="rect">
            <a:avLst/>
          </a:prstGeom>
          <a:solidFill>
            <a:srgbClr val="FFFFFF"/>
          </a:solidFill>
          <a:ln w="12700">
            <a:solidFill>
              <a:srgbClr val="1E3A5F">
                <a:alpha val="40000"/>
              </a:srgbClr>
            </a:solidFill>
            <a:prstDash val="solid"/>
          </a:ln>
          <a:effectLst>
            <a:outerShdw blurRad="127000" dist="38100" dir="8100000" algn="bl" rotWithShape="0">
              <a:srgbClr val="94A3B8">
                <a:alpha val="18000"/>
              </a:srgbClr>
            </a:outerShdw>
          </a:effectLst>
        </p:spPr>
      </p:sp>
      <p:sp>
        <p:nvSpPr>
          <p:cNvPr id="21" name="Text 19"/>
          <p:cNvSpPr/>
          <p:nvPr/>
        </p:nvSpPr>
        <p:spPr>
          <a:xfrm>
            <a:off x="475488" y="2176272"/>
            <a:ext cx="8229600" cy="347472"/>
          </a:xfrm>
          <a:prstGeom prst="rect">
            <a:avLst/>
          </a:prstGeom>
          <a:noFill/>
        </p:spPr>
        <p:txBody>
          <a:bodyPr wrap="square" rtlCol="0" anchor="ctr"/>
          <a:lstStyle/>
          <a:p>
            <a:pPr marL="0" indent="0">
              <a:buNone/>
            </a:pPr>
            <a:r>
              <a:rPr lang="en-US" sz="1300" b="1" dirty="0">
                <a:solidFill>
                  <a:srgbClr val="1E3A5F"/>
                </a:solidFill>
                <a:latin typeface="Calibri" panose="020F0502020204030204" pitchFamily="34" charset="0"/>
                <a:ea typeface="Calibri" panose="020F0502020204030204" pitchFamily="34" charset="-122"/>
                <a:cs typeface="Calibri" panose="020F0502020204030204" pitchFamily="34" charset="-120"/>
              </a:rPr>
              <a:t>What happens when transparency fails:</a:t>
            </a:r>
            <a:endParaRPr lang="en-US" sz="1300" dirty="0"/>
          </a:p>
        </p:txBody>
      </p:sp>
      <p:sp>
        <p:nvSpPr>
          <p:cNvPr id="22" name="Text 20"/>
          <p:cNvSpPr/>
          <p:nvPr/>
        </p:nvSpPr>
        <p:spPr>
          <a:xfrm>
            <a:off x="475488" y="2542032"/>
            <a:ext cx="8229600" cy="822960"/>
          </a:xfrm>
          <a:prstGeom prst="rect">
            <a:avLst/>
          </a:prstGeom>
          <a:noFill/>
        </p:spPr>
        <p:txBody>
          <a:bodyPr wrap="square" rtlCol="0" anchor="ctr"/>
          <a:lstStyle/>
          <a:p>
            <a:pPr marL="0" indent="0">
              <a:buNone/>
            </a:pP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The AI system becomes unpredictable and unsafe no longer in control of its creator but in the hands of those who have potentially compromised it. The outcomes become unknown and potentially catastrophic.</a:t>
            </a:r>
            <a:endParaRPr lang="en-US" sz="1200" dirty="0"/>
          </a:p>
        </p:txBody>
      </p:sp>
      <p:sp>
        <p:nvSpPr>
          <p:cNvPr id="23" name="Shape 21"/>
          <p:cNvSpPr/>
          <p:nvPr/>
        </p:nvSpPr>
        <p:spPr>
          <a:xfrm>
            <a:off x="320040" y="3657600"/>
            <a:ext cx="8503920" cy="685800"/>
          </a:xfrm>
          <a:prstGeom prst="rect">
            <a:avLst/>
          </a:prstGeom>
          <a:solidFill>
            <a:srgbClr val="1E3A5F">
              <a:alpha val="12000"/>
            </a:srgbClr>
          </a:solidFill>
          <a:ln w="12700">
            <a:solidFill>
              <a:srgbClr val="1E3A5F">
                <a:alpha val="25000"/>
              </a:srgbClr>
            </a:solidFill>
            <a:prstDash val="solid"/>
          </a:ln>
        </p:spPr>
      </p:sp>
      <p:sp>
        <p:nvSpPr>
          <p:cNvPr id="24" name="Text 22"/>
          <p:cNvSpPr/>
          <p:nvPr/>
        </p:nvSpPr>
        <p:spPr>
          <a:xfrm>
            <a:off x="475488" y="3703320"/>
            <a:ext cx="8321040" cy="594360"/>
          </a:xfrm>
          <a:prstGeom prst="rect">
            <a:avLst/>
          </a:prstGeom>
          <a:noFill/>
        </p:spPr>
        <p:txBody>
          <a:bodyPr wrap="square" rtlCol="0" anchor="ctr"/>
          <a:lstStyle/>
          <a:p>
            <a:pPr marL="0" indent="0">
              <a:buNone/>
            </a:pPr>
            <a:r>
              <a:rPr lang="en-US" sz="1200" b="1" dirty="0">
                <a:solidFill>
                  <a:srgbClr val="1E3A5F"/>
                </a:solidFill>
                <a:latin typeface="Calibri" panose="020F0502020204030204" pitchFamily="34" charset="0"/>
                <a:ea typeface="Calibri" panose="020F0502020204030204" pitchFamily="34" charset="-122"/>
                <a:cs typeface="Calibri" panose="020F0502020204030204" pitchFamily="34" charset="-120"/>
              </a:rPr>
              <a:t>✅  Conclusion: AI systems MUST maintain clear transparency to prevent minor and major damage to individuals and organizations.</a:t>
            </a:r>
            <a:endParaRPr lang="en-US" sz="1200" dirty="0"/>
          </a:p>
        </p:txBody>
      </p:sp>
    </p:spTree>
  </p:cSld>
  <p:clrMapOvr>
    <a:masterClrMapping/>
  </p:clrMapOvr>
  <mc:AlternateContent xmlns:mc="http://schemas.openxmlformats.org/markup-compatibility/2006">
    <mc:Choice xmlns:p14="http://schemas.microsoft.com/office/powerpoint/2010/main" Requires="p14">
      <p:transition spd="slow" p14:dur="2000">
        <p:split orient="vert" dir="in"/>
      </p:transition>
    </mc:Choice>
    <mc:Fallback>
      <p:transition spd="slow">
        <p:split orient="vert" dir="in"/>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0F7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10B981">
              <a:alpha val="14000"/>
            </a:srgbClr>
          </a:solidFill>
          <a:ln w="12700">
            <a:solidFill>
              <a:srgbClr val="10B981">
                <a:alpha val="14000"/>
              </a:srgbClr>
            </a:solidFill>
            <a:prstDash val="solid"/>
          </a:ln>
        </p:spPr>
      </p:sp>
      <p:sp>
        <p:nvSpPr>
          <p:cNvPr id="3" name="Shape 1"/>
          <p:cNvSpPr/>
          <p:nvPr/>
        </p:nvSpPr>
        <p:spPr>
          <a:xfrm>
            <a:off x="274320" y="182880"/>
            <a:ext cx="658368" cy="658368"/>
          </a:xfrm>
          <a:prstGeom prst="ellipse">
            <a:avLst/>
          </a:prstGeom>
          <a:solidFill>
            <a:srgbClr val="10B981">
              <a:alpha val="45000"/>
            </a:srgbClr>
          </a:solidFill>
          <a:ln w="12700">
            <a:solidFill>
              <a:srgbClr val="10B981">
                <a:alpha val="45000"/>
              </a:srgbClr>
            </a:solidFill>
            <a:prstDash val="solid"/>
          </a:ln>
        </p:spPr>
      </p:sp>
      <p:sp>
        <p:nvSpPr>
          <p:cNvPr id="4" name="Text 2"/>
          <p:cNvSpPr/>
          <p:nvPr/>
        </p:nvSpPr>
        <p:spPr>
          <a:xfrm>
            <a:off x="274320" y="182880"/>
            <a:ext cx="658368" cy="658368"/>
          </a:xfrm>
          <a:prstGeom prst="rect">
            <a:avLst/>
          </a:prstGeom>
          <a:noFill/>
        </p:spPr>
        <p:txBody>
          <a:bodyPr wrap="square" lIns="0" tIns="0" rIns="0" bIns="0" rtlCol="0" anchor="ctr"/>
          <a:lstStyle/>
          <a:p>
            <a:pPr marL="0" indent="0" algn="ctr">
              <a:buNone/>
            </a:pPr>
            <a:r>
              <a:rPr lang="en-US" sz="1800" b="1" dirty="0">
                <a:solidFill>
                  <a:srgbClr val="10B981"/>
                </a:solidFill>
              </a:rPr>
              <a:t>07</a:t>
            </a:r>
            <a:endParaRPr lang="en-US" sz="1800" dirty="0"/>
          </a:p>
        </p:txBody>
      </p:sp>
      <p:sp>
        <p:nvSpPr>
          <p:cNvPr id="5" name="Text 3"/>
          <p:cNvSpPr/>
          <p:nvPr/>
        </p:nvSpPr>
        <p:spPr>
          <a:xfrm>
            <a:off x="1078992" y="73152"/>
            <a:ext cx="7863840" cy="914400"/>
          </a:xfrm>
          <a:prstGeom prst="rect">
            <a:avLst/>
          </a:prstGeom>
          <a:noFill/>
        </p:spPr>
        <p:txBody>
          <a:bodyPr wrap="square" rtlCol="0" anchor="ctr"/>
          <a:lstStyle/>
          <a:p>
            <a:pPr marL="0" indent="0">
              <a:buNone/>
            </a:pPr>
            <a:r>
              <a:rPr lang="en-US" sz="3000" b="1" dirty="0">
                <a:solidFill>
                  <a:srgbClr val="1E3A5F"/>
                </a:solidFill>
                <a:latin typeface="Calibri" panose="020F0502020204030204" pitchFamily="34" charset="0"/>
                <a:ea typeface="Calibri" panose="020F0502020204030204" pitchFamily="34" charset="-122"/>
                <a:cs typeface="Calibri" panose="020F0502020204030204" pitchFamily="34" charset="-120"/>
              </a:rPr>
              <a:t>Purpose of a Risk Assessment System</a:t>
            </a:r>
            <a:endParaRPr lang="en-US" sz="3000" dirty="0"/>
          </a:p>
        </p:txBody>
      </p:sp>
      <p:sp>
        <p:nvSpPr>
          <p:cNvPr id="6" name="Shape 4"/>
          <p:cNvSpPr/>
          <p:nvPr/>
        </p:nvSpPr>
        <p:spPr>
          <a:xfrm>
            <a:off x="320040" y="1207008"/>
            <a:ext cx="4114800" cy="1645920"/>
          </a:xfrm>
          <a:prstGeom prst="rect">
            <a:avLst/>
          </a:prstGeom>
          <a:solidFill>
            <a:srgbClr val="FFFFFF"/>
          </a:solidFill>
          <a:ln w="12700">
            <a:solidFill>
              <a:srgbClr val="10B981">
                <a:alpha val="45000"/>
              </a:srgbClr>
            </a:solidFill>
            <a:prstDash val="solid"/>
          </a:ln>
          <a:effectLst>
            <a:outerShdw blurRad="127000" dist="38100" dir="8100000" algn="bl" rotWithShape="0">
              <a:srgbClr val="94A3B8">
                <a:alpha val="18000"/>
              </a:srgbClr>
            </a:outerShdw>
          </a:effectLst>
        </p:spPr>
      </p:sp>
      <p:sp>
        <p:nvSpPr>
          <p:cNvPr id="7" name="Shape 5"/>
          <p:cNvSpPr/>
          <p:nvPr/>
        </p:nvSpPr>
        <p:spPr>
          <a:xfrm>
            <a:off x="484632" y="1408176"/>
            <a:ext cx="548640" cy="548640"/>
          </a:xfrm>
          <a:prstGeom prst="ellipse">
            <a:avLst/>
          </a:prstGeom>
          <a:solidFill>
            <a:srgbClr val="10B981">
              <a:alpha val="22000"/>
            </a:srgbClr>
          </a:solidFill>
          <a:ln w="12700">
            <a:solidFill>
              <a:srgbClr val="10B981">
                <a:alpha val="22000"/>
              </a:srgbClr>
            </a:solidFill>
            <a:prstDash val="solid"/>
          </a:ln>
        </p:spPr>
      </p:sp>
      <p:sp>
        <p:nvSpPr>
          <p:cNvPr id="8" name="Text 6"/>
          <p:cNvSpPr/>
          <p:nvPr/>
        </p:nvSpPr>
        <p:spPr>
          <a:xfrm>
            <a:off x="484632" y="1408176"/>
            <a:ext cx="548640" cy="548640"/>
          </a:xfrm>
          <a:prstGeom prst="rect">
            <a:avLst/>
          </a:prstGeom>
          <a:noFill/>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9" name="Text 7"/>
          <p:cNvSpPr/>
          <p:nvPr/>
        </p:nvSpPr>
        <p:spPr>
          <a:xfrm>
            <a:off x="1161288" y="1298448"/>
            <a:ext cx="3145536" cy="475488"/>
          </a:xfrm>
          <a:prstGeom prst="rect">
            <a:avLst/>
          </a:prstGeom>
          <a:noFill/>
        </p:spPr>
        <p:txBody>
          <a:bodyPr wrap="square" lIns="0" tIns="0" rIns="0" bIns="0" rtlCol="0" anchor="ctr"/>
          <a:lstStyle/>
          <a:p>
            <a:pPr marL="0" indent="0">
              <a:buNone/>
            </a:pPr>
            <a:r>
              <a:rPr lang="en-US" sz="1300" b="1" dirty="0">
                <a:solidFill>
                  <a:srgbClr val="10B981"/>
                </a:solidFill>
                <a:latin typeface="Calibri" panose="020F0502020204030204" pitchFamily="34" charset="0"/>
                <a:ea typeface="Calibri" panose="020F0502020204030204" pitchFamily="34" charset="-122"/>
                <a:cs typeface="Calibri" panose="020F0502020204030204" pitchFamily="34" charset="-120"/>
              </a:rPr>
              <a:t>Identify Hidden Vulnerabilities</a:t>
            </a:r>
            <a:endParaRPr lang="en-US" sz="1300" dirty="0"/>
          </a:p>
        </p:txBody>
      </p:sp>
      <p:sp>
        <p:nvSpPr>
          <p:cNvPr id="10" name="Text 8"/>
          <p:cNvSpPr/>
          <p:nvPr/>
        </p:nvSpPr>
        <p:spPr>
          <a:xfrm>
            <a:off x="484632" y="2011680"/>
            <a:ext cx="3840480" cy="749808"/>
          </a:xfrm>
          <a:prstGeom prst="rect">
            <a:avLst/>
          </a:prstGeom>
          <a:noFill/>
        </p:spPr>
        <p:txBody>
          <a:bodyPr wrap="square" rtlCol="0" anchor="ctr"/>
          <a:lstStyle/>
          <a:p>
            <a:pPr marL="0" indent="0">
              <a:buNone/>
            </a:pPr>
            <a:r>
              <a:rPr lang="en-US" sz="1150" dirty="0">
                <a:solidFill>
                  <a:srgbClr val="334155"/>
                </a:solidFill>
                <a:latin typeface="Calibri" panose="020F0502020204030204" pitchFamily="34" charset="0"/>
                <a:ea typeface="Calibri" panose="020F0502020204030204" pitchFamily="34" charset="-122"/>
                <a:cs typeface="Calibri" panose="020F0502020204030204" pitchFamily="34" charset="-120"/>
              </a:rPr>
              <a:t>Risks are not always visible they often lie deep within AI system code and model logic.</a:t>
            </a:r>
            <a:endParaRPr lang="en-US" sz="1150" dirty="0"/>
          </a:p>
        </p:txBody>
      </p:sp>
      <p:sp>
        <p:nvSpPr>
          <p:cNvPr id="11" name="Shape 9"/>
          <p:cNvSpPr/>
          <p:nvPr/>
        </p:nvSpPr>
        <p:spPr>
          <a:xfrm>
            <a:off x="320040" y="3035808"/>
            <a:ext cx="4114800" cy="1645920"/>
          </a:xfrm>
          <a:prstGeom prst="rect">
            <a:avLst/>
          </a:prstGeom>
          <a:solidFill>
            <a:srgbClr val="FFFFFF"/>
          </a:solidFill>
          <a:ln w="12700">
            <a:solidFill>
              <a:srgbClr val="0891B2">
                <a:alpha val="45000"/>
              </a:srgbClr>
            </a:solidFill>
            <a:prstDash val="solid"/>
          </a:ln>
          <a:effectLst>
            <a:outerShdw blurRad="127000" dist="38100" dir="8100000" algn="bl" rotWithShape="0">
              <a:srgbClr val="94A3B8">
                <a:alpha val="18000"/>
              </a:srgbClr>
            </a:outerShdw>
          </a:effectLst>
        </p:spPr>
      </p:sp>
      <p:sp>
        <p:nvSpPr>
          <p:cNvPr id="12" name="Shape 10"/>
          <p:cNvSpPr/>
          <p:nvPr/>
        </p:nvSpPr>
        <p:spPr>
          <a:xfrm>
            <a:off x="484632" y="3236976"/>
            <a:ext cx="548640" cy="548640"/>
          </a:xfrm>
          <a:prstGeom prst="ellipse">
            <a:avLst/>
          </a:prstGeom>
          <a:solidFill>
            <a:srgbClr val="0891B2">
              <a:alpha val="22000"/>
            </a:srgbClr>
          </a:solidFill>
          <a:ln w="12700">
            <a:solidFill>
              <a:srgbClr val="0891B2">
                <a:alpha val="22000"/>
              </a:srgbClr>
            </a:solidFill>
            <a:prstDash val="solid"/>
          </a:ln>
        </p:spPr>
      </p:sp>
      <p:sp>
        <p:nvSpPr>
          <p:cNvPr id="13" name="Text 11"/>
          <p:cNvSpPr/>
          <p:nvPr/>
        </p:nvSpPr>
        <p:spPr>
          <a:xfrm>
            <a:off x="484632" y="3236976"/>
            <a:ext cx="548640" cy="548640"/>
          </a:xfrm>
          <a:prstGeom prst="rect">
            <a:avLst/>
          </a:prstGeom>
          <a:noFill/>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4" name="Text 12"/>
          <p:cNvSpPr/>
          <p:nvPr/>
        </p:nvSpPr>
        <p:spPr>
          <a:xfrm>
            <a:off x="1161288" y="3127248"/>
            <a:ext cx="3145536" cy="475488"/>
          </a:xfrm>
          <a:prstGeom prst="rect">
            <a:avLst/>
          </a:prstGeom>
          <a:noFill/>
        </p:spPr>
        <p:txBody>
          <a:bodyPr wrap="square" lIns="0" tIns="0" rIns="0" bIns="0" rtlCol="0" anchor="ctr"/>
          <a:lstStyle/>
          <a:p>
            <a:pPr marL="0" indent="0">
              <a:buNone/>
            </a:pPr>
            <a:r>
              <a:rPr lang="en-US" sz="1300" b="1" dirty="0">
                <a:solidFill>
                  <a:srgbClr val="0891B2"/>
                </a:solidFill>
                <a:latin typeface="Calibri" panose="020F0502020204030204" pitchFamily="34" charset="0"/>
                <a:ea typeface="Calibri" panose="020F0502020204030204" pitchFamily="34" charset="-122"/>
                <a:cs typeface="Calibri" panose="020F0502020204030204" pitchFamily="34" charset="-120"/>
              </a:rPr>
              <a:t>Assess Severity</a:t>
            </a:r>
            <a:endParaRPr lang="en-US" sz="1300" dirty="0"/>
          </a:p>
        </p:txBody>
      </p:sp>
      <p:sp>
        <p:nvSpPr>
          <p:cNvPr id="15" name="Text 13"/>
          <p:cNvSpPr/>
          <p:nvPr/>
        </p:nvSpPr>
        <p:spPr>
          <a:xfrm>
            <a:off x="484632" y="3840480"/>
            <a:ext cx="3840480" cy="749808"/>
          </a:xfrm>
          <a:prstGeom prst="rect">
            <a:avLst/>
          </a:prstGeom>
          <a:noFill/>
        </p:spPr>
        <p:txBody>
          <a:bodyPr wrap="square" rtlCol="0" anchor="ctr"/>
          <a:lstStyle/>
          <a:p>
            <a:pPr marL="0" indent="0">
              <a:buNone/>
            </a:pPr>
            <a:r>
              <a:rPr lang="en-US" sz="1150" dirty="0">
                <a:solidFill>
                  <a:srgbClr val="334155"/>
                </a:solidFill>
                <a:latin typeface="Calibri" panose="020F0502020204030204" pitchFamily="34" charset="0"/>
                <a:ea typeface="Calibri" panose="020F0502020204030204" pitchFamily="34" charset="-122"/>
                <a:cs typeface="Calibri" panose="020F0502020204030204" pitchFamily="34" charset="-120"/>
              </a:rPr>
              <a:t>Determine how serious each risk is and prioritize accordingly to allocate resources efficiently.</a:t>
            </a:r>
            <a:endParaRPr lang="en-US" sz="1150" dirty="0"/>
          </a:p>
        </p:txBody>
      </p:sp>
      <p:sp>
        <p:nvSpPr>
          <p:cNvPr id="16" name="Shape 14"/>
          <p:cNvSpPr/>
          <p:nvPr/>
        </p:nvSpPr>
        <p:spPr>
          <a:xfrm>
            <a:off x="4709160" y="1207008"/>
            <a:ext cx="4114800" cy="1645920"/>
          </a:xfrm>
          <a:prstGeom prst="rect">
            <a:avLst/>
          </a:prstGeom>
          <a:solidFill>
            <a:srgbClr val="FFFFFF"/>
          </a:solidFill>
          <a:ln w="12700">
            <a:solidFill>
              <a:srgbClr val="2563EB">
                <a:alpha val="45000"/>
              </a:srgbClr>
            </a:solidFill>
            <a:prstDash val="solid"/>
          </a:ln>
          <a:effectLst>
            <a:outerShdw blurRad="127000" dist="38100" dir="8100000" algn="bl" rotWithShape="0">
              <a:srgbClr val="94A3B8">
                <a:alpha val="18000"/>
              </a:srgbClr>
            </a:outerShdw>
          </a:effectLst>
        </p:spPr>
      </p:sp>
      <p:sp>
        <p:nvSpPr>
          <p:cNvPr id="17" name="Shape 15"/>
          <p:cNvSpPr/>
          <p:nvPr/>
        </p:nvSpPr>
        <p:spPr>
          <a:xfrm>
            <a:off x="4873752" y="1408176"/>
            <a:ext cx="548640" cy="548640"/>
          </a:xfrm>
          <a:prstGeom prst="ellipse">
            <a:avLst/>
          </a:prstGeom>
          <a:solidFill>
            <a:srgbClr val="2563EB">
              <a:alpha val="22000"/>
            </a:srgbClr>
          </a:solidFill>
          <a:ln w="12700">
            <a:solidFill>
              <a:srgbClr val="2563EB">
                <a:alpha val="22000"/>
              </a:srgbClr>
            </a:solidFill>
            <a:prstDash val="solid"/>
          </a:ln>
        </p:spPr>
      </p:sp>
      <p:sp>
        <p:nvSpPr>
          <p:cNvPr id="18" name="Text 16"/>
          <p:cNvSpPr/>
          <p:nvPr/>
        </p:nvSpPr>
        <p:spPr>
          <a:xfrm>
            <a:off x="4873752" y="1408176"/>
            <a:ext cx="548640" cy="548640"/>
          </a:xfrm>
          <a:prstGeom prst="rect">
            <a:avLst/>
          </a:prstGeom>
          <a:noFill/>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9" name="Text 17"/>
          <p:cNvSpPr/>
          <p:nvPr/>
        </p:nvSpPr>
        <p:spPr>
          <a:xfrm>
            <a:off x="5550408" y="1298448"/>
            <a:ext cx="3145536" cy="475488"/>
          </a:xfrm>
          <a:prstGeom prst="rect">
            <a:avLst/>
          </a:prstGeom>
          <a:noFill/>
        </p:spPr>
        <p:txBody>
          <a:bodyPr wrap="square" lIns="0" tIns="0" rIns="0" bIns="0" rtlCol="0" anchor="ctr"/>
          <a:lstStyle/>
          <a:p>
            <a:pPr marL="0" indent="0">
              <a:buNone/>
            </a:pPr>
            <a:r>
              <a:rPr lang="en-US" sz="1300" b="1" dirty="0">
                <a:solidFill>
                  <a:srgbClr val="2563EB"/>
                </a:solidFill>
                <a:latin typeface="Calibri" panose="020F0502020204030204" pitchFamily="34" charset="0"/>
                <a:ea typeface="Calibri" panose="020F0502020204030204" pitchFamily="34" charset="-122"/>
                <a:cs typeface="Calibri" panose="020F0502020204030204" pitchFamily="34" charset="-120"/>
              </a:rPr>
              <a:t>Enable Mitigation</a:t>
            </a:r>
            <a:endParaRPr lang="en-US" sz="1300" dirty="0"/>
          </a:p>
        </p:txBody>
      </p:sp>
      <p:sp>
        <p:nvSpPr>
          <p:cNvPr id="20" name="Text 18"/>
          <p:cNvSpPr/>
          <p:nvPr/>
        </p:nvSpPr>
        <p:spPr>
          <a:xfrm>
            <a:off x="4873752" y="2011680"/>
            <a:ext cx="3840480" cy="749808"/>
          </a:xfrm>
          <a:prstGeom prst="rect">
            <a:avLst/>
          </a:prstGeom>
          <a:noFill/>
        </p:spPr>
        <p:txBody>
          <a:bodyPr wrap="square" rtlCol="0" anchor="ctr"/>
          <a:lstStyle/>
          <a:p>
            <a:pPr marL="0" indent="0">
              <a:buNone/>
            </a:pPr>
            <a:r>
              <a:rPr lang="en-US" sz="1150" dirty="0">
                <a:solidFill>
                  <a:srgbClr val="334155"/>
                </a:solidFill>
                <a:latin typeface="Calibri" panose="020F0502020204030204" pitchFamily="34" charset="0"/>
                <a:ea typeface="Calibri" panose="020F0502020204030204" pitchFamily="34" charset="-122"/>
                <a:cs typeface="Calibri" panose="020F0502020204030204" pitchFamily="34" charset="-120"/>
              </a:rPr>
              <a:t>Guide corrective action using trusted frameworks like NIST AI RMF.</a:t>
            </a:r>
            <a:endParaRPr lang="en-US" sz="1150" dirty="0"/>
          </a:p>
        </p:txBody>
      </p:sp>
      <p:sp>
        <p:nvSpPr>
          <p:cNvPr id="21" name="Shape 19"/>
          <p:cNvSpPr/>
          <p:nvPr/>
        </p:nvSpPr>
        <p:spPr>
          <a:xfrm>
            <a:off x="4709160" y="3035808"/>
            <a:ext cx="4114800" cy="1645920"/>
          </a:xfrm>
          <a:prstGeom prst="rect">
            <a:avLst/>
          </a:prstGeom>
          <a:solidFill>
            <a:srgbClr val="FFFFFF"/>
          </a:solidFill>
          <a:ln w="12700">
            <a:solidFill>
              <a:srgbClr val="7C3AED">
                <a:alpha val="45000"/>
              </a:srgbClr>
            </a:solidFill>
            <a:prstDash val="solid"/>
          </a:ln>
          <a:effectLst>
            <a:outerShdw blurRad="127000" dist="38100" dir="8100000" algn="bl" rotWithShape="0">
              <a:srgbClr val="94A3B8">
                <a:alpha val="18000"/>
              </a:srgbClr>
            </a:outerShdw>
          </a:effectLst>
        </p:spPr>
      </p:sp>
      <p:sp>
        <p:nvSpPr>
          <p:cNvPr id="22" name="Shape 20"/>
          <p:cNvSpPr/>
          <p:nvPr/>
        </p:nvSpPr>
        <p:spPr>
          <a:xfrm>
            <a:off x="4873752" y="3236976"/>
            <a:ext cx="548640" cy="548640"/>
          </a:xfrm>
          <a:prstGeom prst="ellipse">
            <a:avLst/>
          </a:prstGeom>
          <a:solidFill>
            <a:srgbClr val="7C3AED">
              <a:alpha val="22000"/>
            </a:srgbClr>
          </a:solidFill>
          <a:ln w="12700">
            <a:solidFill>
              <a:srgbClr val="7C3AED">
                <a:alpha val="22000"/>
              </a:srgbClr>
            </a:solidFill>
            <a:prstDash val="solid"/>
          </a:ln>
        </p:spPr>
      </p:sp>
      <p:sp>
        <p:nvSpPr>
          <p:cNvPr id="23" name="Text 21"/>
          <p:cNvSpPr/>
          <p:nvPr/>
        </p:nvSpPr>
        <p:spPr>
          <a:xfrm>
            <a:off x="4873752" y="3236976"/>
            <a:ext cx="548640" cy="548640"/>
          </a:xfrm>
          <a:prstGeom prst="rect">
            <a:avLst/>
          </a:prstGeom>
          <a:noFill/>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24" name="Text 22"/>
          <p:cNvSpPr/>
          <p:nvPr/>
        </p:nvSpPr>
        <p:spPr>
          <a:xfrm>
            <a:off x="5550408" y="3127248"/>
            <a:ext cx="3145536" cy="475488"/>
          </a:xfrm>
          <a:prstGeom prst="rect">
            <a:avLst/>
          </a:prstGeom>
          <a:noFill/>
        </p:spPr>
        <p:txBody>
          <a:bodyPr wrap="square" lIns="0" tIns="0" rIns="0" bIns="0" rtlCol="0" anchor="ctr"/>
          <a:lstStyle/>
          <a:p>
            <a:pPr marL="0" indent="0">
              <a:buNone/>
            </a:pPr>
            <a:r>
              <a:rPr lang="en-US" sz="1300" b="1" dirty="0">
                <a:solidFill>
                  <a:srgbClr val="7C3AED"/>
                </a:solidFill>
                <a:latin typeface="Calibri" panose="020F0502020204030204" pitchFamily="34" charset="0"/>
                <a:ea typeface="Calibri" panose="020F0502020204030204" pitchFamily="34" charset="-122"/>
                <a:cs typeface="Calibri" panose="020F0502020204030204" pitchFamily="34" charset="-120"/>
              </a:rPr>
              <a:t>Best Time: During Development</a:t>
            </a:r>
            <a:endParaRPr lang="en-US" sz="1300" dirty="0"/>
          </a:p>
        </p:txBody>
      </p:sp>
      <p:sp>
        <p:nvSpPr>
          <p:cNvPr id="25" name="Text 23"/>
          <p:cNvSpPr/>
          <p:nvPr/>
        </p:nvSpPr>
        <p:spPr>
          <a:xfrm>
            <a:off x="4873752" y="3840480"/>
            <a:ext cx="3840480" cy="749808"/>
          </a:xfrm>
          <a:prstGeom prst="rect">
            <a:avLst/>
          </a:prstGeom>
          <a:noFill/>
        </p:spPr>
        <p:txBody>
          <a:bodyPr wrap="square" rtlCol="0" anchor="ctr"/>
          <a:lstStyle/>
          <a:p>
            <a:pPr marL="0" indent="0">
              <a:buNone/>
            </a:pPr>
            <a:r>
              <a:rPr lang="en-US" sz="1150" dirty="0">
                <a:solidFill>
                  <a:srgbClr val="334155"/>
                </a:solidFill>
                <a:latin typeface="Calibri" panose="020F0502020204030204" pitchFamily="34" charset="0"/>
                <a:ea typeface="Calibri" panose="020F0502020204030204" pitchFamily="34" charset="-122"/>
                <a:cs typeface="Calibri" panose="020F0502020204030204" pitchFamily="34" charset="-120"/>
              </a:rPr>
              <a:t>Perform risk assessment during and after development before deployment, changes are easiest to make.</a:t>
            </a:r>
            <a:endParaRPr lang="en-US" sz="1150" dirty="0"/>
          </a:p>
        </p:txBody>
      </p:sp>
    </p:spTree>
  </p:cSld>
  <p:clrMapOvr>
    <a:masterClrMapping/>
  </p:clrMapOvr>
  <mc:AlternateContent xmlns:mc="http://schemas.openxmlformats.org/markup-compatibility/2006">
    <mc:Choice xmlns:p14="http://schemas.microsoft.com/office/powerpoint/2010/main" Requires="p14">
      <p:transition spd="slow" p14:dur="1899">
        <p:blinds/>
      </p:transition>
    </mc:Choice>
    <mc:Fallback>
      <p:transition spd="slow">
        <p:blind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0F7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891B2">
              <a:alpha val="14000"/>
            </a:srgbClr>
          </a:solidFill>
          <a:ln w="12700">
            <a:solidFill>
              <a:srgbClr val="0891B2">
                <a:alpha val="14000"/>
              </a:srgbClr>
            </a:solidFill>
            <a:prstDash val="solid"/>
          </a:ln>
        </p:spPr>
      </p:sp>
      <p:sp>
        <p:nvSpPr>
          <p:cNvPr id="3" name="Shape 1"/>
          <p:cNvSpPr/>
          <p:nvPr/>
        </p:nvSpPr>
        <p:spPr>
          <a:xfrm>
            <a:off x="274320" y="182880"/>
            <a:ext cx="658368" cy="658368"/>
          </a:xfrm>
          <a:prstGeom prst="ellipse">
            <a:avLst/>
          </a:prstGeom>
          <a:solidFill>
            <a:srgbClr val="0891B2">
              <a:alpha val="45000"/>
            </a:srgbClr>
          </a:solidFill>
          <a:ln w="12700">
            <a:solidFill>
              <a:srgbClr val="0891B2">
                <a:alpha val="45000"/>
              </a:srgbClr>
            </a:solidFill>
            <a:prstDash val="solid"/>
          </a:ln>
        </p:spPr>
      </p:sp>
      <p:sp>
        <p:nvSpPr>
          <p:cNvPr id="4" name="Text 2"/>
          <p:cNvSpPr/>
          <p:nvPr/>
        </p:nvSpPr>
        <p:spPr>
          <a:xfrm>
            <a:off x="274320" y="182880"/>
            <a:ext cx="658368" cy="658368"/>
          </a:xfrm>
          <a:prstGeom prst="rect">
            <a:avLst/>
          </a:prstGeom>
          <a:noFill/>
        </p:spPr>
        <p:txBody>
          <a:bodyPr wrap="square" lIns="0" tIns="0" rIns="0" bIns="0" rtlCol="0" anchor="ctr"/>
          <a:lstStyle/>
          <a:p>
            <a:pPr marL="0" indent="0" algn="ctr">
              <a:buNone/>
            </a:pPr>
            <a:r>
              <a:rPr lang="en-US" sz="1800" b="1" dirty="0">
                <a:solidFill>
                  <a:srgbClr val="0891B2"/>
                </a:solidFill>
              </a:rPr>
              <a:t>08</a:t>
            </a:r>
            <a:endParaRPr lang="en-US" sz="1800" dirty="0"/>
          </a:p>
        </p:txBody>
      </p:sp>
      <p:sp>
        <p:nvSpPr>
          <p:cNvPr id="5" name="Text 3"/>
          <p:cNvSpPr/>
          <p:nvPr/>
        </p:nvSpPr>
        <p:spPr>
          <a:xfrm>
            <a:off x="1078992" y="73152"/>
            <a:ext cx="7863840" cy="914400"/>
          </a:xfrm>
          <a:prstGeom prst="rect">
            <a:avLst/>
          </a:prstGeom>
          <a:noFill/>
        </p:spPr>
        <p:txBody>
          <a:bodyPr wrap="square" rtlCol="0" anchor="ctr"/>
          <a:lstStyle/>
          <a:p>
            <a:pPr marL="0" indent="0">
              <a:buNone/>
            </a:pPr>
            <a:r>
              <a:rPr lang="en-US" sz="3000" b="1" dirty="0">
                <a:solidFill>
                  <a:srgbClr val="1E3A5F"/>
                </a:solidFill>
                <a:latin typeface="Calibri" panose="020F0502020204030204" pitchFamily="34" charset="0"/>
                <a:ea typeface="Calibri" panose="020F0502020204030204" pitchFamily="34" charset="-122"/>
                <a:cs typeface="Calibri" panose="020F0502020204030204" pitchFamily="34" charset="-120"/>
              </a:rPr>
              <a:t>Mitigation Strategies</a:t>
            </a:r>
            <a:endParaRPr lang="en-US" sz="3000" dirty="0"/>
          </a:p>
        </p:txBody>
      </p:sp>
      <p:sp>
        <p:nvSpPr>
          <p:cNvPr id="6" name="Shape 4"/>
          <p:cNvSpPr/>
          <p:nvPr/>
        </p:nvSpPr>
        <p:spPr>
          <a:xfrm>
            <a:off x="320040" y="1207008"/>
            <a:ext cx="2743200" cy="1572768"/>
          </a:xfrm>
          <a:prstGeom prst="rect">
            <a:avLst/>
          </a:prstGeom>
          <a:solidFill>
            <a:srgbClr val="FFFFFF"/>
          </a:solidFill>
          <a:ln w="12700">
            <a:solidFill>
              <a:srgbClr val="0891B2">
                <a:alpha val="45000"/>
              </a:srgbClr>
            </a:solidFill>
            <a:prstDash val="solid"/>
          </a:ln>
          <a:effectLst>
            <a:outerShdw blurRad="127000" dist="38100" dir="8100000" algn="bl" rotWithShape="0">
              <a:srgbClr val="94A3B8">
                <a:alpha val="18000"/>
              </a:srgbClr>
            </a:outerShdw>
          </a:effectLst>
        </p:spPr>
      </p:sp>
      <p:sp>
        <p:nvSpPr>
          <p:cNvPr id="7" name="Shape 5"/>
          <p:cNvSpPr/>
          <p:nvPr/>
        </p:nvSpPr>
        <p:spPr>
          <a:xfrm>
            <a:off x="320040" y="1207008"/>
            <a:ext cx="2743200" cy="438912"/>
          </a:xfrm>
          <a:prstGeom prst="rect">
            <a:avLst/>
          </a:prstGeom>
          <a:solidFill>
            <a:srgbClr val="0891B2">
              <a:alpha val="18000"/>
            </a:srgbClr>
          </a:solidFill>
          <a:ln w="12700">
            <a:solidFill>
              <a:srgbClr val="0891B2">
                <a:alpha val="18000"/>
              </a:srgbClr>
            </a:solidFill>
            <a:prstDash val="solid"/>
          </a:ln>
        </p:spPr>
      </p:sp>
      <p:sp>
        <p:nvSpPr>
          <p:cNvPr id="8" name="Text 6"/>
          <p:cNvSpPr/>
          <p:nvPr/>
        </p:nvSpPr>
        <p:spPr>
          <a:xfrm>
            <a:off x="429768" y="1207008"/>
            <a:ext cx="2578608" cy="420624"/>
          </a:xfrm>
          <a:prstGeom prst="rect">
            <a:avLst/>
          </a:prstGeom>
          <a:noFill/>
        </p:spPr>
        <p:txBody>
          <a:bodyPr wrap="square" lIns="0" tIns="0" rIns="0" bIns="0" rtlCol="0" anchor="ctr"/>
          <a:lstStyle/>
          <a:p>
            <a:pPr marL="0" indent="0">
              <a:buNone/>
            </a:pPr>
            <a:r>
              <a:rPr lang="en-US" sz="1200" b="1" dirty="0">
                <a:solidFill>
                  <a:srgbClr val="0891B2"/>
                </a:solidFill>
              </a:rPr>
              <a:t>📜  Clear Policies &amp; Roles</a:t>
            </a:r>
            <a:endParaRPr lang="en-US" sz="1200" dirty="0"/>
          </a:p>
        </p:txBody>
      </p:sp>
      <p:sp>
        <p:nvSpPr>
          <p:cNvPr id="9" name="Text 7"/>
          <p:cNvSpPr/>
          <p:nvPr/>
        </p:nvSpPr>
        <p:spPr>
          <a:xfrm>
            <a:off x="429768" y="1709928"/>
            <a:ext cx="2560320" cy="960120"/>
          </a:xfrm>
          <a:prstGeom prst="rect">
            <a:avLst/>
          </a:prstGeom>
          <a:noFill/>
        </p:spPr>
        <p:txBody>
          <a:bodyPr wrap="square" rtlCol="0" anchor="ctr"/>
          <a:lstStyle/>
          <a:p>
            <a:pPr marL="0" indent="0">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Define rules, responsibilities, and accountability structures across the organization.</a:t>
            </a:r>
            <a:endParaRPr lang="en-US" sz="1100" dirty="0"/>
          </a:p>
        </p:txBody>
      </p:sp>
      <p:sp>
        <p:nvSpPr>
          <p:cNvPr id="10" name="Shape 8"/>
          <p:cNvSpPr/>
          <p:nvPr/>
        </p:nvSpPr>
        <p:spPr>
          <a:xfrm>
            <a:off x="3200400" y="1207008"/>
            <a:ext cx="2743200" cy="1572768"/>
          </a:xfrm>
          <a:prstGeom prst="rect">
            <a:avLst/>
          </a:prstGeom>
          <a:solidFill>
            <a:srgbClr val="FFFFFF"/>
          </a:solidFill>
          <a:ln w="12700">
            <a:solidFill>
              <a:srgbClr val="2563EB">
                <a:alpha val="45000"/>
              </a:srgbClr>
            </a:solidFill>
            <a:prstDash val="solid"/>
          </a:ln>
          <a:effectLst>
            <a:outerShdw blurRad="127000" dist="38100" dir="8100000" algn="bl" rotWithShape="0">
              <a:srgbClr val="94A3B8">
                <a:alpha val="18000"/>
              </a:srgbClr>
            </a:outerShdw>
          </a:effectLst>
        </p:spPr>
      </p:sp>
      <p:sp>
        <p:nvSpPr>
          <p:cNvPr id="11" name="Shape 9"/>
          <p:cNvSpPr/>
          <p:nvPr/>
        </p:nvSpPr>
        <p:spPr>
          <a:xfrm>
            <a:off x="3200400" y="1207008"/>
            <a:ext cx="2743200" cy="438912"/>
          </a:xfrm>
          <a:prstGeom prst="rect">
            <a:avLst/>
          </a:prstGeom>
          <a:solidFill>
            <a:srgbClr val="2563EB">
              <a:alpha val="18000"/>
            </a:srgbClr>
          </a:solidFill>
          <a:ln w="12700">
            <a:solidFill>
              <a:srgbClr val="2563EB">
                <a:alpha val="18000"/>
              </a:srgbClr>
            </a:solidFill>
            <a:prstDash val="solid"/>
          </a:ln>
        </p:spPr>
      </p:sp>
      <p:sp>
        <p:nvSpPr>
          <p:cNvPr id="12" name="Text 10"/>
          <p:cNvSpPr/>
          <p:nvPr/>
        </p:nvSpPr>
        <p:spPr>
          <a:xfrm>
            <a:off x="3310128" y="1207008"/>
            <a:ext cx="2578608" cy="420624"/>
          </a:xfrm>
          <a:prstGeom prst="rect">
            <a:avLst/>
          </a:prstGeom>
          <a:noFill/>
        </p:spPr>
        <p:txBody>
          <a:bodyPr wrap="square" lIns="0" tIns="0" rIns="0" bIns="0" rtlCol="0" anchor="ctr"/>
          <a:lstStyle/>
          <a:p>
            <a:pPr marL="0" indent="0">
              <a:buNone/>
            </a:pPr>
            <a:r>
              <a:rPr lang="en-US" sz="1200" b="1" dirty="0">
                <a:solidFill>
                  <a:srgbClr val="2563EB"/>
                </a:solidFill>
              </a:rPr>
              <a:t>🔒  Encryption &amp; Access Control</a:t>
            </a:r>
            <a:endParaRPr lang="en-US" sz="1200" dirty="0"/>
          </a:p>
        </p:txBody>
      </p:sp>
      <p:sp>
        <p:nvSpPr>
          <p:cNvPr id="13" name="Text 11"/>
          <p:cNvSpPr/>
          <p:nvPr/>
        </p:nvSpPr>
        <p:spPr>
          <a:xfrm>
            <a:off x="3310128" y="1709928"/>
            <a:ext cx="2560320" cy="960120"/>
          </a:xfrm>
          <a:prstGeom prst="rect">
            <a:avLst/>
          </a:prstGeom>
          <a:noFill/>
        </p:spPr>
        <p:txBody>
          <a:bodyPr wrap="square" rtlCol="0" anchor="ctr"/>
          <a:lstStyle/>
          <a:p>
            <a:pPr marL="0" indent="0">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Implement encryption and least-privilege access control to protect sensitive systems and data.</a:t>
            </a:r>
            <a:endParaRPr lang="en-US" sz="1100" dirty="0"/>
          </a:p>
        </p:txBody>
      </p:sp>
      <p:sp>
        <p:nvSpPr>
          <p:cNvPr id="14" name="Shape 12"/>
          <p:cNvSpPr/>
          <p:nvPr/>
        </p:nvSpPr>
        <p:spPr>
          <a:xfrm>
            <a:off x="6080760" y="1207008"/>
            <a:ext cx="2743200" cy="1572768"/>
          </a:xfrm>
          <a:prstGeom prst="rect">
            <a:avLst/>
          </a:prstGeom>
          <a:solidFill>
            <a:srgbClr val="FFFFFF"/>
          </a:solidFill>
          <a:ln w="12700">
            <a:solidFill>
              <a:srgbClr val="7C3AED">
                <a:alpha val="45000"/>
              </a:srgbClr>
            </a:solidFill>
            <a:prstDash val="solid"/>
          </a:ln>
          <a:effectLst>
            <a:outerShdw blurRad="127000" dist="38100" dir="8100000" algn="bl" rotWithShape="0">
              <a:srgbClr val="94A3B8">
                <a:alpha val="18000"/>
              </a:srgbClr>
            </a:outerShdw>
          </a:effectLst>
        </p:spPr>
      </p:sp>
      <p:sp>
        <p:nvSpPr>
          <p:cNvPr id="15" name="Shape 13"/>
          <p:cNvSpPr/>
          <p:nvPr/>
        </p:nvSpPr>
        <p:spPr>
          <a:xfrm>
            <a:off x="6080760" y="1207008"/>
            <a:ext cx="2743200" cy="438912"/>
          </a:xfrm>
          <a:prstGeom prst="rect">
            <a:avLst/>
          </a:prstGeom>
          <a:solidFill>
            <a:srgbClr val="7C3AED">
              <a:alpha val="18000"/>
            </a:srgbClr>
          </a:solidFill>
          <a:ln w="12700">
            <a:solidFill>
              <a:srgbClr val="7C3AED">
                <a:alpha val="18000"/>
              </a:srgbClr>
            </a:solidFill>
            <a:prstDash val="solid"/>
          </a:ln>
        </p:spPr>
      </p:sp>
      <p:sp>
        <p:nvSpPr>
          <p:cNvPr id="16" name="Text 14"/>
          <p:cNvSpPr/>
          <p:nvPr/>
        </p:nvSpPr>
        <p:spPr>
          <a:xfrm>
            <a:off x="6190488" y="1207008"/>
            <a:ext cx="2578608" cy="420624"/>
          </a:xfrm>
          <a:prstGeom prst="rect">
            <a:avLst/>
          </a:prstGeom>
          <a:noFill/>
        </p:spPr>
        <p:txBody>
          <a:bodyPr wrap="square" lIns="0" tIns="0" rIns="0" bIns="0" rtlCol="0" anchor="ctr"/>
          <a:lstStyle/>
          <a:p>
            <a:pPr marL="0" indent="0">
              <a:buNone/>
            </a:pPr>
            <a:r>
              <a:rPr lang="en-US" sz="1200" b="1" dirty="0">
                <a:solidFill>
                  <a:srgbClr val="7C3AED"/>
                </a:solidFill>
              </a:rPr>
              <a:t>👁  Human Oversight</a:t>
            </a:r>
            <a:endParaRPr lang="en-US" sz="1200" dirty="0"/>
          </a:p>
        </p:txBody>
      </p:sp>
      <p:sp>
        <p:nvSpPr>
          <p:cNvPr id="17" name="Text 15"/>
          <p:cNvSpPr/>
          <p:nvPr/>
        </p:nvSpPr>
        <p:spPr>
          <a:xfrm>
            <a:off x="6190488" y="1709928"/>
            <a:ext cx="2560320" cy="960120"/>
          </a:xfrm>
          <a:prstGeom prst="rect">
            <a:avLst/>
          </a:prstGeom>
          <a:noFill/>
        </p:spPr>
        <p:txBody>
          <a:bodyPr wrap="square" rtlCol="0" anchor="ctr"/>
          <a:lstStyle/>
          <a:p>
            <a:pPr marL="0" indent="0">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Maintain human-in-the-loop oversight for high-stakes AI decisions and automated processes.</a:t>
            </a:r>
            <a:endParaRPr lang="en-US" sz="1100" dirty="0"/>
          </a:p>
        </p:txBody>
      </p:sp>
      <p:sp>
        <p:nvSpPr>
          <p:cNvPr id="18" name="Shape 16"/>
          <p:cNvSpPr/>
          <p:nvPr/>
        </p:nvSpPr>
        <p:spPr>
          <a:xfrm>
            <a:off x="320040" y="2944368"/>
            <a:ext cx="2743200" cy="1572768"/>
          </a:xfrm>
          <a:prstGeom prst="rect">
            <a:avLst/>
          </a:prstGeom>
          <a:solidFill>
            <a:srgbClr val="FFFFFF"/>
          </a:solidFill>
          <a:ln w="12700">
            <a:solidFill>
              <a:srgbClr val="10B981">
                <a:alpha val="45000"/>
              </a:srgbClr>
            </a:solidFill>
            <a:prstDash val="solid"/>
          </a:ln>
          <a:effectLst>
            <a:outerShdw blurRad="127000" dist="38100" dir="8100000" algn="bl" rotWithShape="0">
              <a:srgbClr val="94A3B8">
                <a:alpha val="18000"/>
              </a:srgbClr>
            </a:outerShdw>
          </a:effectLst>
        </p:spPr>
      </p:sp>
      <p:sp>
        <p:nvSpPr>
          <p:cNvPr id="19" name="Shape 17"/>
          <p:cNvSpPr/>
          <p:nvPr/>
        </p:nvSpPr>
        <p:spPr>
          <a:xfrm>
            <a:off x="320040" y="2944368"/>
            <a:ext cx="2743200" cy="438912"/>
          </a:xfrm>
          <a:prstGeom prst="rect">
            <a:avLst/>
          </a:prstGeom>
          <a:solidFill>
            <a:srgbClr val="10B981">
              <a:alpha val="18000"/>
            </a:srgbClr>
          </a:solidFill>
          <a:ln w="12700">
            <a:solidFill>
              <a:srgbClr val="10B981">
                <a:alpha val="18000"/>
              </a:srgbClr>
            </a:solidFill>
            <a:prstDash val="solid"/>
          </a:ln>
        </p:spPr>
      </p:sp>
      <p:sp>
        <p:nvSpPr>
          <p:cNvPr id="20" name="Text 18"/>
          <p:cNvSpPr/>
          <p:nvPr/>
        </p:nvSpPr>
        <p:spPr>
          <a:xfrm>
            <a:off x="429768" y="2944368"/>
            <a:ext cx="2578608" cy="420624"/>
          </a:xfrm>
          <a:prstGeom prst="rect">
            <a:avLst/>
          </a:prstGeom>
          <a:noFill/>
        </p:spPr>
        <p:txBody>
          <a:bodyPr wrap="square" lIns="0" tIns="0" rIns="0" bIns="0" rtlCol="0" anchor="ctr"/>
          <a:lstStyle/>
          <a:p>
            <a:pPr marL="0" indent="0">
              <a:buNone/>
            </a:pPr>
            <a:r>
              <a:rPr lang="en-US" sz="1200" b="1" dirty="0">
                <a:solidFill>
                  <a:srgbClr val="10B981"/>
                </a:solidFill>
              </a:rPr>
              <a:t>📡  Continuous Monitoring</a:t>
            </a:r>
            <a:endParaRPr lang="en-US" sz="1200" dirty="0"/>
          </a:p>
        </p:txBody>
      </p:sp>
      <p:sp>
        <p:nvSpPr>
          <p:cNvPr id="21" name="Text 19"/>
          <p:cNvSpPr/>
          <p:nvPr/>
        </p:nvSpPr>
        <p:spPr>
          <a:xfrm>
            <a:off x="429768" y="3447288"/>
            <a:ext cx="2560320" cy="960120"/>
          </a:xfrm>
          <a:prstGeom prst="rect">
            <a:avLst/>
          </a:prstGeom>
          <a:noFill/>
        </p:spPr>
        <p:txBody>
          <a:bodyPr wrap="square" rtlCol="0" anchor="ctr"/>
          <a:lstStyle/>
          <a:p>
            <a:pPr marL="0" indent="0">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Real-time monitoring detects anomalies, unauthorized access, and prompt injection attempts.</a:t>
            </a:r>
            <a:endParaRPr lang="en-US" sz="1100" dirty="0"/>
          </a:p>
        </p:txBody>
      </p:sp>
      <p:sp>
        <p:nvSpPr>
          <p:cNvPr id="22" name="Shape 20"/>
          <p:cNvSpPr/>
          <p:nvPr/>
        </p:nvSpPr>
        <p:spPr>
          <a:xfrm>
            <a:off x="3200400" y="2944368"/>
            <a:ext cx="2743200" cy="1572768"/>
          </a:xfrm>
          <a:prstGeom prst="rect">
            <a:avLst/>
          </a:prstGeom>
          <a:solidFill>
            <a:srgbClr val="FFFFFF"/>
          </a:solidFill>
          <a:ln w="12700">
            <a:solidFill>
              <a:srgbClr val="D97706">
                <a:alpha val="45000"/>
              </a:srgbClr>
            </a:solidFill>
            <a:prstDash val="solid"/>
          </a:ln>
          <a:effectLst>
            <a:outerShdw blurRad="127000" dist="38100" dir="8100000" algn="bl" rotWithShape="0">
              <a:srgbClr val="94A3B8">
                <a:alpha val="18000"/>
              </a:srgbClr>
            </a:outerShdw>
          </a:effectLst>
        </p:spPr>
      </p:sp>
      <p:sp>
        <p:nvSpPr>
          <p:cNvPr id="23" name="Shape 21"/>
          <p:cNvSpPr/>
          <p:nvPr/>
        </p:nvSpPr>
        <p:spPr>
          <a:xfrm>
            <a:off x="3200400" y="2944368"/>
            <a:ext cx="2743200" cy="438912"/>
          </a:xfrm>
          <a:prstGeom prst="rect">
            <a:avLst/>
          </a:prstGeom>
          <a:solidFill>
            <a:srgbClr val="D97706">
              <a:alpha val="18000"/>
            </a:srgbClr>
          </a:solidFill>
          <a:ln w="12700">
            <a:solidFill>
              <a:srgbClr val="D97706">
                <a:alpha val="18000"/>
              </a:srgbClr>
            </a:solidFill>
            <a:prstDash val="solid"/>
          </a:ln>
        </p:spPr>
      </p:sp>
      <p:sp>
        <p:nvSpPr>
          <p:cNvPr id="24" name="Text 22"/>
          <p:cNvSpPr/>
          <p:nvPr/>
        </p:nvSpPr>
        <p:spPr>
          <a:xfrm>
            <a:off x="3310128" y="2944368"/>
            <a:ext cx="2578608" cy="420624"/>
          </a:xfrm>
          <a:prstGeom prst="rect">
            <a:avLst/>
          </a:prstGeom>
          <a:noFill/>
        </p:spPr>
        <p:txBody>
          <a:bodyPr wrap="square" lIns="0" tIns="0" rIns="0" bIns="0" rtlCol="0" anchor="ctr"/>
          <a:lstStyle/>
          <a:p>
            <a:pPr marL="0" indent="0">
              <a:buNone/>
            </a:pPr>
            <a:r>
              <a:rPr lang="en-US" sz="1200" b="1" dirty="0">
                <a:solidFill>
                  <a:srgbClr val="D97706"/>
                </a:solidFill>
              </a:rPr>
              <a:t>📋  Framework Alignment</a:t>
            </a:r>
            <a:endParaRPr lang="en-US" sz="1200" dirty="0"/>
          </a:p>
        </p:txBody>
      </p:sp>
      <p:sp>
        <p:nvSpPr>
          <p:cNvPr id="25" name="Text 23"/>
          <p:cNvSpPr/>
          <p:nvPr/>
        </p:nvSpPr>
        <p:spPr>
          <a:xfrm>
            <a:off x="3310128" y="3447288"/>
            <a:ext cx="2560320" cy="960120"/>
          </a:xfrm>
          <a:prstGeom prst="rect">
            <a:avLst/>
          </a:prstGeom>
          <a:noFill/>
        </p:spPr>
        <p:txBody>
          <a:bodyPr wrap="square" rtlCol="0" anchor="ctr"/>
          <a:lstStyle/>
          <a:p>
            <a:pPr marL="0" indent="0">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Align with NIST AI RMF for transparency, fairness, and incident response readiness.</a:t>
            </a:r>
            <a:endParaRPr lang="en-US" sz="1100" dirty="0"/>
          </a:p>
        </p:txBody>
      </p:sp>
      <p:sp>
        <p:nvSpPr>
          <p:cNvPr id="26" name="Shape 24"/>
          <p:cNvSpPr/>
          <p:nvPr/>
        </p:nvSpPr>
        <p:spPr>
          <a:xfrm>
            <a:off x="6080760" y="2944368"/>
            <a:ext cx="2743200" cy="1572768"/>
          </a:xfrm>
          <a:prstGeom prst="rect">
            <a:avLst/>
          </a:prstGeom>
          <a:solidFill>
            <a:srgbClr val="FFFFFF"/>
          </a:solidFill>
          <a:ln w="12700">
            <a:solidFill>
              <a:srgbClr val="DC2626">
                <a:alpha val="45000"/>
              </a:srgbClr>
            </a:solidFill>
            <a:prstDash val="solid"/>
          </a:ln>
          <a:effectLst>
            <a:outerShdw blurRad="127000" dist="38100" dir="8100000" algn="bl" rotWithShape="0">
              <a:srgbClr val="94A3B8">
                <a:alpha val="18000"/>
              </a:srgbClr>
            </a:outerShdw>
          </a:effectLst>
        </p:spPr>
      </p:sp>
      <p:sp>
        <p:nvSpPr>
          <p:cNvPr id="27" name="Shape 25"/>
          <p:cNvSpPr/>
          <p:nvPr/>
        </p:nvSpPr>
        <p:spPr>
          <a:xfrm>
            <a:off x="6080760" y="2944368"/>
            <a:ext cx="2743200" cy="438912"/>
          </a:xfrm>
          <a:prstGeom prst="rect">
            <a:avLst/>
          </a:prstGeom>
          <a:solidFill>
            <a:srgbClr val="DC2626">
              <a:alpha val="18000"/>
            </a:srgbClr>
          </a:solidFill>
          <a:ln w="12700">
            <a:solidFill>
              <a:srgbClr val="DC2626">
                <a:alpha val="18000"/>
              </a:srgbClr>
            </a:solidFill>
            <a:prstDash val="solid"/>
          </a:ln>
        </p:spPr>
      </p:sp>
      <p:sp>
        <p:nvSpPr>
          <p:cNvPr id="28" name="Text 26"/>
          <p:cNvSpPr/>
          <p:nvPr/>
        </p:nvSpPr>
        <p:spPr>
          <a:xfrm>
            <a:off x="6190488" y="2944368"/>
            <a:ext cx="2578608" cy="420624"/>
          </a:xfrm>
          <a:prstGeom prst="rect">
            <a:avLst/>
          </a:prstGeom>
          <a:noFill/>
        </p:spPr>
        <p:txBody>
          <a:bodyPr wrap="square" lIns="0" tIns="0" rIns="0" bIns="0" rtlCol="0" anchor="ctr"/>
          <a:lstStyle/>
          <a:p>
            <a:pPr marL="0" indent="0">
              <a:buNone/>
            </a:pPr>
            <a:r>
              <a:rPr lang="en-US" sz="1200" b="1" dirty="0">
                <a:solidFill>
                  <a:srgbClr val="DC2626"/>
                </a:solidFill>
              </a:rPr>
              <a:t>🔐  Zero Trust Access</a:t>
            </a:r>
            <a:endParaRPr lang="en-US" sz="1200" dirty="0"/>
          </a:p>
        </p:txBody>
      </p:sp>
      <p:sp>
        <p:nvSpPr>
          <p:cNvPr id="29" name="Text 27"/>
          <p:cNvSpPr/>
          <p:nvPr/>
        </p:nvSpPr>
        <p:spPr>
          <a:xfrm>
            <a:off x="6190488" y="3447288"/>
            <a:ext cx="2560320" cy="960120"/>
          </a:xfrm>
          <a:prstGeom prst="rect">
            <a:avLst/>
          </a:prstGeom>
          <a:noFill/>
        </p:spPr>
        <p:txBody>
          <a:bodyPr wrap="square" rtlCol="0" anchor="ctr"/>
          <a:lstStyle/>
          <a:p>
            <a:pPr marL="0" indent="0">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Prioritize data quality, privacy impact assessments, and zero trust controls against leakage.</a:t>
            </a:r>
            <a:endParaRPr lang="en-US" sz="1100" dirty="0"/>
          </a:p>
        </p:txBody>
      </p:sp>
    </p:spTree>
  </p:cSld>
  <p:clrMapOvr>
    <a:masterClrMapping/>
  </p:clrMapOvr>
  <mc:AlternateContent xmlns:mc="http://schemas.openxmlformats.org/markup-compatibility/2006">
    <mc:Choice xmlns:p14="http://schemas.microsoft.com/office/powerpoint/2010/main" Requires="p14">
      <p:transition spd="slow" p14:dur="2200">
        <p14:doors dir="ver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0F7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2563EB">
              <a:alpha val="14000"/>
            </a:srgbClr>
          </a:solidFill>
          <a:ln w="12700">
            <a:solidFill>
              <a:srgbClr val="2563EB">
                <a:alpha val="14000"/>
              </a:srgbClr>
            </a:solidFill>
            <a:prstDash val="solid"/>
          </a:ln>
        </p:spPr>
      </p:sp>
      <p:sp>
        <p:nvSpPr>
          <p:cNvPr id="3" name="Shape 1"/>
          <p:cNvSpPr/>
          <p:nvPr/>
        </p:nvSpPr>
        <p:spPr>
          <a:xfrm>
            <a:off x="274320" y="182880"/>
            <a:ext cx="658368" cy="658368"/>
          </a:xfrm>
          <a:prstGeom prst="ellipse">
            <a:avLst/>
          </a:prstGeom>
          <a:solidFill>
            <a:srgbClr val="2563EB">
              <a:alpha val="45000"/>
            </a:srgbClr>
          </a:solidFill>
          <a:ln w="12700">
            <a:solidFill>
              <a:srgbClr val="2563EB">
                <a:alpha val="45000"/>
              </a:srgbClr>
            </a:solidFill>
            <a:prstDash val="solid"/>
          </a:ln>
        </p:spPr>
      </p:sp>
      <p:sp>
        <p:nvSpPr>
          <p:cNvPr id="4" name="Text 2"/>
          <p:cNvSpPr/>
          <p:nvPr/>
        </p:nvSpPr>
        <p:spPr>
          <a:xfrm>
            <a:off x="274320" y="182880"/>
            <a:ext cx="658368" cy="658368"/>
          </a:xfrm>
          <a:prstGeom prst="rect">
            <a:avLst/>
          </a:prstGeom>
          <a:noFill/>
        </p:spPr>
        <p:txBody>
          <a:bodyPr wrap="square" lIns="0" tIns="0" rIns="0" bIns="0" rtlCol="0" anchor="ctr"/>
          <a:lstStyle/>
          <a:p>
            <a:pPr marL="0" indent="0" algn="ctr">
              <a:buNone/>
            </a:pPr>
            <a:r>
              <a:rPr lang="en-US" sz="1800" b="1" dirty="0">
                <a:solidFill>
                  <a:srgbClr val="2563EB"/>
                </a:solidFill>
              </a:rPr>
              <a:t>09</a:t>
            </a:r>
            <a:endParaRPr lang="en-US" sz="1800" dirty="0"/>
          </a:p>
        </p:txBody>
      </p:sp>
      <p:sp>
        <p:nvSpPr>
          <p:cNvPr id="5" name="Text 3"/>
          <p:cNvSpPr/>
          <p:nvPr/>
        </p:nvSpPr>
        <p:spPr>
          <a:xfrm>
            <a:off x="1078992" y="73152"/>
            <a:ext cx="7863840" cy="914400"/>
          </a:xfrm>
          <a:prstGeom prst="rect">
            <a:avLst/>
          </a:prstGeom>
          <a:noFill/>
        </p:spPr>
        <p:txBody>
          <a:bodyPr wrap="square" rtlCol="0" anchor="ctr"/>
          <a:lstStyle/>
          <a:p>
            <a:pPr marL="0" indent="0">
              <a:buNone/>
            </a:pPr>
            <a:r>
              <a:rPr lang="en-US" sz="3000" b="1" dirty="0">
                <a:solidFill>
                  <a:srgbClr val="1E3A5F"/>
                </a:solidFill>
                <a:latin typeface="Calibri" panose="020F0502020204030204" pitchFamily="34" charset="0"/>
                <a:ea typeface="Calibri" panose="020F0502020204030204" pitchFamily="34" charset="-122"/>
                <a:cs typeface="Calibri" panose="020F0502020204030204" pitchFamily="34" charset="-120"/>
              </a:rPr>
              <a:t>NIST AI RMF</a:t>
            </a:r>
            <a:endParaRPr lang="en-US" sz="3000" dirty="0"/>
          </a:p>
        </p:txBody>
      </p:sp>
      <p:sp>
        <p:nvSpPr>
          <p:cNvPr id="6" name="Shape 4"/>
          <p:cNvSpPr/>
          <p:nvPr/>
        </p:nvSpPr>
        <p:spPr>
          <a:xfrm>
            <a:off x="320040" y="1170432"/>
            <a:ext cx="8503920" cy="594360"/>
          </a:xfrm>
          <a:prstGeom prst="rect">
            <a:avLst/>
          </a:prstGeom>
          <a:solidFill>
            <a:srgbClr val="2563EB">
              <a:alpha val="12000"/>
            </a:srgbClr>
          </a:solidFill>
          <a:ln w="12700">
            <a:solidFill>
              <a:srgbClr val="2563EB">
                <a:alpha val="25000"/>
              </a:srgbClr>
            </a:solidFill>
            <a:prstDash val="solid"/>
          </a:ln>
        </p:spPr>
      </p:sp>
      <p:sp>
        <p:nvSpPr>
          <p:cNvPr id="7" name="Text 5"/>
          <p:cNvSpPr/>
          <p:nvPr/>
        </p:nvSpPr>
        <p:spPr>
          <a:xfrm>
            <a:off x="475488" y="1207008"/>
            <a:ext cx="8321040" cy="530352"/>
          </a:xfrm>
          <a:prstGeom prst="rect">
            <a:avLst/>
          </a:prstGeom>
          <a:noFill/>
        </p:spPr>
        <p:txBody>
          <a:bodyPr wrap="square" rtlCol="0" anchor="ctr"/>
          <a:lstStyle/>
          <a:p>
            <a:pPr marL="0" indent="0">
              <a:buNone/>
            </a:pPr>
            <a:r>
              <a:rPr lang="en-US" sz="1200" i="1" dirty="0">
                <a:solidFill>
                  <a:srgbClr val="2563EB"/>
                </a:solidFill>
                <a:latin typeface="Calibri" panose="020F0502020204030204" pitchFamily="34" charset="0"/>
                <a:ea typeface="Calibri" panose="020F0502020204030204" pitchFamily="34" charset="-122"/>
                <a:cs typeface="Calibri" panose="020F0502020204030204" pitchFamily="34" charset="-120"/>
              </a:rPr>
              <a:t>National Institute of Standards and Technology — AI Risk Management Framework</a:t>
            </a:r>
            <a:endParaRPr lang="en-US" sz="1200" dirty="0"/>
          </a:p>
        </p:txBody>
      </p:sp>
      <p:sp>
        <p:nvSpPr>
          <p:cNvPr id="8" name="Shape 6"/>
          <p:cNvSpPr/>
          <p:nvPr/>
        </p:nvSpPr>
        <p:spPr>
          <a:xfrm>
            <a:off x="320040" y="1901952"/>
            <a:ext cx="4023360" cy="2880360"/>
          </a:xfrm>
          <a:prstGeom prst="rect">
            <a:avLst/>
          </a:prstGeom>
          <a:solidFill>
            <a:srgbClr val="FFFFFF"/>
          </a:solidFill>
          <a:ln w="12700">
            <a:solidFill>
              <a:srgbClr val="2563EB">
                <a:alpha val="45000"/>
              </a:srgbClr>
            </a:solidFill>
            <a:prstDash val="solid"/>
          </a:ln>
          <a:effectLst>
            <a:outerShdw blurRad="127000" dist="38100" dir="8100000" algn="bl" rotWithShape="0">
              <a:srgbClr val="94A3B8">
                <a:alpha val="18000"/>
              </a:srgbClr>
            </a:outerShdw>
          </a:effectLst>
        </p:spPr>
      </p:sp>
      <p:sp>
        <p:nvSpPr>
          <p:cNvPr id="9" name="Text 7"/>
          <p:cNvSpPr/>
          <p:nvPr/>
        </p:nvSpPr>
        <p:spPr>
          <a:xfrm>
            <a:off x="475488" y="1956816"/>
            <a:ext cx="3794760" cy="365760"/>
          </a:xfrm>
          <a:prstGeom prst="rect">
            <a:avLst/>
          </a:prstGeom>
          <a:noFill/>
        </p:spPr>
        <p:txBody>
          <a:bodyPr wrap="square" rtlCol="0" anchor="ctr"/>
          <a:lstStyle/>
          <a:p>
            <a:pPr marL="0" indent="0">
              <a:buNone/>
            </a:pPr>
            <a:r>
              <a:rPr lang="en-US" sz="1400" b="1" dirty="0">
                <a:solidFill>
                  <a:srgbClr val="2563EB"/>
                </a:solidFill>
                <a:latin typeface="Calibri" panose="020F0502020204030204" pitchFamily="34" charset="0"/>
                <a:ea typeface="Calibri" panose="020F0502020204030204" pitchFamily="34" charset="-122"/>
                <a:cs typeface="Calibri" panose="020F0502020204030204" pitchFamily="34" charset="-120"/>
              </a:rPr>
              <a:t>What is it?</a:t>
            </a:r>
            <a:endParaRPr lang="en-US" sz="1400" dirty="0"/>
          </a:p>
        </p:txBody>
      </p:sp>
      <p:sp>
        <p:nvSpPr>
          <p:cNvPr id="10" name="Text 8"/>
          <p:cNvSpPr/>
          <p:nvPr/>
        </p:nvSpPr>
        <p:spPr>
          <a:xfrm>
            <a:off x="475488" y="2395728"/>
            <a:ext cx="3794760" cy="2240280"/>
          </a:xfrm>
          <a:prstGeom prst="rect">
            <a:avLst/>
          </a:prstGeom>
          <a:noFill/>
        </p:spPr>
        <p:txBody>
          <a:bodyPr wrap="square" rtlCol="0" anchor="ctr"/>
          <a:lstStyle/>
          <a:p>
            <a:pPr marL="0" indent="0">
              <a:buNone/>
            </a:pP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A guide by NIST to help organizations build and use AI responsibly. It is not a strict law more like a flexible set of steps for finding, estimating, controlling, and monitoring AI-related risks early, before any major catastrophe occurs.</a:t>
            </a:r>
            <a:endParaRPr lang="en-US" sz="1200" dirty="0"/>
          </a:p>
        </p:txBody>
      </p:sp>
      <p:sp>
        <p:nvSpPr>
          <p:cNvPr id="11" name="Shape 9"/>
          <p:cNvSpPr/>
          <p:nvPr/>
        </p:nvSpPr>
        <p:spPr>
          <a:xfrm>
            <a:off x="4709160" y="1901952"/>
            <a:ext cx="4114800" cy="2880360"/>
          </a:xfrm>
          <a:prstGeom prst="rect">
            <a:avLst/>
          </a:prstGeom>
          <a:solidFill>
            <a:srgbClr val="FFFFFF"/>
          </a:solidFill>
          <a:ln w="12700">
            <a:solidFill>
              <a:srgbClr val="0891B2">
                <a:alpha val="45000"/>
              </a:srgbClr>
            </a:solidFill>
            <a:prstDash val="solid"/>
          </a:ln>
          <a:effectLst>
            <a:outerShdw blurRad="127000" dist="38100" dir="8100000" algn="bl" rotWithShape="0">
              <a:srgbClr val="94A3B8">
                <a:alpha val="18000"/>
              </a:srgbClr>
            </a:outerShdw>
          </a:effectLst>
        </p:spPr>
      </p:sp>
      <p:sp>
        <p:nvSpPr>
          <p:cNvPr id="12" name="Text 10"/>
          <p:cNvSpPr/>
          <p:nvPr/>
        </p:nvSpPr>
        <p:spPr>
          <a:xfrm>
            <a:off x="4864608" y="1956816"/>
            <a:ext cx="3840480" cy="365760"/>
          </a:xfrm>
          <a:prstGeom prst="rect">
            <a:avLst/>
          </a:prstGeom>
          <a:noFill/>
        </p:spPr>
        <p:txBody>
          <a:bodyPr wrap="square" rtlCol="0" anchor="ctr"/>
          <a:lstStyle/>
          <a:p>
            <a:pPr marL="0" indent="0">
              <a:buNone/>
            </a:pPr>
            <a:r>
              <a:rPr lang="en-US" sz="1400" b="1" dirty="0">
                <a:solidFill>
                  <a:srgbClr val="0891B2"/>
                </a:solidFill>
                <a:latin typeface="Calibri" panose="020F0502020204030204" pitchFamily="34" charset="0"/>
                <a:ea typeface="Calibri" panose="020F0502020204030204" pitchFamily="34" charset="-122"/>
                <a:cs typeface="Calibri" panose="020F0502020204030204" pitchFamily="34" charset="-120"/>
              </a:rPr>
              <a:t>Who can use it?</a:t>
            </a:r>
            <a:endParaRPr lang="en-US" sz="1400" dirty="0"/>
          </a:p>
        </p:txBody>
      </p:sp>
      <p:sp>
        <p:nvSpPr>
          <p:cNvPr id="13" name="Text 11"/>
          <p:cNvSpPr/>
          <p:nvPr/>
        </p:nvSpPr>
        <p:spPr>
          <a:xfrm>
            <a:off x="4864608" y="2395728"/>
            <a:ext cx="3840480" cy="2240280"/>
          </a:xfrm>
          <a:prstGeom prst="rect">
            <a:avLst/>
          </a:prstGeom>
          <a:noFill/>
        </p:spPr>
        <p:txBody>
          <a:bodyPr wrap="square" rtlCol="0" anchor="ctr"/>
          <a:lstStyle/>
          <a:p>
            <a:pPr marL="0" indent="0">
              <a:buNone/>
            </a:pP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 Companies
</a:t>
            </a:r>
            <a:endParaRPr lang="en-US" sz="1200" dirty="0"/>
          </a:p>
          <a:p>
            <a:pPr marL="0" indent="0">
              <a:buNone/>
            </a:pP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 Schools &amp; Universities
</a:t>
            </a:r>
            <a:endParaRPr lang="en-US" sz="1200" dirty="0"/>
          </a:p>
          <a:p>
            <a:pPr marL="0" indent="0">
              <a:buNone/>
            </a:pP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 Government Institutions
</a:t>
            </a:r>
            <a:endParaRPr lang="en-US" sz="1200" dirty="0"/>
          </a:p>
          <a:p>
            <a:pPr marL="0" indent="0">
              <a:buNone/>
            </a:pP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The framework is flexible organizations of any size and sector can adapt it to their own situation while still supporting innovation and accountability.</a:t>
            </a:r>
            <a:endParaRPr lang="en-US" sz="1200" dirty="0"/>
          </a:p>
        </p:txBody>
      </p:sp>
    </p:spTree>
  </p:cSld>
  <p:clrMapOvr>
    <a:masterClrMapping/>
  </p:clrMapOvr>
  <mc:AlternateContent xmlns:mc="http://schemas.openxmlformats.org/markup-compatibility/2006">
    <mc:Choice xmlns:p14="http://schemas.microsoft.com/office/powerpoint/2010/main" Requires="p14">
      <p:transition spd="slow" p14:dur="1879">
        <p:dissolve/>
      </p:transition>
    </mc:Choice>
    <mc:Fallback>
      <p:transition spd="slow">
        <p:dissolv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0F7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2563EB">
              <a:alpha val="14000"/>
            </a:srgbClr>
          </a:solidFill>
          <a:ln w="12700">
            <a:solidFill>
              <a:srgbClr val="2563EB">
                <a:alpha val="14000"/>
              </a:srgbClr>
            </a:solidFill>
            <a:prstDash val="solid"/>
          </a:ln>
        </p:spPr>
      </p:sp>
      <p:sp>
        <p:nvSpPr>
          <p:cNvPr id="3" name="Shape 1"/>
          <p:cNvSpPr/>
          <p:nvPr/>
        </p:nvSpPr>
        <p:spPr>
          <a:xfrm>
            <a:off x="274320" y="182880"/>
            <a:ext cx="658368" cy="658368"/>
          </a:xfrm>
          <a:prstGeom prst="ellipse">
            <a:avLst/>
          </a:prstGeom>
          <a:solidFill>
            <a:srgbClr val="2563EB">
              <a:alpha val="45000"/>
            </a:srgbClr>
          </a:solidFill>
          <a:ln w="12700">
            <a:solidFill>
              <a:srgbClr val="2563EB">
                <a:alpha val="45000"/>
              </a:srgbClr>
            </a:solidFill>
            <a:prstDash val="solid"/>
          </a:ln>
        </p:spPr>
      </p:sp>
      <p:sp>
        <p:nvSpPr>
          <p:cNvPr id="4" name="Text 2"/>
          <p:cNvSpPr/>
          <p:nvPr/>
        </p:nvSpPr>
        <p:spPr>
          <a:xfrm>
            <a:off x="274320" y="182880"/>
            <a:ext cx="658368" cy="658368"/>
          </a:xfrm>
          <a:prstGeom prst="rect">
            <a:avLst/>
          </a:prstGeom>
          <a:noFill/>
        </p:spPr>
        <p:txBody>
          <a:bodyPr wrap="square" lIns="0" tIns="0" rIns="0" bIns="0" rtlCol="0" anchor="ctr"/>
          <a:lstStyle/>
          <a:p>
            <a:pPr marL="0" indent="0" algn="ctr">
              <a:buNone/>
            </a:pPr>
            <a:r>
              <a:rPr lang="en-US" sz="1800" b="1" dirty="0">
                <a:solidFill>
                  <a:srgbClr val="2563EB"/>
                </a:solidFill>
              </a:rPr>
              <a:t>10</a:t>
            </a:r>
            <a:endParaRPr lang="en-US" sz="1800" dirty="0"/>
          </a:p>
        </p:txBody>
      </p:sp>
      <p:sp>
        <p:nvSpPr>
          <p:cNvPr id="5" name="Text 3"/>
          <p:cNvSpPr/>
          <p:nvPr/>
        </p:nvSpPr>
        <p:spPr>
          <a:xfrm>
            <a:off x="1078992" y="73152"/>
            <a:ext cx="7863840" cy="914400"/>
          </a:xfrm>
          <a:prstGeom prst="rect">
            <a:avLst/>
          </a:prstGeom>
          <a:noFill/>
        </p:spPr>
        <p:txBody>
          <a:bodyPr wrap="square" rtlCol="0" anchor="ctr"/>
          <a:lstStyle/>
          <a:p>
            <a:pPr marL="0" indent="0">
              <a:buNone/>
            </a:pPr>
            <a:r>
              <a:rPr lang="en-US" sz="3000" b="1" dirty="0">
                <a:solidFill>
                  <a:srgbClr val="1E3A5F"/>
                </a:solidFill>
                <a:latin typeface="Calibri" panose="020F0502020204030204" pitchFamily="34" charset="0"/>
                <a:ea typeface="Calibri" panose="020F0502020204030204" pitchFamily="34" charset="-122"/>
                <a:cs typeface="Calibri" panose="020F0502020204030204" pitchFamily="34" charset="-120"/>
              </a:rPr>
              <a:t>Main Objectives of NIST AI RMF</a:t>
            </a:r>
            <a:endParaRPr lang="en-US" sz="3000" dirty="0"/>
          </a:p>
        </p:txBody>
      </p:sp>
      <p:sp>
        <p:nvSpPr>
          <p:cNvPr id="6" name="Shape 4"/>
          <p:cNvSpPr/>
          <p:nvPr/>
        </p:nvSpPr>
        <p:spPr>
          <a:xfrm>
            <a:off x="320040" y="1188720"/>
            <a:ext cx="1993392" cy="3566160"/>
          </a:xfrm>
          <a:prstGeom prst="rect">
            <a:avLst/>
          </a:prstGeom>
          <a:solidFill>
            <a:srgbClr val="FFFFFF"/>
          </a:solidFill>
          <a:ln w="12700">
            <a:solidFill>
              <a:srgbClr val="2563EB">
                <a:alpha val="45000"/>
              </a:srgbClr>
            </a:solidFill>
            <a:prstDash val="solid"/>
          </a:ln>
          <a:effectLst>
            <a:outerShdw blurRad="127000" dist="38100" dir="8100000" algn="bl" rotWithShape="0">
              <a:srgbClr val="94A3B8">
                <a:alpha val="18000"/>
              </a:srgbClr>
            </a:outerShdw>
          </a:effectLst>
        </p:spPr>
      </p:sp>
      <p:sp>
        <p:nvSpPr>
          <p:cNvPr id="7" name="Shape 5"/>
          <p:cNvSpPr/>
          <p:nvPr/>
        </p:nvSpPr>
        <p:spPr>
          <a:xfrm>
            <a:off x="320040" y="1188720"/>
            <a:ext cx="1993392" cy="502920"/>
          </a:xfrm>
          <a:prstGeom prst="rect">
            <a:avLst/>
          </a:prstGeom>
          <a:solidFill>
            <a:srgbClr val="2563EB">
              <a:alpha val="20000"/>
            </a:srgbClr>
          </a:solidFill>
          <a:ln w="12700">
            <a:solidFill>
              <a:srgbClr val="2563EB">
                <a:alpha val="20000"/>
              </a:srgbClr>
            </a:solidFill>
            <a:prstDash val="solid"/>
          </a:ln>
        </p:spPr>
      </p:sp>
      <p:sp>
        <p:nvSpPr>
          <p:cNvPr id="8" name="Text 6"/>
          <p:cNvSpPr/>
          <p:nvPr/>
        </p:nvSpPr>
        <p:spPr>
          <a:xfrm>
            <a:off x="320040" y="1216152"/>
            <a:ext cx="1993392" cy="457200"/>
          </a:xfrm>
          <a:prstGeom prst="rect">
            <a:avLst/>
          </a:prstGeom>
          <a:noFill/>
        </p:spPr>
        <p:txBody>
          <a:bodyPr wrap="square" lIns="0" tIns="0" rIns="0" bIns="0" rtlCol="0" anchor="ctr"/>
          <a:lstStyle/>
          <a:p>
            <a:pPr marL="0" indent="0" algn="ctr">
              <a:buNone/>
            </a:pPr>
            <a:r>
              <a:rPr lang="en-US" sz="1400" b="1" kern="0" spc="300" dirty="0">
                <a:solidFill>
                  <a:srgbClr val="2563EB"/>
                </a:solidFill>
              </a:rPr>
              <a:t>GOVERN</a:t>
            </a:r>
            <a:endParaRPr lang="en-US" sz="1400" dirty="0"/>
          </a:p>
        </p:txBody>
      </p:sp>
      <p:sp>
        <p:nvSpPr>
          <p:cNvPr id="9" name="Shape 7"/>
          <p:cNvSpPr/>
          <p:nvPr/>
        </p:nvSpPr>
        <p:spPr>
          <a:xfrm>
            <a:off x="859536" y="1874520"/>
            <a:ext cx="914400" cy="914400"/>
          </a:xfrm>
          <a:prstGeom prst="ellipse">
            <a:avLst/>
          </a:prstGeom>
          <a:solidFill>
            <a:srgbClr val="2563EB">
              <a:alpha val="18000"/>
            </a:srgbClr>
          </a:solidFill>
          <a:ln w="12700">
            <a:solidFill>
              <a:srgbClr val="2563EB">
                <a:alpha val="18000"/>
              </a:srgbClr>
            </a:solidFill>
            <a:prstDash val="solid"/>
          </a:ln>
        </p:spPr>
      </p:sp>
      <p:sp>
        <p:nvSpPr>
          <p:cNvPr id="10" name="Text 8"/>
          <p:cNvSpPr/>
          <p:nvPr/>
        </p:nvSpPr>
        <p:spPr>
          <a:xfrm>
            <a:off x="859536" y="1901952"/>
            <a:ext cx="914400" cy="859536"/>
          </a:xfrm>
          <a:prstGeom prst="rect">
            <a:avLst/>
          </a:prstGeom>
          <a:noFill/>
        </p:spPr>
        <p:txBody>
          <a:bodyPr wrap="square" lIns="0" tIns="0" rIns="0" bIns="0" rtlCol="0" anchor="ctr"/>
          <a:lstStyle/>
          <a:p>
            <a:pPr marL="0" indent="0" algn="ctr">
              <a:buNone/>
            </a:pPr>
            <a:r>
              <a:rPr lang="en-US" sz="3000" dirty="0">
                <a:solidFill>
                  <a:srgbClr val="000000"/>
                </a:solidFill>
              </a:rPr>
              <a:t>🏛</a:t>
            </a:r>
            <a:endParaRPr lang="en-US" sz="3000" dirty="0"/>
          </a:p>
        </p:txBody>
      </p:sp>
      <p:sp>
        <p:nvSpPr>
          <p:cNvPr id="11" name="Text 9"/>
          <p:cNvSpPr/>
          <p:nvPr/>
        </p:nvSpPr>
        <p:spPr>
          <a:xfrm>
            <a:off x="429768" y="2926080"/>
            <a:ext cx="1828800" cy="1691640"/>
          </a:xfrm>
          <a:prstGeom prst="rect">
            <a:avLst/>
          </a:prstGeom>
          <a:noFill/>
        </p:spPr>
        <p:txBody>
          <a:bodyPr wrap="square" rtlCol="0" anchor="ctr"/>
          <a:lstStyle/>
          <a:p>
            <a:pPr marL="0" indent="0" algn="ctr">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Establishes organizational culture, policies, accountability, and oversight for responsible AI risk management.</a:t>
            </a:r>
            <a:endParaRPr lang="en-US" sz="1100" dirty="0"/>
          </a:p>
        </p:txBody>
      </p:sp>
      <p:sp>
        <p:nvSpPr>
          <p:cNvPr id="12" name="Shape 10"/>
          <p:cNvSpPr/>
          <p:nvPr/>
        </p:nvSpPr>
        <p:spPr>
          <a:xfrm>
            <a:off x="2468880" y="1188720"/>
            <a:ext cx="1993392" cy="3566160"/>
          </a:xfrm>
          <a:prstGeom prst="rect">
            <a:avLst/>
          </a:prstGeom>
          <a:solidFill>
            <a:srgbClr val="FFFFFF"/>
          </a:solidFill>
          <a:ln w="12700">
            <a:solidFill>
              <a:srgbClr val="0891B2">
                <a:alpha val="45000"/>
              </a:srgbClr>
            </a:solidFill>
            <a:prstDash val="solid"/>
          </a:ln>
          <a:effectLst>
            <a:outerShdw blurRad="127000" dist="38100" dir="8100000" algn="bl" rotWithShape="0">
              <a:srgbClr val="94A3B8">
                <a:alpha val="18000"/>
              </a:srgbClr>
            </a:outerShdw>
          </a:effectLst>
        </p:spPr>
      </p:sp>
      <p:sp>
        <p:nvSpPr>
          <p:cNvPr id="13" name="Shape 11"/>
          <p:cNvSpPr/>
          <p:nvPr/>
        </p:nvSpPr>
        <p:spPr>
          <a:xfrm>
            <a:off x="2468880" y="1188720"/>
            <a:ext cx="1993392" cy="502920"/>
          </a:xfrm>
          <a:prstGeom prst="rect">
            <a:avLst/>
          </a:prstGeom>
          <a:solidFill>
            <a:srgbClr val="0891B2">
              <a:alpha val="20000"/>
            </a:srgbClr>
          </a:solidFill>
          <a:ln w="12700">
            <a:solidFill>
              <a:srgbClr val="0891B2">
                <a:alpha val="20000"/>
              </a:srgbClr>
            </a:solidFill>
            <a:prstDash val="solid"/>
          </a:ln>
        </p:spPr>
      </p:sp>
      <p:sp>
        <p:nvSpPr>
          <p:cNvPr id="14" name="Text 12"/>
          <p:cNvSpPr/>
          <p:nvPr/>
        </p:nvSpPr>
        <p:spPr>
          <a:xfrm>
            <a:off x="2468880" y="1216152"/>
            <a:ext cx="1993392" cy="457200"/>
          </a:xfrm>
          <a:prstGeom prst="rect">
            <a:avLst/>
          </a:prstGeom>
          <a:noFill/>
        </p:spPr>
        <p:txBody>
          <a:bodyPr wrap="square" lIns="0" tIns="0" rIns="0" bIns="0" rtlCol="0" anchor="ctr"/>
          <a:lstStyle/>
          <a:p>
            <a:pPr marL="0" indent="0" algn="ctr">
              <a:buNone/>
            </a:pPr>
            <a:r>
              <a:rPr lang="en-US" sz="1400" b="1" kern="0" spc="300" dirty="0">
                <a:solidFill>
                  <a:srgbClr val="0891B2"/>
                </a:solidFill>
              </a:rPr>
              <a:t>MAP</a:t>
            </a:r>
            <a:endParaRPr lang="en-US" sz="1400" dirty="0"/>
          </a:p>
        </p:txBody>
      </p:sp>
      <p:sp>
        <p:nvSpPr>
          <p:cNvPr id="15" name="Shape 13"/>
          <p:cNvSpPr/>
          <p:nvPr/>
        </p:nvSpPr>
        <p:spPr>
          <a:xfrm>
            <a:off x="3008376" y="1874520"/>
            <a:ext cx="914400" cy="914400"/>
          </a:xfrm>
          <a:prstGeom prst="ellipse">
            <a:avLst/>
          </a:prstGeom>
          <a:solidFill>
            <a:srgbClr val="0891B2">
              <a:alpha val="18000"/>
            </a:srgbClr>
          </a:solidFill>
          <a:ln w="12700">
            <a:solidFill>
              <a:srgbClr val="0891B2">
                <a:alpha val="18000"/>
              </a:srgbClr>
            </a:solidFill>
            <a:prstDash val="solid"/>
          </a:ln>
        </p:spPr>
      </p:sp>
      <p:sp>
        <p:nvSpPr>
          <p:cNvPr id="16" name="Text 14"/>
          <p:cNvSpPr/>
          <p:nvPr/>
        </p:nvSpPr>
        <p:spPr>
          <a:xfrm>
            <a:off x="3008376" y="1901952"/>
            <a:ext cx="914400" cy="859536"/>
          </a:xfrm>
          <a:prstGeom prst="rect">
            <a:avLst/>
          </a:prstGeom>
          <a:noFill/>
        </p:spPr>
        <p:txBody>
          <a:bodyPr wrap="square" lIns="0" tIns="0" rIns="0" bIns="0" rtlCol="0" anchor="ctr"/>
          <a:lstStyle/>
          <a:p>
            <a:pPr marL="0" indent="0" algn="ctr">
              <a:buNone/>
            </a:pPr>
            <a:r>
              <a:rPr lang="en-US" sz="3000" dirty="0">
                <a:solidFill>
                  <a:srgbClr val="000000"/>
                </a:solidFill>
              </a:rPr>
              <a:t>🗺</a:t>
            </a:r>
            <a:endParaRPr lang="en-US" sz="3000" dirty="0"/>
          </a:p>
        </p:txBody>
      </p:sp>
      <p:sp>
        <p:nvSpPr>
          <p:cNvPr id="17" name="Text 15"/>
          <p:cNvSpPr/>
          <p:nvPr/>
        </p:nvSpPr>
        <p:spPr>
          <a:xfrm>
            <a:off x="2578608" y="2926080"/>
            <a:ext cx="1828800" cy="1691640"/>
          </a:xfrm>
          <a:prstGeom prst="rect">
            <a:avLst/>
          </a:prstGeom>
          <a:noFill/>
        </p:spPr>
        <p:txBody>
          <a:bodyPr wrap="square" rtlCol="0" anchor="ctr"/>
          <a:lstStyle/>
          <a:p>
            <a:pPr marL="0" indent="0" algn="ctr">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Identifies the context, intended purpose, and potential risks of AI systems across their full life cycle.</a:t>
            </a:r>
            <a:endParaRPr lang="en-US" sz="1100" dirty="0"/>
          </a:p>
        </p:txBody>
      </p:sp>
      <p:sp>
        <p:nvSpPr>
          <p:cNvPr id="18" name="Shape 16"/>
          <p:cNvSpPr/>
          <p:nvPr/>
        </p:nvSpPr>
        <p:spPr>
          <a:xfrm>
            <a:off x="4617720" y="1188720"/>
            <a:ext cx="1993392" cy="3566160"/>
          </a:xfrm>
          <a:prstGeom prst="rect">
            <a:avLst/>
          </a:prstGeom>
          <a:solidFill>
            <a:srgbClr val="FFFFFF"/>
          </a:solidFill>
          <a:ln w="12700">
            <a:solidFill>
              <a:srgbClr val="7C3AED">
                <a:alpha val="45000"/>
              </a:srgbClr>
            </a:solidFill>
            <a:prstDash val="solid"/>
          </a:ln>
          <a:effectLst>
            <a:outerShdw blurRad="127000" dist="38100" dir="8100000" algn="bl" rotWithShape="0">
              <a:srgbClr val="94A3B8">
                <a:alpha val="18000"/>
              </a:srgbClr>
            </a:outerShdw>
          </a:effectLst>
        </p:spPr>
      </p:sp>
      <p:sp>
        <p:nvSpPr>
          <p:cNvPr id="19" name="Shape 17"/>
          <p:cNvSpPr/>
          <p:nvPr/>
        </p:nvSpPr>
        <p:spPr>
          <a:xfrm>
            <a:off x="4617720" y="1188720"/>
            <a:ext cx="1993392" cy="502920"/>
          </a:xfrm>
          <a:prstGeom prst="rect">
            <a:avLst/>
          </a:prstGeom>
          <a:solidFill>
            <a:srgbClr val="7C3AED">
              <a:alpha val="20000"/>
            </a:srgbClr>
          </a:solidFill>
          <a:ln w="12700">
            <a:solidFill>
              <a:srgbClr val="7C3AED">
                <a:alpha val="20000"/>
              </a:srgbClr>
            </a:solidFill>
            <a:prstDash val="solid"/>
          </a:ln>
        </p:spPr>
      </p:sp>
      <p:sp>
        <p:nvSpPr>
          <p:cNvPr id="20" name="Text 18"/>
          <p:cNvSpPr/>
          <p:nvPr/>
        </p:nvSpPr>
        <p:spPr>
          <a:xfrm>
            <a:off x="4617720" y="1216152"/>
            <a:ext cx="1993392" cy="457200"/>
          </a:xfrm>
          <a:prstGeom prst="rect">
            <a:avLst/>
          </a:prstGeom>
          <a:noFill/>
        </p:spPr>
        <p:txBody>
          <a:bodyPr wrap="square" lIns="0" tIns="0" rIns="0" bIns="0" rtlCol="0" anchor="ctr"/>
          <a:lstStyle/>
          <a:p>
            <a:pPr marL="0" indent="0" algn="ctr">
              <a:buNone/>
            </a:pPr>
            <a:r>
              <a:rPr lang="en-US" sz="1400" b="1" kern="0" spc="300" dirty="0">
                <a:solidFill>
                  <a:srgbClr val="7C3AED"/>
                </a:solidFill>
              </a:rPr>
              <a:t>MEASURE</a:t>
            </a:r>
            <a:endParaRPr lang="en-US" sz="1400" dirty="0"/>
          </a:p>
        </p:txBody>
      </p:sp>
      <p:sp>
        <p:nvSpPr>
          <p:cNvPr id="21" name="Shape 19"/>
          <p:cNvSpPr/>
          <p:nvPr/>
        </p:nvSpPr>
        <p:spPr>
          <a:xfrm>
            <a:off x="5157216" y="1874520"/>
            <a:ext cx="914400" cy="914400"/>
          </a:xfrm>
          <a:prstGeom prst="ellipse">
            <a:avLst/>
          </a:prstGeom>
          <a:solidFill>
            <a:srgbClr val="7C3AED">
              <a:alpha val="18000"/>
            </a:srgbClr>
          </a:solidFill>
          <a:ln w="12700">
            <a:solidFill>
              <a:srgbClr val="7C3AED">
                <a:alpha val="18000"/>
              </a:srgbClr>
            </a:solidFill>
            <a:prstDash val="solid"/>
          </a:ln>
        </p:spPr>
      </p:sp>
      <p:sp>
        <p:nvSpPr>
          <p:cNvPr id="22" name="Text 20"/>
          <p:cNvSpPr/>
          <p:nvPr/>
        </p:nvSpPr>
        <p:spPr>
          <a:xfrm>
            <a:off x="5157216" y="1901952"/>
            <a:ext cx="914400" cy="859536"/>
          </a:xfrm>
          <a:prstGeom prst="rect">
            <a:avLst/>
          </a:prstGeom>
          <a:noFill/>
        </p:spPr>
        <p:txBody>
          <a:bodyPr wrap="square" lIns="0" tIns="0" rIns="0" bIns="0" rtlCol="0" anchor="ctr"/>
          <a:lstStyle/>
          <a:p>
            <a:pPr marL="0" indent="0" algn="ctr">
              <a:buNone/>
            </a:pPr>
            <a:r>
              <a:rPr lang="en-US" sz="3000" dirty="0">
                <a:solidFill>
                  <a:srgbClr val="000000"/>
                </a:solidFill>
              </a:rPr>
              <a:t>📐</a:t>
            </a:r>
            <a:endParaRPr lang="en-US" sz="3000" dirty="0"/>
          </a:p>
        </p:txBody>
      </p:sp>
      <p:sp>
        <p:nvSpPr>
          <p:cNvPr id="23" name="Text 21"/>
          <p:cNvSpPr/>
          <p:nvPr/>
        </p:nvSpPr>
        <p:spPr>
          <a:xfrm>
            <a:off x="4727448" y="2926080"/>
            <a:ext cx="1828800" cy="1691640"/>
          </a:xfrm>
          <a:prstGeom prst="rect">
            <a:avLst/>
          </a:prstGeom>
          <a:noFill/>
        </p:spPr>
        <p:txBody>
          <a:bodyPr wrap="square" rtlCol="0" anchor="ctr"/>
          <a:lstStyle/>
          <a:p>
            <a:pPr marL="0" indent="0" algn="ctr">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Assesses, analyzes, and quantifies identified AI risks using metrics, benchmarks, and rigorous testing methods.</a:t>
            </a:r>
            <a:endParaRPr lang="en-US" sz="1100" dirty="0"/>
          </a:p>
        </p:txBody>
      </p:sp>
      <p:sp>
        <p:nvSpPr>
          <p:cNvPr id="24" name="Shape 22"/>
          <p:cNvSpPr/>
          <p:nvPr/>
        </p:nvSpPr>
        <p:spPr>
          <a:xfrm>
            <a:off x="6766560" y="1188720"/>
            <a:ext cx="1993392" cy="3566160"/>
          </a:xfrm>
          <a:prstGeom prst="rect">
            <a:avLst/>
          </a:prstGeom>
          <a:solidFill>
            <a:srgbClr val="FFFFFF"/>
          </a:solidFill>
          <a:ln w="12700">
            <a:solidFill>
              <a:srgbClr val="10B981">
                <a:alpha val="45000"/>
              </a:srgbClr>
            </a:solidFill>
            <a:prstDash val="solid"/>
          </a:ln>
          <a:effectLst>
            <a:outerShdw blurRad="127000" dist="38100" dir="8100000" algn="bl" rotWithShape="0">
              <a:srgbClr val="94A3B8">
                <a:alpha val="18000"/>
              </a:srgbClr>
            </a:outerShdw>
          </a:effectLst>
        </p:spPr>
      </p:sp>
      <p:sp>
        <p:nvSpPr>
          <p:cNvPr id="25" name="Shape 23"/>
          <p:cNvSpPr/>
          <p:nvPr/>
        </p:nvSpPr>
        <p:spPr>
          <a:xfrm>
            <a:off x="6766560" y="1188720"/>
            <a:ext cx="1993392" cy="502920"/>
          </a:xfrm>
          <a:prstGeom prst="rect">
            <a:avLst/>
          </a:prstGeom>
          <a:solidFill>
            <a:srgbClr val="10B981">
              <a:alpha val="20000"/>
            </a:srgbClr>
          </a:solidFill>
          <a:ln w="12700">
            <a:solidFill>
              <a:srgbClr val="10B981">
                <a:alpha val="20000"/>
              </a:srgbClr>
            </a:solidFill>
            <a:prstDash val="solid"/>
          </a:ln>
        </p:spPr>
      </p:sp>
      <p:sp>
        <p:nvSpPr>
          <p:cNvPr id="26" name="Text 24"/>
          <p:cNvSpPr/>
          <p:nvPr/>
        </p:nvSpPr>
        <p:spPr>
          <a:xfrm>
            <a:off x="6766560" y="1216152"/>
            <a:ext cx="1993392" cy="457200"/>
          </a:xfrm>
          <a:prstGeom prst="rect">
            <a:avLst/>
          </a:prstGeom>
          <a:noFill/>
        </p:spPr>
        <p:txBody>
          <a:bodyPr wrap="square" lIns="0" tIns="0" rIns="0" bIns="0" rtlCol="0" anchor="ctr"/>
          <a:lstStyle/>
          <a:p>
            <a:pPr marL="0" indent="0" algn="ctr">
              <a:buNone/>
            </a:pPr>
            <a:r>
              <a:rPr lang="en-US" sz="1400" b="1" kern="0" spc="300" dirty="0">
                <a:solidFill>
                  <a:srgbClr val="10B981"/>
                </a:solidFill>
              </a:rPr>
              <a:t>MANAGE</a:t>
            </a:r>
            <a:endParaRPr lang="en-US" sz="1400" dirty="0"/>
          </a:p>
        </p:txBody>
      </p:sp>
      <p:sp>
        <p:nvSpPr>
          <p:cNvPr id="27" name="Shape 25"/>
          <p:cNvSpPr/>
          <p:nvPr/>
        </p:nvSpPr>
        <p:spPr>
          <a:xfrm>
            <a:off x="7306056" y="1874520"/>
            <a:ext cx="914400" cy="914400"/>
          </a:xfrm>
          <a:prstGeom prst="ellipse">
            <a:avLst/>
          </a:prstGeom>
          <a:solidFill>
            <a:srgbClr val="10B981">
              <a:alpha val="18000"/>
            </a:srgbClr>
          </a:solidFill>
          <a:ln w="12700">
            <a:solidFill>
              <a:srgbClr val="10B981">
                <a:alpha val="18000"/>
              </a:srgbClr>
            </a:solidFill>
            <a:prstDash val="solid"/>
          </a:ln>
        </p:spPr>
      </p:sp>
      <p:sp>
        <p:nvSpPr>
          <p:cNvPr id="28" name="Text 26"/>
          <p:cNvSpPr/>
          <p:nvPr/>
        </p:nvSpPr>
        <p:spPr>
          <a:xfrm>
            <a:off x="7306056" y="1901952"/>
            <a:ext cx="914400" cy="859536"/>
          </a:xfrm>
          <a:prstGeom prst="rect">
            <a:avLst/>
          </a:prstGeom>
          <a:noFill/>
        </p:spPr>
        <p:txBody>
          <a:bodyPr wrap="square" lIns="0" tIns="0" rIns="0" bIns="0" rtlCol="0" anchor="ctr"/>
          <a:lstStyle/>
          <a:p>
            <a:pPr marL="0" indent="0" algn="ctr">
              <a:buNone/>
            </a:pPr>
            <a:r>
              <a:rPr lang="en-US" sz="3000" dirty="0">
                <a:solidFill>
                  <a:srgbClr val="000000"/>
                </a:solidFill>
              </a:rPr>
              <a:t>⚙</a:t>
            </a:r>
            <a:endParaRPr lang="en-US" sz="3000" dirty="0"/>
          </a:p>
        </p:txBody>
      </p:sp>
      <p:sp>
        <p:nvSpPr>
          <p:cNvPr id="29" name="Text 27"/>
          <p:cNvSpPr/>
          <p:nvPr/>
        </p:nvSpPr>
        <p:spPr>
          <a:xfrm>
            <a:off x="6876288" y="2926080"/>
            <a:ext cx="1828800" cy="1691640"/>
          </a:xfrm>
          <a:prstGeom prst="rect">
            <a:avLst/>
          </a:prstGeom>
          <a:noFill/>
        </p:spPr>
        <p:txBody>
          <a:bodyPr wrap="square" rtlCol="0" anchor="ctr"/>
          <a:lstStyle/>
          <a:p>
            <a:pPr marL="0" indent="0" algn="ctr">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Prioritizes risks and implements targeted strategies to mitigate, monitor, and address them effectively.</a:t>
            </a:r>
            <a:endParaRPr lang="en-US" sz="1100" dirty="0"/>
          </a:p>
        </p:txBody>
      </p:sp>
    </p:spTree>
  </p:cSld>
  <p:clrMapOvr>
    <a:masterClrMapping/>
  </p:clrMapOvr>
  <mc:AlternateContent xmlns:mc="http://schemas.openxmlformats.org/markup-compatibility/2006">
    <mc:Choice xmlns:p14="http://schemas.microsoft.com/office/powerpoint/2010/main" Requires="p14">
      <p:transition spd="slow" p14:dur="1990">
        <p:dissolve/>
      </p:transition>
    </mc:Choice>
    <mc:Fallback>
      <p:transition spd="slow">
        <p:dissolv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0F7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D97706">
              <a:alpha val="14000"/>
            </a:srgbClr>
          </a:solidFill>
          <a:ln w="12700">
            <a:solidFill>
              <a:srgbClr val="D97706">
                <a:alpha val="14000"/>
              </a:srgbClr>
            </a:solidFill>
            <a:prstDash val="solid"/>
          </a:ln>
        </p:spPr>
      </p:sp>
      <p:sp>
        <p:nvSpPr>
          <p:cNvPr id="3" name="Shape 1"/>
          <p:cNvSpPr/>
          <p:nvPr/>
        </p:nvSpPr>
        <p:spPr>
          <a:xfrm>
            <a:off x="274320" y="182880"/>
            <a:ext cx="658368" cy="658368"/>
          </a:xfrm>
          <a:prstGeom prst="ellipse">
            <a:avLst/>
          </a:prstGeom>
          <a:solidFill>
            <a:srgbClr val="D97706">
              <a:alpha val="45000"/>
            </a:srgbClr>
          </a:solidFill>
          <a:ln w="12700">
            <a:solidFill>
              <a:srgbClr val="D97706">
                <a:alpha val="45000"/>
              </a:srgbClr>
            </a:solidFill>
            <a:prstDash val="solid"/>
          </a:ln>
        </p:spPr>
      </p:sp>
      <p:sp>
        <p:nvSpPr>
          <p:cNvPr id="4" name="Text 2"/>
          <p:cNvSpPr/>
          <p:nvPr/>
        </p:nvSpPr>
        <p:spPr>
          <a:xfrm>
            <a:off x="274320" y="182880"/>
            <a:ext cx="658368" cy="658368"/>
          </a:xfrm>
          <a:prstGeom prst="rect">
            <a:avLst/>
          </a:prstGeom>
          <a:noFill/>
        </p:spPr>
        <p:txBody>
          <a:bodyPr wrap="square" lIns="0" tIns="0" rIns="0" bIns="0" rtlCol="0" anchor="ctr"/>
          <a:lstStyle/>
          <a:p>
            <a:pPr marL="0" indent="0" algn="ctr">
              <a:buNone/>
            </a:pPr>
            <a:r>
              <a:rPr lang="en-US" sz="1800" b="1" dirty="0">
                <a:solidFill>
                  <a:srgbClr val="D97706"/>
                </a:solidFill>
              </a:rPr>
              <a:t>11</a:t>
            </a:r>
            <a:endParaRPr lang="en-US" sz="1800" dirty="0"/>
          </a:p>
        </p:txBody>
      </p:sp>
      <p:sp>
        <p:nvSpPr>
          <p:cNvPr id="5" name="Text 3"/>
          <p:cNvSpPr/>
          <p:nvPr/>
        </p:nvSpPr>
        <p:spPr>
          <a:xfrm>
            <a:off x="1078992" y="73152"/>
            <a:ext cx="7863840" cy="914400"/>
          </a:xfrm>
          <a:prstGeom prst="rect">
            <a:avLst/>
          </a:prstGeom>
          <a:noFill/>
        </p:spPr>
        <p:txBody>
          <a:bodyPr wrap="square" rtlCol="0" anchor="ctr"/>
          <a:lstStyle/>
          <a:p>
            <a:pPr marL="0" indent="0">
              <a:buNone/>
            </a:pPr>
            <a:r>
              <a:rPr lang="en-US" sz="3000" b="1" dirty="0">
                <a:solidFill>
                  <a:srgbClr val="1E3A5F"/>
                </a:solidFill>
                <a:latin typeface="Calibri" panose="020F0502020204030204" pitchFamily="34" charset="0"/>
                <a:ea typeface="Calibri" panose="020F0502020204030204" pitchFamily="34" charset="-122"/>
                <a:cs typeface="Calibri" panose="020F0502020204030204" pitchFamily="34" charset="-120"/>
              </a:rPr>
              <a:t>Example: AI Use Case &amp; Its Risks</a:t>
            </a:r>
            <a:endParaRPr lang="en-US" sz="3000" dirty="0"/>
          </a:p>
        </p:txBody>
      </p:sp>
      <p:sp>
        <p:nvSpPr>
          <p:cNvPr id="6" name="Shape 4"/>
          <p:cNvSpPr/>
          <p:nvPr/>
        </p:nvSpPr>
        <p:spPr>
          <a:xfrm>
            <a:off x="320040" y="1170432"/>
            <a:ext cx="8503920" cy="502920"/>
          </a:xfrm>
          <a:prstGeom prst="rect">
            <a:avLst/>
          </a:prstGeom>
          <a:solidFill>
            <a:srgbClr val="D97706">
              <a:alpha val="12000"/>
            </a:srgbClr>
          </a:solidFill>
          <a:ln w="12700">
            <a:solidFill>
              <a:srgbClr val="D97706">
                <a:alpha val="25000"/>
              </a:srgbClr>
            </a:solidFill>
            <a:prstDash val="solid"/>
          </a:ln>
        </p:spPr>
      </p:sp>
      <p:sp>
        <p:nvSpPr>
          <p:cNvPr id="7" name="Text 5"/>
          <p:cNvSpPr/>
          <p:nvPr/>
        </p:nvSpPr>
        <p:spPr>
          <a:xfrm>
            <a:off x="475488" y="1207008"/>
            <a:ext cx="8321040" cy="438912"/>
          </a:xfrm>
          <a:prstGeom prst="rect">
            <a:avLst/>
          </a:prstGeom>
          <a:noFill/>
        </p:spPr>
        <p:txBody>
          <a:bodyPr wrap="square" rtlCol="0" anchor="ctr"/>
          <a:lstStyle/>
          <a:p>
            <a:pPr marL="0" indent="0">
              <a:buNone/>
            </a:pPr>
            <a:r>
              <a:rPr lang="en-US" sz="1300" b="1" dirty="0">
                <a:solidFill>
                  <a:srgbClr val="D97706"/>
                </a:solidFill>
                <a:latin typeface="Calibri" panose="020F0502020204030204" pitchFamily="34" charset="0"/>
                <a:ea typeface="Calibri" panose="020F0502020204030204" pitchFamily="34" charset="-122"/>
                <a:cs typeface="Calibri" panose="020F0502020204030204" pitchFamily="34" charset="-120"/>
              </a:rPr>
              <a:t>Use Case: AI Customer Support Chatbot</a:t>
            </a:r>
            <a:endParaRPr lang="en-US" sz="1300" dirty="0"/>
          </a:p>
        </p:txBody>
      </p:sp>
      <p:sp>
        <p:nvSpPr>
          <p:cNvPr id="8" name="Shape 6"/>
          <p:cNvSpPr/>
          <p:nvPr/>
        </p:nvSpPr>
        <p:spPr>
          <a:xfrm>
            <a:off x="320040" y="1828800"/>
            <a:ext cx="4114800" cy="1371600"/>
          </a:xfrm>
          <a:prstGeom prst="rect">
            <a:avLst/>
          </a:prstGeom>
          <a:solidFill>
            <a:srgbClr val="FFFFFF"/>
          </a:solidFill>
          <a:ln w="12700">
            <a:solidFill>
              <a:srgbClr val="DC2626">
                <a:alpha val="45000"/>
              </a:srgbClr>
            </a:solidFill>
            <a:prstDash val="solid"/>
          </a:ln>
          <a:effectLst>
            <a:outerShdw blurRad="127000" dist="38100" dir="8100000" algn="bl" rotWithShape="0">
              <a:srgbClr val="94A3B8">
                <a:alpha val="18000"/>
              </a:srgbClr>
            </a:outerShdw>
          </a:effectLst>
        </p:spPr>
      </p:sp>
      <p:sp>
        <p:nvSpPr>
          <p:cNvPr id="9" name="Shape 7"/>
          <p:cNvSpPr/>
          <p:nvPr/>
        </p:nvSpPr>
        <p:spPr>
          <a:xfrm>
            <a:off x="484632" y="2029968"/>
            <a:ext cx="530352" cy="530352"/>
          </a:xfrm>
          <a:prstGeom prst="ellipse">
            <a:avLst/>
          </a:prstGeom>
          <a:solidFill>
            <a:srgbClr val="DC2626">
              <a:alpha val="22000"/>
            </a:srgbClr>
          </a:solidFill>
          <a:ln w="12700">
            <a:solidFill>
              <a:srgbClr val="DC2626">
                <a:alpha val="22000"/>
              </a:srgbClr>
            </a:solidFill>
            <a:prstDash val="solid"/>
          </a:ln>
        </p:spPr>
      </p:sp>
      <p:sp>
        <p:nvSpPr>
          <p:cNvPr id="10" name="Text 8"/>
          <p:cNvSpPr/>
          <p:nvPr/>
        </p:nvSpPr>
        <p:spPr>
          <a:xfrm>
            <a:off x="484632" y="2029968"/>
            <a:ext cx="530352" cy="530352"/>
          </a:xfrm>
          <a:prstGeom prst="rect">
            <a:avLst/>
          </a:prstGeom>
          <a:noFill/>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1" name="Text 9"/>
          <p:cNvSpPr/>
          <p:nvPr/>
        </p:nvSpPr>
        <p:spPr>
          <a:xfrm>
            <a:off x="1124712" y="1901952"/>
            <a:ext cx="3200400" cy="411480"/>
          </a:xfrm>
          <a:prstGeom prst="rect">
            <a:avLst/>
          </a:prstGeom>
          <a:noFill/>
        </p:spPr>
        <p:txBody>
          <a:bodyPr wrap="square" lIns="0" tIns="0" rIns="0" bIns="0" rtlCol="0" anchor="ctr"/>
          <a:lstStyle/>
          <a:p>
            <a:pPr marL="0" indent="0">
              <a:buNone/>
            </a:pPr>
            <a:r>
              <a:rPr lang="en-US" sz="1300" b="1" dirty="0">
                <a:solidFill>
                  <a:srgbClr val="DC2626"/>
                </a:solidFill>
                <a:latin typeface="Calibri" panose="020F0502020204030204" pitchFamily="34" charset="0"/>
                <a:ea typeface="Calibri" panose="020F0502020204030204" pitchFamily="34" charset="-122"/>
                <a:cs typeface="Calibri" panose="020F0502020204030204" pitchFamily="34" charset="-120"/>
              </a:rPr>
              <a:t>Inaccurate Answers</a:t>
            </a:r>
            <a:endParaRPr lang="en-US" sz="1300" dirty="0"/>
          </a:p>
        </p:txBody>
      </p:sp>
      <p:sp>
        <p:nvSpPr>
          <p:cNvPr id="12" name="Text 10"/>
          <p:cNvSpPr/>
          <p:nvPr/>
        </p:nvSpPr>
        <p:spPr>
          <a:xfrm>
            <a:off x="484632" y="2606040"/>
            <a:ext cx="3822192" cy="530352"/>
          </a:xfrm>
          <a:prstGeom prst="rect">
            <a:avLst/>
          </a:prstGeom>
          <a:noFill/>
        </p:spPr>
        <p:txBody>
          <a:bodyPr wrap="square" rtlCol="0" anchor="ctr"/>
          <a:lstStyle/>
          <a:p>
            <a:pPr marL="0" indent="0">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AI may give wrong information (e.g., wrong delivery date), creating legal and customer trust issues.</a:t>
            </a:r>
            <a:endParaRPr lang="en-US" sz="1100" dirty="0"/>
          </a:p>
        </p:txBody>
      </p:sp>
      <p:sp>
        <p:nvSpPr>
          <p:cNvPr id="13" name="Shape 11"/>
          <p:cNvSpPr/>
          <p:nvPr/>
        </p:nvSpPr>
        <p:spPr>
          <a:xfrm>
            <a:off x="4754880" y="1828800"/>
            <a:ext cx="4114800" cy="1371600"/>
          </a:xfrm>
          <a:prstGeom prst="rect">
            <a:avLst/>
          </a:prstGeom>
          <a:solidFill>
            <a:srgbClr val="FFFFFF"/>
          </a:solidFill>
          <a:ln w="12700">
            <a:solidFill>
              <a:srgbClr val="7C3AED">
                <a:alpha val="45000"/>
              </a:srgbClr>
            </a:solidFill>
            <a:prstDash val="solid"/>
          </a:ln>
          <a:effectLst>
            <a:outerShdw blurRad="127000" dist="38100" dir="8100000" algn="bl" rotWithShape="0">
              <a:srgbClr val="94A3B8">
                <a:alpha val="18000"/>
              </a:srgbClr>
            </a:outerShdw>
          </a:effectLst>
        </p:spPr>
      </p:sp>
      <p:sp>
        <p:nvSpPr>
          <p:cNvPr id="14" name="Shape 12"/>
          <p:cNvSpPr/>
          <p:nvPr/>
        </p:nvSpPr>
        <p:spPr>
          <a:xfrm>
            <a:off x="4919472" y="2029968"/>
            <a:ext cx="530352" cy="530352"/>
          </a:xfrm>
          <a:prstGeom prst="ellipse">
            <a:avLst/>
          </a:prstGeom>
          <a:solidFill>
            <a:srgbClr val="7C3AED">
              <a:alpha val="22000"/>
            </a:srgbClr>
          </a:solidFill>
          <a:ln w="12700">
            <a:solidFill>
              <a:srgbClr val="7C3AED">
                <a:alpha val="22000"/>
              </a:srgbClr>
            </a:solidFill>
            <a:prstDash val="solid"/>
          </a:ln>
        </p:spPr>
      </p:sp>
      <p:sp>
        <p:nvSpPr>
          <p:cNvPr id="15" name="Text 13"/>
          <p:cNvSpPr/>
          <p:nvPr/>
        </p:nvSpPr>
        <p:spPr>
          <a:xfrm>
            <a:off x="4919472" y="2029968"/>
            <a:ext cx="530352" cy="530352"/>
          </a:xfrm>
          <a:prstGeom prst="rect">
            <a:avLst/>
          </a:prstGeom>
          <a:noFill/>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6" name="Text 14"/>
          <p:cNvSpPr/>
          <p:nvPr/>
        </p:nvSpPr>
        <p:spPr>
          <a:xfrm>
            <a:off x="5559552" y="1901952"/>
            <a:ext cx="3200400" cy="411480"/>
          </a:xfrm>
          <a:prstGeom prst="rect">
            <a:avLst/>
          </a:prstGeom>
          <a:noFill/>
        </p:spPr>
        <p:txBody>
          <a:bodyPr wrap="square" lIns="0" tIns="0" rIns="0" bIns="0" rtlCol="0" anchor="ctr"/>
          <a:lstStyle/>
          <a:p>
            <a:pPr marL="0" indent="0">
              <a:buNone/>
            </a:pPr>
            <a:r>
              <a:rPr lang="en-US" sz="1300" b="1" dirty="0">
                <a:solidFill>
                  <a:srgbClr val="7C3AED"/>
                </a:solidFill>
                <a:latin typeface="Calibri" panose="020F0502020204030204" pitchFamily="34" charset="0"/>
                <a:ea typeface="Calibri" panose="020F0502020204030204" pitchFamily="34" charset="-122"/>
                <a:cs typeface="Calibri" panose="020F0502020204030204" pitchFamily="34" charset="-120"/>
              </a:rPr>
              <a:t>Data Leakage</a:t>
            </a:r>
            <a:endParaRPr lang="en-US" sz="1300" dirty="0"/>
          </a:p>
        </p:txBody>
      </p:sp>
      <p:sp>
        <p:nvSpPr>
          <p:cNvPr id="17" name="Text 15"/>
          <p:cNvSpPr/>
          <p:nvPr/>
        </p:nvSpPr>
        <p:spPr>
          <a:xfrm>
            <a:off x="4919472" y="2606040"/>
            <a:ext cx="3822192" cy="530352"/>
          </a:xfrm>
          <a:prstGeom prst="rect">
            <a:avLst/>
          </a:prstGeom>
          <a:noFill/>
        </p:spPr>
        <p:txBody>
          <a:bodyPr wrap="square" rtlCol="0" anchor="ctr"/>
          <a:lstStyle/>
          <a:p>
            <a:pPr marL="0" indent="0">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If a customer shares personal info and the AI is unsecured, it could leak addresses or order data.</a:t>
            </a:r>
            <a:endParaRPr lang="en-US" sz="1100" dirty="0"/>
          </a:p>
        </p:txBody>
      </p:sp>
      <p:sp>
        <p:nvSpPr>
          <p:cNvPr id="18" name="Shape 16"/>
          <p:cNvSpPr/>
          <p:nvPr/>
        </p:nvSpPr>
        <p:spPr>
          <a:xfrm>
            <a:off x="320040" y="3383280"/>
            <a:ext cx="4114800" cy="1371600"/>
          </a:xfrm>
          <a:prstGeom prst="rect">
            <a:avLst/>
          </a:prstGeom>
          <a:solidFill>
            <a:srgbClr val="FFFFFF"/>
          </a:solidFill>
          <a:ln w="12700">
            <a:solidFill>
              <a:srgbClr val="0891B2">
                <a:alpha val="45000"/>
              </a:srgbClr>
            </a:solidFill>
            <a:prstDash val="solid"/>
          </a:ln>
          <a:effectLst>
            <a:outerShdw blurRad="127000" dist="38100" dir="8100000" algn="bl" rotWithShape="0">
              <a:srgbClr val="94A3B8">
                <a:alpha val="18000"/>
              </a:srgbClr>
            </a:outerShdw>
          </a:effectLst>
        </p:spPr>
      </p:sp>
      <p:sp>
        <p:nvSpPr>
          <p:cNvPr id="19" name="Shape 17"/>
          <p:cNvSpPr/>
          <p:nvPr/>
        </p:nvSpPr>
        <p:spPr>
          <a:xfrm>
            <a:off x="484632" y="3584448"/>
            <a:ext cx="530352" cy="530352"/>
          </a:xfrm>
          <a:prstGeom prst="ellipse">
            <a:avLst/>
          </a:prstGeom>
          <a:solidFill>
            <a:srgbClr val="0891B2">
              <a:alpha val="22000"/>
            </a:srgbClr>
          </a:solidFill>
          <a:ln w="12700">
            <a:solidFill>
              <a:srgbClr val="0891B2">
                <a:alpha val="22000"/>
              </a:srgbClr>
            </a:solidFill>
            <a:prstDash val="solid"/>
          </a:ln>
        </p:spPr>
      </p:sp>
      <p:sp>
        <p:nvSpPr>
          <p:cNvPr id="20" name="Text 18"/>
          <p:cNvSpPr/>
          <p:nvPr/>
        </p:nvSpPr>
        <p:spPr>
          <a:xfrm>
            <a:off x="484632" y="3584448"/>
            <a:ext cx="530352" cy="530352"/>
          </a:xfrm>
          <a:prstGeom prst="rect">
            <a:avLst/>
          </a:prstGeom>
          <a:noFill/>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21" name="Text 19"/>
          <p:cNvSpPr/>
          <p:nvPr/>
        </p:nvSpPr>
        <p:spPr>
          <a:xfrm>
            <a:off x="1124712" y="3456432"/>
            <a:ext cx="3200400" cy="411480"/>
          </a:xfrm>
          <a:prstGeom prst="rect">
            <a:avLst/>
          </a:prstGeom>
          <a:noFill/>
        </p:spPr>
        <p:txBody>
          <a:bodyPr wrap="square" lIns="0" tIns="0" rIns="0" bIns="0" rtlCol="0" anchor="ctr"/>
          <a:lstStyle/>
          <a:p>
            <a:pPr marL="0" indent="0">
              <a:buNone/>
            </a:pPr>
            <a:r>
              <a:rPr lang="en-US" sz="1300" b="1" dirty="0">
                <a:solidFill>
                  <a:srgbClr val="0891B2"/>
                </a:solidFill>
                <a:latin typeface="Calibri" panose="020F0502020204030204" pitchFamily="34" charset="0"/>
                <a:ea typeface="Calibri" panose="020F0502020204030204" pitchFamily="34" charset="-122"/>
                <a:cs typeface="Calibri" panose="020F0502020204030204" pitchFamily="34" charset="-120"/>
              </a:rPr>
              <a:t>Prompt Injection</a:t>
            </a:r>
            <a:endParaRPr lang="en-US" sz="1300" dirty="0"/>
          </a:p>
        </p:txBody>
      </p:sp>
      <p:sp>
        <p:nvSpPr>
          <p:cNvPr id="22" name="Text 20"/>
          <p:cNvSpPr/>
          <p:nvPr/>
        </p:nvSpPr>
        <p:spPr>
          <a:xfrm>
            <a:off x="484632" y="4160520"/>
            <a:ext cx="3822192" cy="530352"/>
          </a:xfrm>
          <a:prstGeom prst="rect">
            <a:avLst/>
          </a:prstGeom>
          <a:noFill/>
        </p:spPr>
        <p:txBody>
          <a:bodyPr wrap="square" rtlCol="0" anchor="ctr"/>
          <a:lstStyle/>
          <a:p>
            <a:pPr marL="0" indent="0">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Malicious users may trick the chatbot into revealing sensitive data or performing unlawful actions.</a:t>
            </a:r>
            <a:endParaRPr lang="en-US" sz="1100" dirty="0"/>
          </a:p>
        </p:txBody>
      </p:sp>
      <p:sp>
        <p:nvSpPr>
          <p:cNvPr id="23" name="Shape 21"/>
          <p:cNvSpPr/>
          <p:nvPr/>
        </p:nvSpPr>
        <p:spPr>
          <a:xfrm>
            <a:off x="4754880" y="3383280"/>
            <a:ext cx="4114800" cy="1371600"/>
          </a:xfrm>
          <a:prstGeom prst="rect">
            <a:avLst/>
          </a:prstGeom>
          <a:solidFill>
            <a:srgbClr val="FFFFFF"/>
          </a:solidFill>
          <a:ln w="12700">
            <a:solidFill>
              <a:srgbClr val="2563EB">
                <a:alpha val="45000"/>
              </a:srgbClr>
            </a:solidFill>
            <a:prstDash val="solid"/>
          </a:ln>
          <a:effectLst>
            <a:outerShdw blurRad="127000" dist="38100" dir="8100000" algn="bl" rotWithShape="0">
              <a:srgbClr val="94A3B8">
                <a:alpha val="18000"/>
              </a:srgbClr>
            </a:outerShdw>
          </a:effectLst>
        </p:spPr>
      </p:sp>
      <p:sp>
        <p:nvSpPr>
          <p:cNvPr id="24" name="Shape 22"/>
          <p:cNvSpPr/>
          <p:nvPr/>
        </p:nvSpPr>
        <p:spPr>
          <a:xfrm>
            <a:off x="4919472" y="3584448"/>
            <a:ext cx="530352" cy="530352"/>
          </a:xfrm>
          <a:prstGeom prst="ellipse">
            <a:avLst/>
          </a:prstGeom>
          <a:solidFill>
            <a:srgbClr val="2563EB">
              <a:alpha val="22000"/>
            </a:srgbClr>
          </a:solidFill>
          <a:ln w="12700">
            <a:solidFill>
              <a:srgbClr val="2563EB">
                <a:alpha val="22000"/>
              </a:srgbClr>
            </a:solidFill>
            <a:prstDash val="solid"/>
          </a:ln>
        </p:spPr>
      </p:sp>
      <p:sp>
        <p:nvSpPr>
          <p:cNvPr id="25" name="Text 23"/>
          <p:cNvSpPr/>
          <p:nvPr/>
        </p:nvSpPr>
        <p:spPr>
          <a:xfrm>
            <a:off x="4919472" y="3584448"/>
            <a:ext cx="530352" cy="530352"/>
          </a:xfrm>
          <a:prstGeom prst="rect">
            <a:avLst/>
          </a:prstGeom>
          <a:noFill/>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26" name="Text 24"/>
          <p:cNvSpPr/>
          <p:nvPr/>
        </p:nvSpPr>
        <p:spPr>
          <a:xfrm>
            <a:off x="5559552" y="3456432"/>
            <a:ext cx="3200400" cy="411480"/>
          </a:xfrm>
          <a:prstGeom prst="rect">
            <a:avLst/>
          </a:prstGeom>
          <a:noFill/>
        </p:spPr>
        <p:txBody>
          <a:bodyPr wrap="square" lIns="0" tIns="0" rIns="0" bIns="0" rtlCol="0" anchor="ctr"/>
          <a:lstStyle/>
          <a:p>
            <a:pPr marL="0" indent="0">
              <a:buNone/>
            </a:pPr>
            <a:r>
              <a:rPr lang="en-US" sz="1300" b="1" dirty="0">
                <a:solidFill>
                  <a:srgbClr val="2563EB"/>
                </a:solidFill>
                <a:latin typeface="Calibri" panose="020F0502020204030204" pitchFamily="34" charset="0"/>
                <a:ea typeface="Calibri" panose="020F0502020204030204" pitchFamily="34" charset="-122"/>
                <a:cs typeface="Calibri" panose="020F0502020204030204" pitchFamily="34" charset="-120"/>
              </a:rPr>
              <a:t>Job Displacement</a:t>
            </a:r>
            <a:endParaRPr lang="en-US" sz="1300" dirty="0"/>
          </a:p>
        </p:txBody>
      </p:sp>
      <p:sp>
        <p:nvSpPr>
          <p:cNvPr id="27" name="Text 25"/>
          <p:cNvSpPr/>
          <p:nvPr/>
        </p:nvSpPr>
        <p:spPr>
          <a:xfrm>
            <a:off x="4919472" y="4160520"/>
            <a:ext cx="3822192" cy="530352"/>
          </a:xfrm>
          <a:prstGeom prst="rect">
            <a:avLst/>
          </a:prstGeom>
          <a:noFill/>
        </p:spPr>
        <p:txBody>
          <a:bodyPr wrap="square" rtlCol="0" anchor="ctr"/>
          <a:lstStyle/>
          <a:p>
            <a:pPr marL="0" indent="0">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AI can handle heavy workloads, but sometimes loops customers without resolving their issue properly.</a:t>
            </a:r>
            <a:endParaRPr lang="en-US" sz="1100"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500">
        <p15:prstTrans prst="pageCurlDoubl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0F7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1E3A5F">
              <a:alpha val="14000"/>
            </a:srgbClr>
          </a:solidFill>
          <a:ln w="12700">
            <a:solidFill>
              <a:srgbClr val="1E3A5F">
                <a:alpha val="14000"/>
              </a:srgbClr>
            </a:solidFill>
            <a:prstDash val="solid"/>
          </a:ln>
        </p:spPr>
      </p:sp>
      <p:sp>
        <p:nvSpPr>
          <p:cNvPr id="3" name="Shape 1"/>
          <p:cNvSpPr/>
          <p:nvPr/>
        </p:nvSpPr>
        <p:spPr>
          <a:xfrm>
            <a:off x="274320" y="182880"/>
            <a:ext cx="658368" cy="658368"/>
          </a:xfrm>
          <a:prstGeom prst="ellipse">
            <a:avLst/>
          </a:prstGeom>
          <a:solidFill>
            <a:srgbClr val="1E3A5F">
              <a:alpha val="45000"/>
            </a:srgbClr>
          </a:solidFill>
          <a:ln w="12700">
            <a:solidFill>
              <a:srgbClr val="1E3A5F">
                <a:alpha val="45000"/>
              </a:srgbClr>
            </a:solidFill>
            <a:prstDash val="solid"/>
          </a:ln>
        </p:spPr>
      </p:sp>
      <p:sp>
        <p:nvSpPr>
          <p:cNvPr id="4" name="Text 2"/>
          <p:cNvSpPr/>
          <p:nvPr/>
        </p:nvSpPr>
        <p:spPr>
          <a:xfrm>
            <a:off x="274320" y="182880"/>
            <a:ext cx="658368" cy="658368"/>
          </a:xfrm>
          <a:prstGeom prst="rect">
            <a:avLst/>
          </a:prstGeom>
          <a:noFill/>
        </p:spPr>
        <p:txBody>
          <a:bodyPr wrap="square" lIns="0" tIns="0" rIns="0" bIns="0" rtlCol="0" anchor="ctr"/>
          <a:lstStyle/>
          <a:p>
            <a:pPr marL="0" indent="0" algn="ctr">
              <a:buNone/>
            </a:pPr>
            <a:r>
              <a:rPr lang="en-US" sz="1800" b="1" dirty="0">
                <a:solidFill>
                  <a:srgbClr val="1E3A5F"/>
                </a:solidFill>
              </a:rPr>
              <a:t>12</a:t>
            </a:r>
            <a:endParaRPr lang="en-US" sz="1800" dirty="0"/>
          </a:p>
        </p:txBody>
      </p:sp>
      <p:sp>
        <p:nvSpPr>
          <p:cNvPr id="5" name="Text 3"/>
          <p:cNvSpPr/>
          <p:nvPr/>
        </p:nvSpPr>
        <p:spPr>
          <a:xfrm>
            <a:off x="1078992" y="73152"/>
            <a:ext cx="7863840" cy="914400"/>
          </a:xfrm>
          <a:prstGeom prst="rect">
            <a:avLst/>
          </a:prstGeom>
          <a:noFill/>
        </p:spPr>
        <p:txBody>
          <a:bodyPr wrap="square" rtlCol="0" anchor="ctr"/>
          <a:lstStyle/>
          <a:p>
            <a:pPr marL="0" indent="0">
              <a:buNone/>
            </a:pPr>
            <a:r>
              <a:rPr lang="en-US" sz="3000" b="1" dirty="0">
                <a:solidFill>
                  <a:srgbClr val="1E3A5F"/>
                </a:solidFill>
                <a:latin typeface="Calibri" panose="020F0502020204030204" pitchFamily="34" charset="0"/>
                <a:ea typeface="Calibri" panose="020F0502020204030204" pitchFamily="34" charset="-122"/>
                <a:cs typeface="Calibri" panose="020F0502020204030204" pitchFamily="34" charset="-120"/>
              </a:rPr>
              <a:t>Conclusion</a:t>
            </a:r>
            <a:endParaRPr lang="en-US" sz="3000" dirty="0"/>
          </a:p>
        </p:txBody>
      </p:sp>
      <p:sp>
        <p:nvSpPr>
          <p:cNvPr id="6" name="Shape 4"/>
          <p:cNvSpPr/>
          <p:nvPr/>
        </p:nvSpPr>
        <p:spPr>
          <a:xfrm>
            <a:off x="320040" y="1207008"/>
            <a:ext cx="4114800" cy="1536192"/>
          </a:xfrm>
          <a:prstGeom prst="rect">
            <a:avLst/>
          </a:prstGeom>
          <a:solidFill>
            <a:srgbClr val="FFFFFF"/>
          </a:solidFill>
          <a:ln w="12700">
            <a:solidFill>
              <a:srgbClr val="2563EB">
                <a:alpha val="45000"/>
              </a:srgbClr>
            </a:solidFill>
            <a:prstDash val="solid"/>
          </a:ln>
          <a:effectLst>
            <a:outerShdw blurRad="127000" dist="38100" dir="8100000" algn="bl" rotWithShape="0">
              <a:srgbClr val="94A3B8">
                <a:alpha val="18000"/>
              </a:srgbClr>
            </a:outerShdw>
          </a:effectLst>
        </p:spPr>
      </p:sp>
      <p:sp>
        <p:nvSpPr>
          <p:cNvPr id="7" name="Shape 5"/>
          <p:cNvSpPr/>
          <p:nvPr/>
        </p:nvSpPr>
        <p:spPr>
          <a:xfrm>
            <a:off x="484632" y="1389888"/>
            <a:ext cx="548640" cy="548640"/>
          </a:xfrm>
          <a:prstGeom prst="ellipse">
            <a:avLst/>
          </a:prstGeom>
          <a:solidFill>
            <a:srgbClr val="2563EB">
              <a:alpha val="22000"/>
            </a:srgbClr>
          </a:solidFill>
          <a:ln w="12700">
            <a:solidFill>
              <a:srgbClr val="2563EB">
                <a:alpha val="22000"/>
              </a:srgbClr>
            </a:solidFill>
            <a:prstDash val="solid"/>
          </a:ln>
        </p:spPr>
      </p:sp>
      <p:sp>
        <p:nvSpPr>
          <p:cNvPr id="8" name="Text 6"/>
          <p:cNvSpPr/>
          <p:nvPr/>
        </p:nvSpPr>
        <p:spPr>
          <a:xfrm>
            <a:off x="484632" y="1389888"/>
            <a:ext cx="548640" cy="548640"/>
          </a:xfrm>
          <a:prstGeom prst="rect">
            <a:avLst/>
          </a:prstGeom>
          <a:noFill/>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9" name="Text 7"/>
          <p:cNvSpPr/>
          <p:nvPr/>
        </p:nvSpPr>
        <p:spPr>
          <a:xfrm>
            <a:off x="1143000" y="1298448"/>
            <a:ext cx="3154680" cy="457200"/>
          </a:xfrm>
          <a:prstGeom prst="rect">
            <a:avLst/>
          </a:prstGeom>
          <a:noFill/>
        </p:spPr>
        <p:txBody>
          <a:bodyPr wrap="square" lIns="0" tIns="0" rIns="0" bIns="0" rtlCol="0" anchor="ctr"/>
          <a:lstStyle/>
          <a:p>
            <a:pPr marL="0" indent="0">
              <a:buNone/>
            </a:pPr>
            <a:r>
              <a:rPr lang="en-US" sz="1300" b="1" dirty="0">
                <a:solidFill>
                  <a:srgbClr val="2563EB"/>
                </a:solidFill>
                <a:latin typeface="Calibri" panose="020F0502020204030204" pitchFamily="34" charset="0"/>
                <a:ea typeface="Calibri" panose="020F0502020204030204" pitchFamily="34" charset="-122"/>
                <a:cs typeface="Calibri" panose="020F0502020204030204" pitchFamily="34" charset="-120"/>
              </a:rPr>
              <a:t>Clear Rules &amp; Guidelines</a:t>
            </a:r>
            <a:endParaRPr lang="en-US" sz="1300" dirty="0"/>
          </a:p>
        </p:txBody>
      </p:sp>
      <p:sp>
        <p:nvSpPr>
          <p:cNvPr id="10" name="Text 8"/>
          <p:cNvSpPr/>
          <p:nvPr/>
        </p:nvSpPr>
        <p:spPr>
          <a:xfrm>
            <a:off x="484632" y="1984248"/>
            <a:ext cx="3840480" cy="694944"/>
          </a:xfrm>
          <a:prstGeom prst="rect">
            <a:avLst/>
          </a:prstGeom>
          <a:noFill/>
        </p:spPr>
        <p:txBody>
          <a:bodyPr wrap="square" rtlCol="0" anchor="ctr"/>
          <a:lstStyle/>
          <a:p>
            <a:pPr marL="0" indent="0">
              <a:buNone/>
            </a:pPr>
            <a:r>
              <a:rPr lang="en-US" sz="1150" dirty="0">
                <a:solidFill>
                  <a:srgbClr val="334155"/>
                </a:solidFill>
                <a:latin typeface="Calibri" panose="020F0502020204030204" pitchFamily="34" charset="0"/>
                <a:ea typeface="Calibri" panose="020F0502020204030204" pitchFamily="34" charset="-122"/>
                <a:cs typeface="Calibri" panose="020F0502020204030204" pitchFamily="34" charset="-120"/>
              </a:rPr>
              <a:t>AI governance sets clear rules so systems work properly, make correct decisions, and do not harm people.</a:t>
            </a:r>
            <a:endParaRPr lang="en-US" sz="1150" dirty="0"/>
          </a:p>
        </p:txBody>
      </p:sp>
      <p:sp>
        <p:nvSpPr>
          <p:cNvPr id="11" name="Shape 9"/>
          <p:cNvSpPr/>
          <p:nvPr/>
        </p:nvSpPr>
        <p:spPr>
          <a:xfrm>
            <a:off x="320040" y="2898648"/>
            <a:ext cx="4114800" cy="1536192"/>
          </a:xfrm>
          <a:prstGeom prst="rect">
            <a:avLst/>
          </a:prstGeom>
          <a:solidFill>
            <a:srgbClr val="FFFFFF"/>
          </a:solidFill>
          <a:ln w="12700">
            <a:solidFill>
              <a:srgbClr val="0891B2">
                <a:alpha val="45000"/>
              </a:srgbClr>
            </a:solidFill>
            <a:prstDash val="solid"/>
          </a:ln>
          <a:effectLst>
            <a:outerShdw blurRad="127000" dist="38100" dir="8100000" algn="bl" rotWithShape="0">
              <a:srgbClr val="94A3B8">
                <a:alpha val="18000"/>
              </a:srgbClr>
            </a:outerShdw>
          </a:effectLst>
        </p:spPr>
      </p:sp>
      <p:sp>
        <p:nvSpPr>
          <p:cNvPr id="12" name="Shape 10"/>
          <p:cNvSpPr/>
          <p:nvPr/>
        </p:nvSpPr>
        <p:spPr>
          <a:xfrm>
            <a:off x="484632" y="3081528"/>
            <a:ext cx="548640" cy="548640"/>
          </a:xfrm>
          <a:prstGeom prst="ellipse">
            <a:avLst/>
          </a:prstGeom>
          <a:solidFill>
            <a:srgbClr val="0891B2">
              <a:alpha val="22000"/>
            </a:srgbClr>
          </a:solidFill>
          <a:ln w="12700">
            <a:solidFill>
              <a:srgbClr val="0891B2">
                <a:alpha val="22000"/>
              </a:srgbClr>
            </a:solidFill>
            <a:prstDash val="solid"/>
          </a:ln>
        </p:spPr>
      </p:sp>
      <p:sp>
        <p:nvSpPr>
          <p:cNvPr id="13" name="Text 11"/>
          <p:cNvSpPr/>
          <p:nvPr/>
        </p:nvSpPr>
        <p:spPr>
          <a:xfrm>
            <a:off x="484632" y="3081528"/>
            <a:ext cx="548640" cy="548640"/>
          </a:xfrm>
          <a:prstGeom prst="rect">
            <a:avLst/>
          </a:prstGeom>
          <a:noFill/>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4" name="Text 12"/>
          <p:cNvSpPr/>
          <p:nvPr/>
        </p:nvSpPr>
        <p:spPr>
          <a:xfrm>
            <a:off x="1143000" y="2990088"/>
            <a:ext cx="3154680" cy="457200"/>
          </a:xfrm>
          <a:prstGeom prst="rect">
            <a:avLst/>
          </a:prstGeom>
          <a:noFill/>
        </p:spPr>
        <p:txBody>
          <a:bodyPr wrap="square" lIns="0" tIns="0" rIns="0" bIns="0" rtlCol="0" anchor="ctr"/>
          <a:lstStyle/>
          <a:p>
            <a:pPr marL="0" indent="0">
              <a:buNone/>
            </a:pPr>
            <a:r>
              <a:rPr lang="en-US" sz="1300" b="1" dirty="0">
                <a:solidFill>
                  <a:srgbClr val="0891B2"/>
                </a:solidFill>
                <a:latin typeface="Calibri" panose="020F0502020204030204" pitchFamily="34" charset="0"/>
                <a:ea typeface="Calibri" panose="020F0502020204030204" pitchFamily="34" charset="-122"/>
                <a:cs typeface="Calibri" panose="020F0502020204030204" pitchFamily="34" charset="-120"/>
              </a:rPr>
              <a:t>Cyber Protection</a:t>
            </a:r>
            <a:endParaRPr lang="en-US" sz="1300" dirty="0"/>
          </a:p>
        </p:txBody>
      </p:sp>
      <p:sp>
        <p:nvSpPr>
          <p:cNvPr id="15" name="Text 13"/>
          <p:cNvSpPr/>
          <p:nvPr/>
        </p:nvSpPr>
        <p:spPr>
          <a:xfrm>
            <a:off x="484632" y="3675888"/>
            <a:ext cx="3840480" cy="694944"/>
          </a:xfrm>
          <a:prstGeom prst="rect">
            <a:avLst/>
          </a:prstGeom>
          <a:noFill/>
        </p:spPr>
        <p:txBody>
          <a:bodyPr wrap="square" rtlCol="0" anchor="ctr"/>
          <a:lstStyle/>
          <a:p>
            <a:pPr marL="0" indent="0">
              <a:buNone/>
            </a:pPr>
            <a:r>
              <a:rPr lang="en-US" sz="1150" dirty="0">
                <a:solidFill>
                  <a:srgbClr val="334155"/>
                </a:solidFill>
                <a:latin typeface="Calibri" panose="020F0502020204030204" pitchFamily="34" charset="0"/>
                <a:ea typeface="Calibri" panose="020F0502020204030204" pitchFamily="34" charset="-122"/>
                <a:cs typeface="Calibri" panose="020F0502020204030204" pitchFamily="34" charset="-120"/>
              </a:rPr>
              <a:t>Cyber risk management protects networks and data from hacking, viruses, and leaks with strong security measures.</a:t>
            </a:r>
            <a:endParaRPr lang="en-US" sz="1150" dirty="0"/>
          </a:p>
        </p:txBody>
      </p:sp>
      <p:sp>
        <p:nvSpPr>
          <p:cNvPr id="16" name="Shape 14"/>
          <p:cNvSpPr/>
          <p:nvPr/>
        </p:nvSpPr>
        <p:spPr>
          <a:xfrm>
            <a:off x="4709160" y="1207008"/>
            <a:ext cx="4114800" cy="1536192"/>
          </a:xfrm>
          <a:prstGeom prst="rect">
            <a:avLst/>
          </a:prstGeom>
          <a:solidFill>
            <a:srgbClr val="FFFFFF"/>
          </a:solidFill>
          <a:ln w="12700">
            <a:solidFill>
              <a:srgbClr val="10B981">
                <a:alpha val="45000"/>
              </a:srgbClr>
            </a:solidFill>
            <a:prstDash val="solid"/>
          </a:ln>
          <a:effectLst>
            <a:outerShdw blurRad="127000" dist="38100" dir="8100000" algn="bl" rotWithShape="0">
              <a:srgbClr val="94A3B8">
                <a:alpha val="18000"/>
              </a:srgbClr>
            </a:outerShdw>
          </a:effectLst>
        </p:spPr>
      </p:sp>
      <p:sp>
        <p:nvSpPr>
          <p:cNvPr id="17" name="Shape 15"/>
          <p:cNvSpPr/>
          <p:nvPr/>
        </p:nvSpPr>
        <p:spPr>
          <a:xfrm>
            <a:off x="4873752" y="1389888"/>
            <a:ext cx="548640" cy="548640"/>
          </a:xfrm>
          <a:prstGeom prst="ellipse">
            <a:avLst/>
          </a:prstGeom>
          <a:solidFill>
            <a:srgbClr val="10B981">
              <a:alpha val="22000"/>
            </a:srgbClr>
          </a:solidFill>
          <a:ln w="12700">
            <a:solidFill>
              <a:srgbClr val="10B981">
                <a:alpha val="22000"/>
              </a:srgbClr>
            </a:solidFill>
            <a:prstDash val="solid"/>
          </a:ln>
        </p:spPr>
      </p:sp>
      <p:sp>
        <p:nvSpPr>
          <p:cNvPr id="18" name="Text 16"/>
          <p:cNvSpPr/>
          <p:nvPr/>
        </p:nvSpPr>
        <p:spPr>
          <a:xfrm>
            <a:off x="4873752" y="1389888"/>
            <a:ext cx="548640" cy="548640"/>
          </a:xfrm>
          <a:prstGeom prst="rect">
            <a:avLst/>
          </a:prstGeom>
          <a:noFill/>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9" name="Text 17"/>
          <p:cNvSpPr/>
          <p:nvPr/>
        </p:nvSpPr>
        <p:spPr>
          <a:xfrm>
            <a:off x="5532120" y="1298448"/>
            <a:ext cx="3154680" cy="457200"/>
          </a:xfrm>
          <a:prstGeom prst="rect">
            <a:avLst/>
          </a:prstGeom>
          <a:noFill/>
        </p:spPr>
        <p:txBody>
          <a:bodyPr wrap="square" lIns="0" tIns="0" rIns="0" bIns="0" rtlCol="0" anchor="ctr"/>
          <a:lstStyle/>
          <a:p>
            <a:pPr marL="0" indent="0">
              <a:buNone/>
            </a:pPr>
            <a:r>
              <a:rPr lang="en-US" sz="1300" b="1" dirty="0">
                <a:solidFill>
                  <a:srgbClr val="10B981"/>
                </a:solidFill>
                <a:latin typeface="Calibri" panose="020F0502020204030204" pitchFamily="34" charset="0"/>
                <a:ea typeface="Calibri" panose="020F0502020204030204" pitchFamily="34" charset="-122"/>
                <a:cs typeface="Calibri" panose="020F0502020204030204" pitchFamily="34" charset="-120"/>
              </a:rPr>
              <a:t>Reduced Risk</a:t>
            </a:r>
            <a:endParaRPr lang="en-US" sz="1300" dirty="0"/>
          </a:p>
        </p:txBody>
      </p:sp>
      <p:sp>
        <p:nvSpPr>
          <p:cNvPr id="20" name="Text 18"/>
          <p:cNvSpPr/>
          <p:nvPr/>
        </p:nvSpPr>
        <p:spPr>
          <a:xfrm>
            <a:off x="4873752" y="1984248"/>
            <a:ext cx="3840480" cy="694944"/>
          </a:xfrm>
          <a:prstGeom prst="rect">
            <a:avLst/>
          </a:prstGeom>
          <a:noFill/>
        </p:spPr>
        <p:txBody>
          <a:bodyPr wrap="square" rtlCol="0" anchor="ctr"/>
          <a:lstStyle/>
          <a:p>
            <a:pPr marL="0" indent="0">
              <a:buNone/>
            </a:pPr>
            <a:r>
              <a:rPr lang="en-US" sz="1150" dirty="0">
                <a:solidFill>
                  <a:srgbClr val="334155"/>
                </a:solidFill>
                <a:latin typeface="Calibri" panose="020F0502020204030204" pitchFamily="34" charset="0"/>
                <a:ea typeface="Calibri" panose="020F0502020204030204" pitchFamily="34" charset="-122"/>
                <a:cs typeface="Calibri" panose="020F0502020204030204" pitchFamily="34" charset="-120"/>
              </a:rPr>
              <a:t>Combining governance and cybersecurity helps organizations reduce risk, run smoothly, and protect personal information.</a:t>
            </a:r>
            <a:endParaRPr lang="en-US" sz="1150" dirty="0"/>
          </a:p>
        </p:txBody>
      </p:sp>
      <p:sp>
        <p:nvSpPr>
          <p:cNvPr id="21" name="Shape 19"/>
          <p:cNvSpPr/>
          <p:nvPr/>
        </p:nvSpPr>
        <p:spPr>
          <a:xfrm>
            <a:off x="4709160" y="2898648"/>
            <a:ext cx="4114800" cy="1536192"/>
          </a:xfrm>
          <a:prstGeom prst="rect">
            <a:avLst/>
          </a:prstGeom>
          <a:solidFill>
            <a:srgbClr val="FFFFFF"/>
          </a:solidFill>
          <a:ln w="12700">
            <a:solidFill>
              <a:srgbClr val="7C3AED">
                <a:alpha val="45000"/>
              </a:srgbClr>
            </a:solidFill>
            <a:prstDash val="solid"/>
          </a:ln>
          <a:effectLst>
            <a:outerShdw blurRad="127000" dist="38100" dir="8100000" algn="bl" rotWithShape="0">
              <a:srgbClr val="94A3B8">
                <a:alpha val="18000"/>
              </a:srgbClr>
            </a:outerShdw>
          </a:effectLst>
        </p:spPr>
      </p:sp>
      <p:sp>
        <p:nvSpPr>
          <p:cNvPr id="22" name="Shape 20"/>
          <p:cNvSpPr/>
          <p:nvPr/>
        </p:nvSpPr>
        <p:spPr>
          <a:xfrm>
            <a:off x="4873752" y="3081528"/>
            <a:ext cx="548640" cy="548640"/>
          </a:xfrm>
          <a:prstGeom prst="ellipse">
            <a:avLst/>
          </a:prstGeom>
          <a:solidFill>
            <a:srgbClr val="7C3AED">
              <a:alpha val="22000"/>
            </a:srgbClr>
          </a:solidFill>
          <a:ln w="12700">
            <a:solidFill>
              <a:srgbClr val="7C3AED">
                <a:alpha val="22000"/>
              </a:srgbClr>
            </a:solidFill>
            <a:prstDash val="solid"/>
          </a:ln>
        </p:spPr>
      </p:sp>
      <p:sp>
        <p:nvSpPr>
          <p:cNvPr id="23" name="Text 21"/>
          <p:cNvSpPr/>
          <p:nvPr/>
        </p:nvSpPr>
        <p:spPr>
          <a:xfrm>
            <a:off x="4873752" y="3081528"/>
            <a:ext cx="548640" cy="548640"/>
          </a:xfrm>
          <a:prstGeom prst="rect">
            <a:avLst/>
          </a:prstGeom>
          <a:noFill/>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24" name="Text 22"/>
          <p:cNvSpPr/>
          <p:nvPr/>
        </p:nvSpPr>
        <p:spPr>
          <a:xfrm>
            <a:off x="5532120" y="2990088"/>
            <a:ext cx="3154680" cy="457200"/>
          </a:xfrm>
          <a:prstGeom prst="rect">
            <a:avLst/>
          </a:prstGeom>
          <a:noFill/>
        </p:spPr>
        <p:txBody>
          <a:bodyPr wrap="square" lIns="0" tIns="0" rIns="0" bIns="0" rtlCol="0" anchor="ctr"/>
          <a:lstStyle/>
          <a:p>
            <a:pPr marL="0" indent="0">
              <a:buNone/>
            </a:pPr>
            <a:r>
              <a:rPr lang="en-US" sz="1300" b="1" dirty="0">
                <a:solidFill>
                  <a:srgbClr val="7C3AED"/>
                </a:solidFill>
                <a:latin typeface="Calibri" panose="020F0502020204030204" pitchFamily="34" charset="0"/>
                <a:ea typeface="Calibri" panose="020F0502020204030204" pitchFamily="34" charset="-122"/>
                <a:cs typeface="Calibri" panose="020F0502020204030204" pitchFamily="34" charset="-120"/>
              </a:rPr>
              <a:t>Building Trust</a:t>
            </a:r>
            <a:endParaRPr lang="en-US" sz="1300" dirty="0"/>
          </a:p>
        </p:txBody>
      </p:sp>
      <p:sp>
        <p:nvSpPr>
          <p:cNvPr id="25" name="Text 23"/>
          <p:cNvSpPr/>
          <p:nvPr/>
        </p:nvSpPr>
        <p:spPr>
          <a:xfrm>
            <a:off x="4873752" y="3675888"/>
            <a:ext cx="3840480" cy="694944"/>
          </a:xfrm>
          <a:prstGeom prst="rect">
            <a:avLst/>
          </a:prstGeom>
          <a:noFill/>
        </p:spPr>
        <p:txBody>
          <a:bodyPr wrap="square" rtlCol="0" anchor="ctr"/>
          <a:lstStyle/>
          <a:p>
            <a:pPr marL="0" indent="0">
              <a:buNone/>
            </a:pPr>
            <a:r>
              <a:rPr lang="en-US" sz="1150" dirty="0">
                <a:solidFill>
                  <a:srgbClr val="334155"/>
                </a:solidFill>
                <a:latin typeface="Calibri" panose="020F0502020204030204" pitchFamily="34" charset="0"/>
                <a:ea typeface="Calibri" panose="020F0502020204030204" pitchFamily="34" charset="-122"/>
                <a:cs typeface="Calibri" panose="020F0502020204030204" pitchFamily="34" charset="-120"/>
              </a:rPr>
              <a:t>Together, they build public trust and allow organizations to safely grow with new AI technology.</a:t>
            </a:r>
            <a:endParaRPr lang="en-US" sz="1150" dirty="0"/>
          </a:p>
        </p:txBody>
      </p:sp>
      <p:sp>
        <p:nvSpPr>
          <p:cNvPr id="26" name="Shape 24"/>
          <p:cNvSpPr/>
          <p:nvPr/>
        </p:nvSpPr>
        <p:spPr>
          <a:xfrm>
            <a:off x="320040" y="4617720"/>
            <a:ext cx="8503920" cy="438912"/>
          </a:xfrm>
          <a:prstGeom prst="rect">
            <a:avLst/>
          </a:prstGeom>
          <a:solidFill>
            <a:srgbClr val="1E3A5F">
              <a:alpha val="12000"/>
            </a:srgbClr>
          </a:solidFill>
          <a:ln w="12700">
            <a:solidFill>
              <a:srgbClr val="1E3A5F">
                <a:alpha val="25000"/>
              </a:srgbClr>
            </a:solidFill>
            <a:prstDash val="solid"/>
          </a:ln>
        </p:spPr>
      </p:sp>
      <p:sp>
        <p:nvSpPr>
          <p:cNvPr id="27" name="Text 25"/>
          <p:cNvSpPr/>
          <p:nvPr/>
        </p:nvSpPr>
        <p:spPr>
          <a:xfrm>
            <a:off x="475488" y="4645152"/>
            <a:ext cx="8321040" cy="384048"/>
          </a:xfrm>
          <a:prstGeom prst="rect">
            <a:avLst/>
          </a:prstGeom>
          <a:noFill/>
        </p:spPr>
        <p:txBody>
          <a:bodyPr wrap="square" rtlCol="0" anchor="ctr"/>
          <a:lstStyle/>
          <a:p>
            <a:pPr marL="0" indent="0" algn="ctr">
              <a:buNone/>
            </a:pPr>
            <a:r>
              <a:rPr lang="en-US" sz="1100" i="1" dirty="0">
                <a:solidFill>
                  <a:srgbClr val="1E3A5F"/>
                </a:solidFill>
                <a:latin typeface="Calibri" panose="020F0502020204030204" pitchFamily="34" charset="0"/>
                <a:ea typeface="Calibri" panose="020F0502020204030204" pitchFamily="34" charset="-122"/>
                <a:cs typeface="Calibri" panose="020F0502020204030204" pitchFamily="34" charset="-120"/>
              </a:rPr>
              <a:t>"Governance gives AI its rules. NIST AI RMF gives it protection. Together they create a machine that works to help humans."</a:t>
            </a:r>
            <a:endParaRPr lang="en-US" sz="1100"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669">
        <p15:prstTrans prst="peelOff"/>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E3A5F"/>
        </a:solidFill>
        <a:effectLst/>
      </p:bgPr>
    </p:bg>
    <p:spTree>
      <p:nvGrpSpPr>
        <p:cNvPr id="1" name=""/>
        <p:cNvGrpSpPr/>
        <p:nvPr/>
      </p:nvGrpSpPr>
      <p:grpSpPr>
        <a:xfrm>
          <a:off x="0" y="0"/>
          <a:ext cx="0" cy="0"/>
          <a:chOff x="0" y="0"/>
          <a:chExt cx="0" cy="0"/>
        </a:xfrm>
      </p:grpSpPr>
      <p:sp>
        <p:nvSpPr>
          <p:cNvPr id="2" name="Shape 0"/>
          <p:cNvSpPr/>
          <p:nvPr/>
        </p:nvSpPr>
        <p:spPr>
          <a:xfrm>
            <a:off x="5943600" y="-1371600"/>
            <a:ext cx="5486400" cy="5486400"/>
          </a:xfrm>
          <a:prstGeom prst="ellipse">
            <a:avLst/>
          </a:prstGeom>
          <a:solidFill>
            <a:srgbClr val="2563EB">
              <a:alpha val="12000"/>
            </a:srgbClr>
          </a:solidFill>
          <a:ln w="12700">
            <a:solidFill>
              <a:srgbClr val="2563EB">
                <a:alpha val="12000"/>
              </a:srgbClr>
            </a:solidFill>
            <a:prstDash val="solid"/>
          </a:ln>
        </p:spPr>
      </p:sp>
      <p:sp>
        <p:nvSpPr>
          <p:cNvPr id="3" name="Shape 1"/>
          <p:cNvSpPr/>
          <p:nvPr/>
        </p:nvSpPr>
        <p:spPr>
          <a:xfrm>
            <a:off x="-1371600" y="2743200"/>
            <a:ext cx="4114800" cy="4114800"/>
          </a:xfrm>
          <a:prstGeom prst="ellipse">
            <a:avLst/>
          </a:prstGeom>
          <a:solidFill>
            <a:srgbClr val="0891B2">
              <a:alpha val="12000"/>
            </a:srgbClr>
          </a:solidFill>
          <a:ln w="12700">
            <a:solidFill>
              <a:srgbClr val="0891B2">
                <a:alpha val="12000"/>
              </a:srgbClr>
            </a:solidFill>
            <a:prstDash val="solid"/>
          </a:ln>
        </p:spPr>
      </p:sp>
      <p:sp>
        <p:nvSpPr>
          <p:cNvPr id="4" name="Text 2"/>
          <p:cNvSpPr/>
          <p:nvPr/>
        </p:nvSpPr>
        <p:spPr>
          <a:xfrm>
            <a:off x="457200" y="731520"/>
            <a:ext cx="8229600" cy="1371600"/>
          </a:xfrm>
          <a:prstGeom prst="rect">
            <a:avLst/>
          </a:prstGeom>
          <a:noFill/>
        </p:spPr>
        <p:txBody>
          <a:bodyPr wrap="square" rtlCol="0" anchor="ctr"/>
          <a:lstStyle/>
          <a:p>
            <a:pPr marL="0" indent="0" algn="ctr">
              <a:buNone/>
            </a:pPr>
            <a:r>
              <a:rPr lang="en-US" sz="6200" b="1" dirty="0">
                <a:solidFill>
                  <a:srgbClr val="FFFFFF"/>
                </a:solidFill>
                <a:latin typeface="Calibri" panose="020F0502020204030204" pitchFamily="34" charset="0"/>
                <a:ea typeface="Calibri" panose="020F0502020204030204" pitchFamily="34" charset="-122"/>
                <a:cs typeface="Calibri" panose="020F0502020204030204" pitchFamily="34" charset="-120"/>
              </a:rPr>
              <a:t>Thank You</a:t>
            </a:r>
            <a:endParaRPr lang="en-US" sz="6200" dirty="0"/>
          </a:p>
        </p:txBody>
      </p:sp>
      <p:sp>
        <p:nvSpPr>
          <p:cNvPr id="5" name="Shape 3"/>
          <p:cNvSpPr/>
          <p:nvPr/>
        </p:nvSpPr>
        <p:spPr>
          <a:xfrm>
            <a:off x="2926080" y="2240280"/>
            <a:ext cx="3291840" cy="54864"/>
          </a:xfrm>
          <a:prstGeom prst="rect">
            <a:avLst/>
          </a:prstGeom>
          <a:solidFill>
            <a:srgbClr val="0891B2"/>
          </a:solidFill>
          <a:ln w="12700">
            <a:solidFill>
              <a:srgbClr val="0891B2"/>
            </a:solidFill>
            <a:prstDash val="solid"/>
          </a:ln>
        </p:spPr>
      </p:sp>
      <p:sp>
        <p:nvSpPr>
          <p:cNvPr id="6" name="Text 4"/>
          <p:cNvSpPr/>
          <p:nvPr/>
        </p:nvSpPr>
        <p:spPr>
          <a:xfrm>
            <a:off x="457200" y="2423160"/>
            <a:ext cx="8229600" cy="502920"/>
          </a:xfrm>
          <a:prstGeom prst="rect">
            <a:avLst/>
          </a:prstGeom>
          <a:noFill/>
        </p:spPr>
        <p:txBody>
          <a:bodyPr wrap="square" rtlCol="0" anchor="ctr"/>
          <a:lstStyle/>
          <a:p>
            <a:pPr marL="0" indent="0" algn="ctr">
              <a:buNone/>
            </a:pPr>
            <a:r>
              <a:rPr lang="en-US" sz="2000" i="1" dirty="0">
                <a:solidFill>
                  <a:srgbClr val="BAE6FD"/>
                </a:solidFill>
                <a:latin typeface="Calibri" panose="020F0502020204030204" pitchFamily="34" charset="0"/>
                <a:ea typeface="Calibri" panose="020F0502020204030204" pitchFamily="34" charset="-122"/>
                <a:cs typeface="Calibri" panose="020F0502020204030204" pitchFamily="34" charset="-120"/>
              </a:rPr>
              <a:t>End of Presentation</a:t>
            </a:r>
            <a:endParaRPr lang="en-US" sz="2000" dirty="0"/>
          </a:p>
        </p:txBody>
      </p:sp>
      <p:sp>
        <p:nvSpPr>
          <p:cNvPr id="7" name="Text 5"/>
          <p:cNvSpPr/>
          <p:nvPr/>
        </p:nvSpPr>
        <p:spPr>
          <a:xfrm>
            <a:off x="457200" y="3154680"/>
            <a:ext cx="8229600" cy="411480"/>
          </a:xfrm>
          <a:prstGeom prst="rect">
            <a:avLst/>
          </a:prstGeom>
          <a:noFill/>
        </p:spPr>
        <p:txBody>
          <a:bodyPr wrap="square" rtlCol="0" anchor="ctr"/>
          <a:lstStyle/>
          <a:p>
            <a:pPr marL="0" indent="0" algn="ctr">
              <a:buNone/>
            </a:pPr>
            <a:r>
              <a:rPr lang="en-US" sz="1400" dirty="0">
                <a:solidFill>
                  <a:srgbClr val="64748B"/>
                </a:solidFill>
                <a:latin typeface="Calibri" panose="020F0502020204030204" pitchFamily="34" charset="0"/>
                <a:ea typeface="Calibri" panose="020F0502020204030204" pitchFamily="34" charset="-122"/>
                <a:cs typeface="Calibri" panose="020F0502020204030204" pitchFamily="34" charset="-120"/>
              </a:rPr>
              <a:t>Foundations of AI Governance &amp; Cyber Risk Management</a:t>
            </a:r>
            <a:endParaRPr lang="en-US" sz="1400" dirty="0"/>
          </a:p>
        </p:txBody>
      </p:sp>
      <p:sp>
        <p:nvSpPr>
          <p:cNvPr id="8" name="Text 6"/>
          <p:cNvSpPr/>
          <p:nvPr/>
        </p:nvSpPr>
        <p:spPr>
          <a:xfrm>
            <a:off x="457200" y="3794760"/>
            <a:ext cx="8229600" cy="384048"/>
          </a:xfrm>
          <a:prstGeom prst="rect">
            <a:avLst/>
          </a:prstGeom>
          <a:noFill/>
        </p:spPr>
        <p:txBody>
          <a:bodyPr wrap="square" rtlCol="0" anchor="ctr"/>
          <a:lstStyle/>
          <a:p>
            <a:pPr marL="0" indent="0" algn="ctr">
              <a:buNone/>
            </a:pPr>
            <a:r>
              <a:rPr lang="en-US" sz="1300" dirty="0">
                <a:solidFill>
                  <a:schemeClr val="bg1"/>
                </a:solidFill>
                <a:latin typeface="Calibri" panose="020F0502020204030204" pitchFamily="34" charset="0"/>
                <a:ea typeface="Calibri" panose="020F0502020204030204" pitchFamily="34" charset="-122"/>
                <a:cs typeface="Calibri" panose="020F0502020204030204" pitchFamily="34" charset="-120"/>
              </a:rPr>
              <a:t>Muhammad Ali Subhaniee</a:t>
            </a:r>
            <a:endParaRPr lang="en-US" sz="1300" dirty="0">
              <a:solidFill>
                <a:schemeClr val="bg1"/>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250">
        <p15:prstTrans prst="airplane"/>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7918</Words>
  <Application>WPS Presentation</Application>
  <PresentationFormat>On-screen Show (16:9)</PresentationFormat>
  <Paragraphs>448</Paragraphs>
  <Slides>17</Slides>
  <Notes>18</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17</vt:i4>
      </vt:variant>
    </vt:vector>
  </HeadingPairs>
  <TitlesOfParts>
    <vt:vector size="26" baseType="lpstr">
      <vt:lpstr>Arial</vt:lpstr>
      <vt:lpstr>SimSun</vt:lpstr>
      <vt:lpstr>Wingdings</vt:lpstr>
      <vt:lpstr>Calibri</vt:lpstr>
      <vt:lpstr>Calibri</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Foundations of AI Governance and Cyber Risk Management</dc:title>
  <dc:creator>PptxGenJS</dc:creator>
  <dc:subject>PptxGenJS Presentation</dc:subject>
  <cp:lastModifiedBy>Muhammed Ali Subhaniee</cp:lastModifiedBy>
  <cp:revision>7</cp:revision>
  <dcterms:created xsi:type="dcterms:W3CDTF">2026-06-01T07:23:00Z</dcterms:created>
  <dcterms:modified xsi:type="dcterms:W3CDTF">2026-06-02T04:53:24Z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6FE98EB0DB1245A1A7777F102ACDFE5D_13</vt:lpwstr>
  </property>
  <property fmtid="{D5CDD505-2E9C-101B-9397-08002B2CF9AE}" pid="3" name="KSOProductBuildVer">
    <vt:lpwstr>1033-12.1.0.26880</vt:lpwstr>
  </property>
</Properties>
</file>