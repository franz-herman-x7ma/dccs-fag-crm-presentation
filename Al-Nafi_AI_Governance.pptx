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23"/>
  </p:handoutMasterIdLst>
  <p:sldIdLst>
    <p:sldId id="257" r:id="rId3"/>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4" r:id="rId18"/>
    <p:sldId id="276" r:id="rId19"/>
    <p:sldId id="271" r:id="rId20"/>
    <p:sldId id="272" r:id="rId21"/>
    <p:sldId id="273" r:id="rId2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900"/>
            </a:lvl1pPr>
          </a:lstStyle>
          <a:p>
            <a:endParaRPr lang="en-US"/>
          </a:p>
        </p:txBody>
      </p:sp>
      <p:sp>
        <p:nvSpPr>
          <p:cNvPr id="3" name="Date Placeholder 2"/>
          <p:cNvSpPr>
            <a:spLocks noGrp="1"/>
          </p:cNvSpPr>
          <p:nvPr>
            <p:ph type="dt" sz="quarter" idx="1"/>
          </p:nvPr>
        </p:nvSpPr>
        <p:spPr>
          <a:xfrm>
            <a:off x="2913460" y="0"/>
            <a:ext cx="2228850" cy="458788"/>
          </a:xfrm>
          <a:prstGeom prst="rect">
            <a:avLst/>
          </a:prstGeom>
        </p:spPr>
        <p:txBody>
          <a:bodyPr vert="horz" lIns="91440" tIns="45720" rIns="91440" bIns="45720" rtlCol="0"/>
          <a:lstStyle>
            <a:lvl1pPr algn="r">
              <a:defRPr sz="9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900"/>
            </a:lvl1pPr>
          </a:lstStyle>
          <a:p>
            <a:endParaRPr lang="en-US"/>
          </a:p>
        </p:txBody>
      </p:sp>
      <p:sp>
        <p:nvSpPr>
          <p:cNvPr id="5" name="Slide Number Placeholder 4"/>
          <p:cNvSpPr>
            <a:spLocks noGrp="1"/>
          </p:cNvSpPr>
          <p:nvPr>
            <p:ph type="sldNum" sz="quarter" idx="3"/>
          </p:nvPr>
        </p:nvSpPr>
        <p:spPr>
          <a:xfrm>
            <a:off x="2913460" y="8685213"/>
            <a:ext cx="2228850" cy="458787"/>
          </a:xfrm>
          <a:prstGeom prst="rect">
            <a:avLst/>
          </a:prstGeom>
        </p:spPr>
        <p:txBody>
          <a:bodyPr vert="horz" lIns="91440" tIns="45720" rIns="91440" bIns="45720" rtlCol="0" anchor="b"/>
          <a:lstStyle>
            <a:lvl1pPr algn="r">
              <a:defRPr sz="9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6400800" y="-1097280"/>
            <a:ext cx="4572000" cy="4572000"/>
          </a:xfrm>
          <a:prstGeom prst="ellipse">
            <a:avLst/>
          </a:prstGeom>
          <a:solidFill>
            <a:srgbClr val="2563EB">
              <a:alpha val="10000"/>
            </a:srgbClr>
          </a:solidFill>
          <a:ln w="12700">
            <a:solidFill>
              <a:srgbClr val="2563EB">
                <a:alpha val="10000"/>
              </a:srgbClr>
            </a:solidFill>
            <a:prstDash val="solid"/>
          </a:ln>
        </p:spPr>
      </p:sp>
      <p:sp>
        <p:nvSpPr>
          <p:cNvPr id="3" name="Shape 1"/>
          <p:cNvSpPr/>
          <p:nvPr/>
        </p:nvSpPr>
        <p:spPr>
          <a:xfrm>
            <a:off x="-914400" y="3200400"/>
            <a:ext cx="3474720" cy="3474720"/>
          </a:xfrm>
          <a:prstGeom prst="ellipse">
            <a:avLst/>
          </a:prstGeom>
          <a:solidFill>
            <a:srgbClr val="0891B2">
              <a:alpha val="10000"/>
            </a:srgbClr>
          </a:solidFill>
          <a:ln w="12700">
            <a:solidFill>
              <a:srgbClr val="0891B2">
                <a:alpha val="10000"/>
              </a:srgbClr>
            </a:solidFill>
            <a:prstDash val="solid"/>
          </a:ln>
        </p:spPr>
      </p:sp>
      <p:sp>
        <p:nvSpPr>
          <p:cNvPr id="4" name="Shape 2"/>
          <p:cNvSpPr/>
          <p:nvPr/>
        </p:nvSpPr>
        <p:spPr>
          <a:xfrm>
            <a:off x="548640" y="1005840"/>
            <a:ext cx="2377440" cy="347472"/>
          </a:xfrm>
          <a:prstGeom prst="roundRect">
            <a:avLst>
              <a:gd name="adj" fmla="val 31579"/>
            </a:avLst>
          </a:prstGeom>
          <a:solidFill>
            <a:srgbClr val="2563EB">
              <a:alpha val="20000"/>
            </a:srgbClr>
          </a:solidFill>
          <a:ln w="12700">
            <a:solidFill>
              <a:srgbClr val="2563EB">
                <a:alpha val="40000"/>
              </a:srgbClr>
            </a:solidFill>
            <a:prstDash val="solid"/>
          </a:ln>
        </p:spPr>
      </p:sp>
      <p:sp>
        <p:nvSpPr>
          <p:cNvPr id="5" name="Text 3"/>
          <p:cNvSpPr/>
          <p:nvPr/>
        </p:nvSpPr>
        <p:spPr>
          <a:xfrm>
            <a:off x="548640" y="1005840"/>
            <a:ext cx="2377440" cy="347472"/>
          </a:xfrm>
          <a:prstGeom prst="rect">
            <a:avLst/>
          </a:prstGeom>
          <a:noFill/>
        </p:spPr>
        <p:txBody>
          <a:bodyPr wrap="square" lIns="0" tIns="0" rIns="0" bIns="0" rtlCol="0" anchor="ctr"/>
          <a:lstStyle/>
          <a:p>
            <a:pPr marL="0" indent="0" algn="ctr">
              <a:buNone/>
            </a:pPr>
            <a:r>
              <a:rPr lang="en-US" sz="950" dirty="0"/>
              <a:t>DCCS - Diploma In Cloud Cybersecurity</a:t>
            </a:r>
            <a:endParaRPr lang="en-US" sz="950" dirty="0"/>
          </a:p>
        </p:txBody>
      </p:sp>
      <p:sp>
        <p:nvSpPr>
          <p:cNvPr id="6" name="Text 4"/>
          <p:cNvSpPr/>
          <p:nvPr/>
        </p:nvSpPr>
        <p:spPr>
          <a:xfrm>
            <a:off x="548640" y="1463040"/>
            <a:ext cx="7772400" cy="2194560"/>
          </a:xfrm>
          <a:prstGeom prst="rect">
            <a:avLst/>
          </a:prstGeom>
          <a:noFill/>
        </p:spPr>
        <p:txBody>
          <a:bodyPr wrap="square" rtlCol="0" anchor="ctr"/>
          <a:lstStyle/>
          <a:p>
            <a:pPr marL="0" indent="0">
              <a:buNone/>
            </a:pPr>
            <a:r>
              <a:rPr lang="en-US" sz="4000" b="1" dirty="0">
                <a:solidFill>
                  <a:srgbClr val="1E3A5F"/>
                </a:solidFill>
                <a:latin typeface="Calibri" panose="020F0502020204030204" pitchFamily="34" charset="0"/>
                <a:ea typeface="Calibri" panose="020F0502020204030204" pitchFamily="34" charset="-122"/>
                <a:cs typeface="Calibri" panose="020F0502020204030204" pitchFamily="34" charset="-120"/>
              </a:rPr>
              <a:t>Foundations of AI Governance</a:t>
            </a:r>
            <a:endParaRPr lang="en-US" sz="4000" dirty="0"/>
          </a:p>
          <a:p>
            <a:pPr marL="0" indent="0">
              <a:buNone/>
            </a:pPr>
            <a:r>
              <a:rPr lang="en-US" sz="4000" b="1" dirty="0">
                <a:solidFill>
                  <a:srgbClr val="1E3A5F"/>
                </a:solidFill>
                <a:latin typeface="Calibri" panose="020F0502020204030204" pitchFamily="34" charset="0"/>
                <a:ea typeface="Calibri" panose="020F0502020204030204" pitchFamily="34" charset="-122"/>
                <a:cs typeface="Calibri" panose="020F0502020204030204" pitchFamily="34" charset="-120"/>
              </a:rPr>
              <a:t>and Cyber Risk Management</a:t>
            </a:r>
            <a:endParaRPr lang="en-US" sz="4000" dirty="0"/>
          </a:p>
        </p:txBody>
      </p:sp>
      <p:sp>
        <p:nvSpPr>
          <p:cNvPr id="7" name="Shape 5"/>
          <p:cNvSpPr/>
          <p:nvPr/>
        </p:nvSpPr>
        <p:spPr>
          <a:xfrm>
            <a:off x="548640" y="3749040"/>
            <a:ext cx="2743200" cy="45720"/>
          </a:xfrm>
          <a:prstGeom prst="rect">
            <a:avLst/>
          </a:prstGeom>
          <a:solidFill>
            <a:srgbClr val="0891B2"/>
          </a:solidFill>
          <a:ln w="12700">
            <a:solidFill>
              <a:srgbClr val="0891B2"/>
            </a:solidFill>
            <a:prstDash val="solid"/>
          </a:ln>
        </p:spPr>
      </p:sp>
      <p:sp>
        <p:nvSpPr>
          <p:cNvPr id="8" name="Text 6"/>
          <p:cNvSpPr/>
          <p:nvPr/>
        </p:nvSpPr>
        <p:spPr>
          <a:xfrm>
            <a:off x="548640" y="3931920"/>
            <a:ext cx="4572000" cy="411480"/>
          </a:xfrm>
          <a:prstGeom prst="rect">
            <a:avLst/>
          </a:prstGeom>
          <a:noFill/>
        </p:spPr>
        <p:txBody>
          <a:bodyPr wrap="square" rtlCol="0" anchor="ctr"/>
          <a:lstStyle/>
          <a:p>
            <a:pPr marL="0" indent="0">
              <a:buNone/>
            </a:pPr>
            <a:r>
              <a:rPr lang="en-US" sz="1400" dirty="0">
                <a:solidFill>
                  <a:srgbClr val="64748B"/>
                </a:solidFill>
                <a:latin typeface="Calibri" panose="020F0502020204030204" pitchFamily="34" charset="0"/>
                <a:ea typeface="Calibri" panose="020F0502020204030204" pitchFamily="34" charset="-122"/>
                <a:cs typeface="Calibri" panose="020F0502020204030204" pitchFamily="34" charset="-120"/>
              </a:rPr>
              <a:t>Muhammad Ali Subhaniee</a:t>
            </a:r>
            <a:endParaRPr lang="en-US" sz="1400" dirty="0"/>
          </a:p>
        </p:txBody>
      </p:sp>
      <p:sp>
        <p:nvSpPr>
          <p:cNvPr id="9" name="Shape 7"/>
          <p:cNvSpPr/>
          <p:nvPr/>
        </p:nvSpPr>
        <p:spPr>
          <a:xfrm>
            <a:off x="7132320" y="1097280"/>
            <a:ext cx="640080" cy="640080"/>
          </a:xfrm>
          <a:prstGeom prst="ellipse">
            <a:avLst/>
          </a:prstGeom>
          <a:solidFill>
            <a:srgbClr val="2563EB">
              <a:alpha val="12000"/>
            </a:srgbClr>
          </a:solidFill>
          <a:ln w="12700">
            <a:solidFill>
              <a:srgbClr val="2563EB">
                <a:alpha val="12000"/>
              </a:srgbClr>
            </a:solidFill>
            <a:prstDash val="solid"/>
          </a:ln>
        </p:spPr>
      </p:sp>
      <p:sp>
        <p:nvSpPr>
          <p:cNvPr id="10" name="Text 8"/>
          <p:cNvSpPr/>
          <p:nvPr/>
        </p:nvSpPr>
        <p:spPr>
          <a:xfrm>
            <a:off x="7132320" y="1115568"/>
            <a:ext cx="640080" cy="594360"/>
          </a:xfrm>
          <a:prstGeom prst="rect">
            <a:avLst/>
          </a:prstGeom>
          <a:noFill/>
        </p:spPr>
        <p:txBody>
          <a:bodyPr wrap="square" lIns="0" tIns="0" rIns="0" bIns="0" rtlCol="0" anchor="ctr"/>
          <a:lstStyle/>
          <a:p>
            <a:pPr marL="0" indent="0" algn="l">
              <a:buNone/>
            </a:pPr>
            <a:r>
              <a:rPr lang="en-US" sz="2200" dirty="0">
                <a:solidFill>
                  <a:srgbClr val="000000"/>
                </a:solidFill>
              </a:rPr>
              <a:t>   ⚙</a:t>
            </a:r>
            <a:endParaRPr lang="en-US" sz="2200" dirty="0"/>
          </a:p>
        </p:txBody>
      </p:sp>
      <p:sp>
        <p:nvSpPr>
          <p:cNvPr id="11" name="Shape 9"/>
          <p:cNvSpPr/>
          <p:nvPr/>
        </p:nvSpPr>
        <p:spPr>
          <a:xfrm>
            <a:off x="7146290" y="1920240"/>
            <a:ext cx="626110" cy="640080"/>
          </a:xfrm>
          <a:prstGeom prst="ellipse">
            <a:avLst/>
          </a:prstGeom>
          <a:solidFill>
            <a:srgbClr val="2563EB">
              <a:alpha val="12000"/>
            </a:srgbClr>
          </a:solidFill>
          <a:ln w="12700">
            <a:solidFill>
              <a:srgbClr val="2563EB">
                <a:alpha val="12000"/>
              </a:srgbClr>
            </a:solidFill>
            <a:prstDash val="solid"/>
          </a:ln>
        </p:spPr>
      </p:sp>
      <p:sp>
        <p:nvSpPr>
          <p:cNvPr id="12" name="Text 10"/>
          <p:cNvSpPr/>
          <p:nvPr/>
        </p:nvSpPr>
        <p:spPr>
          <a:xfrm>
            <a:off x="7132320" y="1938528"/>
            <a:ext cx="640080" cy="594360"/>
          </a:xfrm>
          <a:prstGeom prst="rect">
            <a:avLst/>
          </a:prstGeom>
          <a:noFill/>
        </p:spPr>
        <p:txBody>
          <a:bodyPr wrap="square" lIns="0" tIns="0" rIns="0" bIns="0" rtlCol="0" anchor="ctr"/>
          <a:lstStyle/>
          <a:p>
            <a:pPr marL="0" indent="0" algn="l">
              <a:buNone/>
            </a:pPr>
            <a:r>
              <a:rPr lang="en-US" sz="2200" dirty="0">
                <a:solidFill>
                  <a:srgbClr val="000000"/>
                </a:solidFill>
              </a:rPr>
              <a:t>  🔒</a:t>
            </a:r>
            <a:endParaRPr lang="en-US" sz="2200" dirty="0"/>
          </a:p>
        </p:txBody>
      </p:sp>
      <p:sp>
        <p:nvSpPr>
          <p:cNvPr id="13" name="Shape 11"/>
          <p:cNvSpPr/>
          <p:nvPr/>
        </p:nvSpPr>
        <p:spPr>
          <a:xfrm>
            <a:off x="7132320" y="2743200"/>
            <a:ext cx="640080" cy="640080"/>
          </a:xfrm>
          <a:prstGeom prst="ellipse">
            <a:avLst/>
          </a:prstGeom>
          <a:solidFill>
            <a:srgbClr val="2563EB">
              <a:alpha val="12000"/>
            </a:srgbClr>
          </a:solidFill>
          <a:ln w="12700">
            <a:solidFill>
              <a:srgbClr val="2563EB">
                <a:alpha val="12000"/>
              </a:srgbClr>
            </a:solidFill>
            <a:prstDash val="solid"/>
          </a:ln>
        </p:spPr>
      </p:sp>
      <p:sp>
        <p:nvSpPr>
          <p:cNvPr id="14" name="Text 12"/>
          <p:cNvSpPr/>
          <p:nvPr/>
        </p:nvSpPr>
        <p:spPr>
          <a:xfrm>
            <a:off x="7132320" y="2761488"/>
            <a:ext cx="640080" cy="594360"/>
          </a:xfrm>
          <a:prstGeom prst="rect">
            <a:avLst/>
          </a:prstGeom>
          <a:noFill/>
        </p:spPr>
        <p:txBody>
          <a:bodyPr wrap="square" lIns="0" tIns="0" rIns="0" bIns="0" rtlCol="0" anchor="ctr"/>
          <a:lstStyle/>
          <a:p>
            <a:pPr marL="0" indent="0" algn="l">
              <a:buNone/>
            </a:pPr>
            <a:r>
              <a:rPr lang="en-US" sz="2200" dirty="0">
                <a:solidFill>
                  <a:srgbClr val="000000"/>
                </a:solidFill>
              </a:rPr>
              <a:t>  🧠</a:t>
            </a:r>
            <a:endParaRPr lang="en-US" sz="2200" dirty="0"/>
          </a:p>
        </p:txBody>
      </p:sp>
      <p:sp>
        <p:nvSpPr>
          <p:cNvPr id="15" name="Shape 13"/>
          <p:cNvSpPr/>
          <p:nvPr/>
        </p:nvSpPr>
        <p:spPr>
          <a:xfrm>
            <a:off x="7132320" y="3566160"/>
            <a:ext cx="640080" cy="640080"/>
          </a:xfrm>
          <a:prstGeom prst="ellipse">
            <a:avLst/>
          </a:prstGeom>
          <a:solidFill>
            <a:srgbClr val="2563EB">
              <a:alpha val="12000"/>
            </a:srgbClr>
          </a:solidFill>
          <a:ln w="12700">
            <a:solidFill>
              <a:srgbClr val="2563EB">
                <a:alpha val="12000"/>
              </a:srgbClr>
            </a:solidFill>
            <a:prstDash val="solid"/>
          </a:ln>
        </p:spPr>
      </p:sp>
      <p:sp>
        <p:nvSpPr>
          <p:cNvPr id="16" name="Text 14"/>
          <p:cNvSpPr/>
          <p:nvPr/>
        </p:nvSpPr>
        <p:spPr>
          <a:xfrm>
            <a:off x="7132320" y="3584448"/>
            <a:ext cx="640080" cy="594360"/>
          </a:xfrm>
          <a:prstGeom prst="rect">
            <a:avLst/>
          </a:prstGeom>
          <a:noFill/>
        </p:spPr>
        <p:txBody>
          <a:bodyPr wrap="square" lIns="0" tIns="0" rIns="0" bIns="0" rtlCol="0" anchor="ctr"/>
          <a:lstStyle/>
          <a:p>
            <a:pPr marL="0" indent="0" algn="l">
              <a:buNone/>
            </a:pPr>
            <a:r>
              <a:rPr lang="en-US" sz="2200" dirty="0">
                <a:solidFill>
                  <a:srgbClr val="000000"/>
                </a:solidFill>
              </a:rPr>
              <a:t>  🛡</a:t>
            </a:r>
            <a:endParaRPr lang="en-US" sz="22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3250">
        <p15:prstTrans prst="peelOff"/>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563EB">
              <a:alpha val="14000"/>
            </a:srgbClr>
          </a:solidFill>
          <a:ln w="12700">
            <a:solidFill>
              <a:srgbClr val="2563EB">
                <a:alpha val="14000"/>
              </a:srgbClr>
            </a:solidFill>
            <a:prstDash val="solid"/>
          </a:ln>
        </p:spPr>
      </p:sp>
      <p:sp>
        <p:nvSpPr>
          <p:cNvPr id="3" name="Text 1"/>
          <p:cNvSpPr/>
          <p:nvPr/>
        </p:nvSpPr>
        <p:spPr>
          <a:xfrm>
            <a:off x="502920"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Contents</a:t>
            </a:r>
            <a:endParaRPr lang="en-US" sz="3000" dirty="0"/>
          </a:p>
        </p:txBody>
      </p:sp>
      <p:sp>
        <p:nvSpPr>
          <p:cNvPr id="4" name="Shape 2"/>
          <p:cNvSpPr/>
          <p:nvPr/>
        </p:nvSpPr>
        <p:spPr>
          <a:xfrm>
            <a:off x="320040" y="1052068"/>
            <a:ext cx="4069080" cy="512064"/>
          </a:xfrm>
          <a:prstGeom prst="rect">
            <a:avLst/>
          </a:prstGeom>
          <a:solidFill>
            <a:srgbClr val="FFFFFF"/>
          </a:solidFill>
          <a:ln w="12700">
            <a:solidFill>
              <a:srgbClr val="2563EB">
                <a:alpha val="35000"/>
              </a:srgbClr>
            </a:solidFill>
            <a:prstDash val="solid"/>
          </a:ln>
          <a:effectLst>
            <a:outerShdw blurRad="127000" dist="38100" dir="8100000" algn="bl" rotWithShape="0">
              <a:srgbClr val="94A3B8">
                <a:alpha val="18000"/>
              </a:srgbClr>
            </a:outerShdw>
          </a:effectLst>
        </p:spPr>
      </p:sp>
      <p:sp>
        <p:nvSpPr>
          <p:cNvPr id="5" name="Shape 3"/>
          <p:cNvSpPr/>
          <p:nvPr/>
        </p:nvSpPr>
        <p:spPr>
          <a:xfrm>
            <a:off x="320040" y="1052068"/>
            <a:ext cx="54864" cy="512064"/>
          </a:xfrm>
          <a:prstGeom prst="rect">
            <a:avLst/>
          </a:prstGeom>
          <a:solidFill>
            <a:srgbClr val="2563EB"/>
          </a:solidFill>
          <a:ln w="12700">
            <a:solidFill>
              <a:srgbClr val="2563EB"/>
            </a:solidFill>
            <a:prstDash val="solid"/>
          </a:ln>
        </p:spPr>
      </p:sp>
      <p:sp>
        <p:nvSpPr>
          <p:cNvPr id="6" name="Text 4"/>
          <p:cNvSpPr/>
          <p:nvPr/>
        </p:nvSpPr>
        <p:spPr>
          <a:xfrm>
            <a:off x="457200" y="1052068"/>
            <a:ext cx="411480" cy="512064"/>
          </a:xfrm>
          <a:prstGeom prst="rect">
            <a:avLst/>
          </a:prstGeom>
          <a:noFill/>
        </p:spPr>
        <p:txBody>
          <a:bodyPr wrap="square" lIns="0" tIns="0" rIns="0" bIns="0" rtlCol="0" anchor="ctr"/>
          <a:lstStyle/>
          <a:p>
            <a:pPr marL="0" indent="0" algn="ctr">
              <a:buNone/>
            </a:pPr>
            <a:r>
              <a:rPr lang="en-US" sz="1100" b="1" dirty="0">
                <a:solidFill>
                  <a:srgbClr val="2563EB"/>
                </a:solidFill>
              </a:rPr>
              <a:t>01</a:t>
            </a:r>
            <a:endParaRPr lang="en-US" sz="1100" dirty="0"/>
          </a:p>
        </p:txBody>
      </p:sp>
      <p:sp>
        <p:nvSpPr>
          <p:cNvPr id="7" name="Text 5"/>
          <p:cNvSpPr/>
          <p:nvPr/>
        </p:nvSpPr>
        <p:spPr>
          <a:xfrm>
            <a:off x="914400" y="105206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Definition &amp; Overview</a:t>
            </a:r>
            <a:endParaRPr lang="en-US" sz="1150" dirty="0"/>
          </a:p>
        </p:txBody>
      </p:sp>
      <p:sp>
        <p:nvSpPr>
          <p:cNvPr id="8" name="Shape 6"/>
          <p:cNvSpPr/>
          <p:nvPr/>
        </p:nvSpPr>
        <p:spPr>
          <a:xfrm>
            <a:off x="320040" y="1646428"/>
            <a:ext cx="4069080" cy="512064"/>
          </a:xfrm>
          <a:prstGeom prst="rect">
            <a:avLst/>
          </a:prstGeom>
          <a:solidFill>
            <a:srgbClr val="FFFFFF"/>
          </a:solidFill>
          <a:ln w="12700">
            <a:solidFill>
              <a:srgbClr val="0891B2">
                <a:alpha val="35000"/>
              </a:srgbClr>
            </a:solidFill>
            <a:prstDash val="solid"/>
          </a:ln>
          <a:effectLst>
            <a:outerShdw blurRad="127000" dist="38100" dir="8100000" algn="bl" rotWithShape="0">
              <a:srgbClr val="94A3B8">
                <a:alpha val="18000"/>
              </a:srgbClr>
            </a:outerShdw>
          </a:effectLst>
        </p:spPr>
      </p:sp>
      <p:sp>
        <p:nvSpPr>
          <p:cNvPr id="9" name="Shape 7"/>
          <p:cNvSpPr/>
          <p:nvPr/>
        </p:nvSpPr>
        <p:spPr>
          <a:xfrm>
            <a:off x="320040" y="1646428"/>
            <a:ext cx="54864" cy="512064"/>
          </a:xfrm>
          <a:prstGeom prst="rect">
            <a:avLst/>
          </a:prstGeom>
          <a:solidFill>
            <a:srgbClr val="0891B2"/>
          </a:solidFill>
          <a:ln w="12700">
            <a:solidFill>
              <a:srgbClr val="0891B2"/>
            </a:solidFill>
            <a:prstDash val="solid"/>
          </a:ln>
        </p:spPr>
      </p:sp>
      <p:sp>
        <p:nvSpPr>
          <p:cNvPr id="10" name="Text 8"/>
          <p:cNvSpPr/>
          <p:nvPr/>
        </p:nvSpPr>
        <p:spPr>
          <a:xfrm>
            <a:off x="457200" y="1646428"/>
            <a:ext cx="411480" cy="512064"/>
          </a:xfrm>
          <a:prstGeom prst="rect">
            <a:avLst/>
          </a:prstGeom>
          <a:noFill/>
        </p:spPr>
        <p:txBody>
          <a:bodyPr wrap="square" lIns="0" tIns="0" rIns="0" bIns="0" rtlCol="0" anchor="ctr"/>
          <a:lstStyle/>
          <a:p>
            <a:pPr marL="0" indent="0" algn="ctr">
              <a:buNone/>
            </a:pPr>
            <a:r>
              <a:rPr lang="en-US" sz="1100" b="1" dirty="0">
                <a:solidFill>
                  <a:srgbClr val="0891B2"/>
                </a:solidFill>
              </a:rPr>
              <a:t>02</a:t>
            </a:r>
            <a:endParaRPr lang="en-US" sz="1100" dirty="0"/>
          </a:p>
        </p:txBody>
      </p:sp>
      <p:sp>
        <p:nvSpPr>
          <p:cNvPr id="11" name="Text 9"/>
          <p:cNvSpPr/>
          <p:nvPr/>
        </p:nvSpPr>
        <p:spPr>
          <a:xfrm>
            <a:off x="914400" y="164642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Importance</a:t>
            </a:r>
            <a:endParaRPr lang="en-US" sz="1150" dirty="0"/>
          </a:p>
        </p:txBody>
      </p:sp>
      <p:sp>
        <p:nvSpPr>
          <p:cNvPr id="12" name="Shape 10"/>
          <p:cNvSpPr/>
          <p:nvPr/>
        </p:nvSpPr>
        <p:spPr>
          <a:xfrm>
            <a:off x="320040" y="2240788"/>
            <a:ext cx="4069080" cy="512064"/>
          </a:xfrm>
          <a:prstGeom prst="rect">
            <a:avLst/>
          </a:prstGeom>
          <a:solidFill>
            <a:srgbClr val="FFFFFF"/>
          </a:solidFill>
          <a:ln w="12700">
            <a:solidFill>
              <a:srgbClr val="7C3AED">
                <a:alpha val="35000"/>
              </a:srgbClr>
            </a:solidFill>
            <a:prstDash val="solid"/>
          </a:ln>
          <a:effectLst>
            <a:outerShdw blurRad="127000" dist="38100" dir="8100000" algn="bl" rotWithShape="0">
              <a:srgbClr val="94A3B8">
                <a:alpha val="18000"/>
              </a:srgbClr>
            </a:outerShdw>
          </a:effectLst>
        </p:spPr>
      </p:sp>
      <p:sp>
        <p:nvSpPr>
          <p:cNvPr id="13" name="Shape 11"/>
          <p:cNvSpPr/>
          <p:nvPr/>
        </p:nvSpPr>
        <p:spPr>
          <a:xfrm>
            <a:off x="320040" y="2240788"/>
            <a:ext cx="54864" cy="512064"/>
          </a:xfrm>
          <a:prstGeom prst="rect">
            <a:avLst/>
          </a:prstGeom>
          <a:solidFill>
            <a:srgbClr val="7C3AED"/>
          </a:solidFill>
          <a:ln w="12700">
            <a:solidFill>
              <a:srgbClr val="7C3AED"/>
            </a:solidFill>
            <a:prstDash val="solid"/>
          </a:ln>
        </p:spPr>
      </p:sp>
      <p:sp>
        <p:nvSpPr>
          <p:cNvPr id="14" name="Text 12"/>
          <p:cNvSpPr/>
          <p:nvPr/>
        </p:nvSpPr>
        <p:spPr>
          <a:xfrm>
            <a:off x="457200" y="2240788"/>
            <a:ext cx="411480" cy="512064"/>
          </a:xfrm>
          <a:prstGeom prst="rect">
            <a:avLst/>
          </a:prstGeom>
          <a:noFill/>
        </p:spPr>
        <p:txBody>
          <a:bodyPr wrap="square" lIns="0" tIns="0" rIns="0" bIns="0" rtlCol="0" anchor="ctr"/>
          <a:lstStyle/>
          <a:p>
            <a:pPr marL="0" indent="0" algn="ctr">
              <a:buNone/>
            </a:pPr>
            <a:r>
              <a:rPr lang="en-US" sz="1100" b="1" dirty="0">
                <a:solidFill>
                  <a:srgbClr val="7C3AED"/>
                </a:solidFill>
              </a:rPr>
              <a:t>03</a:t>
            </a:r>
            <a:endParaRPr lang="en-US" sz="1100" dirty="0"/>
          </a:p>
        </p:txBody>
      </p:sp>
      <p:sp>
        <p:nvSpPr>
          <p:cNvPr id="15" name="Text 13"/>
          <p:cNvSpPr/>
          <p:nvPr/>
        </p:nvSpPr>
        <p:spPr>
          <a:xfrm>
            <a:off x="914400" y="224078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Key Components</a:t>
            </a:r>
            <a:endParaRPr lang="en-US" sz="1150" dirty="0"/>
          </a:p>
        </p:txBody>
      </p:sp>
      <p:sp>
        <p:nvSpPr>
          <p:cNvPr id="16" name="Shape 14"/>
          <p:cNvSpPr/>
          <p:nvPr/>
        </p:nvSpPr>
        <p:spPr>
          <a:xfrm>
            <a:off x="320040" y="2835148"/>
            <a:ext cx="4069080" cy="512064"/>
          </a:xfrm>
          <a:prstGeom prst="rect">
            <a:avLst/>
          </a:prstGeom>
          <a:solidFill>
            <a:srgbClr val="FFFFFF"/>
          </a:solidFill>
          <a:ln w="12700">
            <a:solidFill>
              <a:srgbClr val="DC2626">
                <a:alpha val="35000"/>
              </a:srgbClr>
            </a:solidFill>
            <a:prstDash val="solid"/>
          </a:ln>
          <a:effectLst>
            <a:outerShdw blurRad="127000" dist="38100" dir="8100000" algn="bl" rotWithShape="0">
              <a:srgbClr val="94A3B8">
                <a:alpha val="18000"/>
              </a:srgbClr>
            </a:outerShdw>
          </a:effectLst>
        </p:spPr>
      </p:sp>
      <p:sp>
        <p:nvSpPr>
          <p:cNvPr id="17" name="Shape 15"/>
          <p:cNvSpPr/>
          <p:nvPr/>
        </p:nvSpPr>
        <p:spPr>
          <a:xfrm>
            <a:off x="320040" y="2835148"/>
            <a:ext cx="54864" cy="512064"/>
          </a:xfrm>
          <a:prstGeom prst="rect">
            <a:avLst/>
          </a:prstGeom>
          <a:solidFill>
            <a:srgbClr val="DC2626"/>
          </a:solidFill>
          <a:ln w="12700">
            <a:solidFill>
              <a:srgbClr val="DC2626"/>
            </a:solidFill>
            <a:prstDash val="solid"/>
          </a:ln>
        </p:spPr>
      </p:sp>
      <p:sp>
        <p:nvSpPr>
          <p:cNvPr id="18" name="Text 16"/>
          <p:cNvSpPr/>
          <p:nvPr/>
        </p:nvSpPr>
        <p:spPr>
          <a:xfrm>
            <a:off x="457200" y="2835148"/>
            <a:ext cx="411480" cy="512064"/>
          </a:xfrm>
          <a:prstGeom prst="rect">
            <a:avLst/>
          </a:prstGeom>
          <a:noFill/>
        </p:spPr>
        <p:txBody>
          <a:bodyPr wrap="square" lIns="0" tIns="0" rIns="0" bIns="0" rtlCol="0" anchor="ctr"/>
          <a:lstStyle/>
          <a:p>
            <a:pPr marL="0" indent="0" algn="ctr">
              <a:buNone/>
            </a:pPr>
            <a:r>
              <a:rPr lang="en-US" sz="1100" b="1" dirty="0">
                <a:solidFill>
                  <a:srgbClr val="DC2626"/>
                </a:solidFill>
              </a:rPr>
              <a:t>04</a:t>
            </a:r>
            <a:endParaRPr lang="en-US" sz="1100" dirty="0"/>
          </a:p>
        </p:txBody>
      </p:sp>
      <p:sp>
        <p:nvSpPr>
          <p:cNvPr id="19" name="Text 17"/>
          <p:cNvSpPr/>
          <p:nvPr/>
        </p:nvSpPr>
        <p:spPr>
          <a:xfrm>
            <a:off x="914400" y="283514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Types of Risk</a:t>
            </a:r>
            <a:endParaRPr lang="en-US" sz="1150" dirty="0"/>
          </a:p>
        </p:txBody>
      </p:sp>
      <p:sp>
        <p:nvSpPr>
          <p:cNvPr id="20" name="Shape 18"/>
          <p:cNvSpPr/>
          <p:nvPr/>
        </p:nvSpPr>
        <p:spPr>
          <a:xfrm>
            <a:off x="320040" y="3429508"/>
            <a:ext cx="4069080" cy="512064"/>
          </a:xfrm>
          <a:prstGeom prst="rect">
            <a:avLst/>
          </a:prstGeom>
          <a:solidFill>
            <a:srgbClr val="FFFFFF"/>
          </a:solidFill>
          <a:ln w="12700">
            <a:solidFill>
              <a:srgbClr val="D97706">
                <a:alpha val="35000"/>
              </a:srgbClr>
            </a:solidFill>
            <a:prstDash val="solid"/>
          </a:ln>
          <a:effectLst>
            <a:outerShdw blurRad="127000" dist="38100" dir="8100000" algn="bl" rotWithShape="0">
              <a:srgbClr val="94A3B8">
                <a:alpha val="18000"/>
              </a:srgbClr>
            </a:outerShdw>
          </a:effectLst>
        </p:spPr>
      </p:sp>
      <p:sp>
        <p:nvSpPr>
          <p:cNvPr id="21" name="Shape 19"/>
          <p:cNvSpPr/>
          <p:nvPr/>
        </p:nvSpPr>
        <p:spPr>
          <a:xfrm>
            <a:off x="320040" y="3429508"/>
            <a:ext cx="54864" cy="512064"/>
          </a:xfrm>
          <a:prstGeom prst="rect">
            <a:avLst/>
          </a:prstGeom>
          <a:solidFill>
            <a:srgbClr val="D97706"/>
          </a:solidFill>
          <a:ln w="12700">
            <a:solidFill>
              <a:srgbClr val="D97706"/>
            </a:solidFill>
            <a:prstDash val="solid"/>
          </a:ln>
        </p:spPr>
      </p:sp>
      <p:sp>
        <p:nvSpPr>
          <p:cNvPr id="22" name="Text 20"/>
          <p:cNvSpPr/>
          <p:nvPr/>
        </p:nvSpPr>
        <p:spPr>
          <a:xfrm>
            <a:off x="457200" y="3429508"/>
            <a:ext cx="411480" cy="512064"/>
          </a:xfrm>
          <a:prstGeom prst="rect">
            <a:avLst/>
          </a:prstGeom>
          <a:noFill/>
        </p:spPr>
        <p:txBody>
          <a:bodyPr wrap="square" lIns="0" tIns="0" rIns="0" bIns="0" rtlCol="0" anchor="ctr"/>
          <a:lstStyle/>
          <a:p>
            <a:pPr marL="0" indent="0" algn="ctr">
              <a:buNone/>
            </a:pPr>
            <a:r>
              <a:rPr lang="en-US" sz="1100" b="1" dirty="0">
                <a:solidFill>
                  <a:srgbClr val="D97706"/>
                </a:solidFill>
              </a:rPr>
              <a:t>05</a:t>
            </a:r>
            <a:endParaRPr lang="en-US" sz="1100" dirty="0"/>
          </a:p>
        </p:txBody>
      </p:sp>
      <p:sp>
        <p:nvSpPr>
          <p:cNvPr id="23" name="Text 21"/>
          <p:cNvSpPr/>
          <p:nvPr/>
        </p:nvSpPr>
        <p:spPr>
          <a:xfrm>
            <a:off x="914400" y="342950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Potential Risks</a:t>
            </a:r>
            <a:endParaRPr lang="en-US" sz="1150" dirty="0"/>
          </a:p>
        </p:txBody>
      </p:sp>
      <p:sp>
        <p:nvSpPr>
          <p:cNvPr id="24" name="Shape 22"/>
          <p:cNvSpPr/>
          <p:nvPr/>
        </p:nvSpPr>
        <p:spPr>
          <a:xfrm>
            <a:off x="320040" y="4023868"/>
            <a:ext cx="4069080" cy="512064"/>
          </a:xfrm>
          <a:prstGeom prst="rect">
            <a:avLst/>
          </a:prstGeom>
          <a:solidFill>
            <a:srgbClr val="FFFFFF"/>
          </a:solidFill>
          <a:ln w="12700">
            <a:solidFill>
              <a:srgbClr val="1E3A5F">
                <a:alpha val="35000"/>
              </a:srgbClr>
            </a:solidFill>
            <a:prstDash val="solid"/>
          </a:ln>
          <a:effectLst>
            <a:outerShdw blurRad="127000" dist="38100" dir="8100000" algn="bl" rotWithShape="0">
              <a:srgbClr val="94A3B8">
                <a:alpha val="18000"/>
              </a:srgbClr>
            </a:outerShdw>
          </a:effectLst>
        </p:spPr>
      </p:sp>
      <p:sp>
        <p:nvSpPr>
          <p:cNvPr id="25" name="Shape 23"/>
          <p:cNvSpPr/>
          <p:nvPr/>
        </p:nvSpPr>
        <p:spPr>
          <a:xfrm>
            <a:off x="320040" y="4023868"/>
            <a:ext cx="54864" cy="512064"/>
          </a:xfrm>
          <a:prstGeom prst="rect">
            <a:avLst/>
          </a:prstGeom>
          <a:solidFill>
            <a:srgbClr val="1E3A5F"/>
          </a:solidFill>
          <a:ln w="12700">
            <a:solidFill>
              <a:srgbClr val="1E3A5F"/>
            </a:solidFill>
            <a:prstDash val="solid"/>
          </a:ln>
        </p:spPr>
      </p:sp>
      <p:sp>
        <p:nvSpPr>
          <p:cNvPr id="26" name="Text 24"/>
          <p:cNvSpPr/>
          <p:nvPr/>
        </p:nvSpPr>
        <p:spPr>
          <a:xfrm>
            <a:off x="457200" y="4023868"/>
            <a:ext cx="411480" cy="512064"/>
          </a:xfrm>
          <a:prstGeom prst="rect">
            <a:avLst/>
          </a:prstGeom>
          <a:noFill/>
        </p:spPr>
        <p:txBody>
          <a:bodyPr wrap="square" lIns="0" tIns="0" rIns="0" bIns="0" rtlCol="0" anchor="ctr"/>
          <a:lstStyle/>
          <a:p>
            <a:pPr marL="0" indent="0" algn="ctr">
              <a:buNone/>
            </a:pPr>
            <a:r>
              <a:rPr lang="en-US" sz="1100" b="1" dirty="0">
                <a:solidFill>
                  <a:srgbClr val="1E3A5F"/>
                </a:solidFill>
              </a:rPr>
              <a:t>06</a:t>
            </a:r>
            <a:endParaRPr lang="en-US" sz="1100" dirty="0"/>
          </a:p>
        </p:txBody>
      </p:sp>
      <p:sp>
        <p:nvSpPr>
          <p:cNvPr id="27" name="Text 25"/>
          <p:cNvSpPr/>
          <p:nvPr/>
        </p:nvSpPr>
        <p:spPr>
          <a:xfrm>
            <a:off x="914400" y="402386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Risk Due to Lack of Transparency</a:t>
            </a:r>
            <a:endParaRPr lang="en-US" sz="1150" dirty="0"/>
          </a:p>
        </p:txBody>
      </p:sp>
      <p:sp>
        <p:nvSpPr>
          <p:cNvPr id="28" name="Shape 26"/>
          <p:cNvSpPr/>
          <p:nvPr/>
        </p:nvSpPr>
        <p:spPr>
          <a:xfrm>
            <a:off x="320040" y="4618228"/>
            <a:ext cx="4069080" cy="512064"/>
          </a:xfrm>
          <a:prstGeom prst="rect">
            <a:avLst/>
          </a:prstGeom>
          <a:solidFill>
            <a:srgbClr val="FFFFFF"/>
          </a:solidFill>
          <a:ln w="12700">
            <a:solidFill>
              <a:srgbClr val="10B981">
                <a:alpha val="35000"/>
              </a:srgbClr>
            </a:solidFill>
            <a:prstDash val="solid"/>
          </a:ln>
          <a:effectLst>
            <a:outerShdw blurRad="127000" dist="38100" dir="8100000" algn="bl" rotWithShape="0">
              <a:srgbClr val="94A3B8">
                <a:alpha val="18000"/>
              </a:srgbClr>
            </a:outerShdw>
          </a:effectLst>
        </p:spPr>
      </p:sp>
      <p:sp>
        <p:nvSpPr>
          <p:cNvPr id="29" name="Shape 27"/>
          <p:cNvSpPr/>
          <p:nvPr/>
        </p:nvSpPr>
        <p:spPr>
          <a:xfrm>
            <a:off x="320040" y="4618228"/>
            <a:ext cx="54864" cy="512064"/>
          </a:xfrm>
          <a:prstGeom prst="rect">
            <a:avLst/>
          </a:prstGeom>
          <a:solidFill>
            <a:srgbClr val="10B981"/>
          </a:solidFill>
          <a:ln w="12700">
            <a:solidFill>
              <a:srgbClr val="10B981"/>
            </a:solidFill>
            <a:prstDash val="solid"/>
          </a:ln>
        </p:spPr>
      </p:sp>
      <p:sp>
        <p:nvSpPr>
          <p:cNvPr id="30" name="Text 28"/>
          <p:cNvSpPr/>
          <p:nvPr/>
        </p:nvSpPr>
        <p:spPr>
          <a:xfrm>
            <a:off x="457200" y="4618228"/>
            <a:ext cx="411480" cy="512064"/>
          </a:xfrm>
          <a:prstGeom prst="rect">
            <a:avLst/>
          </a:prstGeom>
          <a:noFill/>
        </p:spPr>
        <p:txBody>
          <a:bodyPr wrap="square" lIns="0" tIns="0" rIns="0" bIns="0" rtlCol="0" anchor="ctr"/>
          <a:lstStyle/>
          <a:p>
            <a:pPr marL="0" indent="0" algn="ctr">
              <a:buNone/>
            </a:pPr>
            <a:r>
              <a:rPr lang="en-US" sz="1100" b="1" dirty="0">
                <a:solidFill>
                  <a:srgbClr val="10B981"/>
                </a:solidFill>
              </a:rPr>
              <a:t>07</a:t>
            </a:r>
            <a:endParaRPr lang="en-US" sz="1100" dirty="0"/>
          </a:p>
        </p:txBody>
      </p:sp>
      <p:sp>
        <p:nvSpPr>
          <p:cNvPr id="31" name="Text 29"/>
          <p:cNvSpPr/>
          <p:nvPr/>
        </p:nvSpPr>
        <p:spPr>
          <a:xfrm>
            <a:off x="914400" y="461822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Purpose of Risk Assessment</a:t>
            </a:r>
            <a:endParaRPr lang="en-US" sz="1150" dirty="0"/>
          </a:p>
        </p:txBody>
      </p:sp>
      <p:sp>
        <p:nvSpPr>
          <p:cNvPr id="32" name="Shape 30"/>
          <p:cNvSpPr/>
          <p:nvPr/>
        </p:nvSpPr>
        <p:spPr>
          <a:xfrm>
            <a:off x="4754880" y="1052068"/>
            <a:ext cx="4069080" cy="512064"/>
          </a:xfrm>
          <a:prstGeom prst="rect">
            <a:avLst/>
          </a:prstGeom>
          <a:solidFill>
            <a:srgbClr val="FFFFFF"/>
          </a:solidFill>
          <a:ln w="12700">
            <a:solidFill>
              <a:srgbClr val="0891B2">
                <a:alpha val="35000"/>
              </a:srgbClr>
            </a:solidFill>
            <a:prstDash val="solid"/>
          </a:ln>
          <a:effectLst>
            <a:outerShdw blurRad="127000" dist="38100" dir="8100000" algn="bl" rotWithShape="0">
              <a:srgbClr val="94A3B8">
                <a:alpha val="18000"/>
              </a:srgbClr>
            </a:outerShdw>
          </a:effectLst>
        </p:spPr>
      </p:sp>
      <p:sp>
        <p:nvSpPr>
          <p:cNvPr id="33" name="Shape 31"/>
          <p:cNvSpPr/>
          <p:nvPr/>
        </p:nvSpPr>
        <p:spPr>
          <a:xfrm>
            <a:off x="4754880" y="1052068"/>
            <a:ext cx="54864" cy="512064"/>
          </a:xfrm>
          <a:prstGeom prst="rect">
            <a:avLst/>
          </a:prstGeom>
          <a:solidFill>
            <a:srgbClr val="0891B2"/>
          </a:solidFill>
          <a:ln w="12700">
            <a:solidFill>
              <a:srgbClr val="0891B2"/>
            </a:solidFill>
            <a:prstDash val="solid"/>
          </a:ln>
        </p:spPr>
      </p:sp>
      <p:sp>
        <p:nvSpPr>
          <p:cNvPr id="34" name="Text 32"/>
          <p:cNvSpPr/>
          <p:nvPr/>
        </p:nvSpPr>
        <p:spPr>
          <a:xfrm>
            <a:off x="4892040" y="1052068"/>
            <a:ext cx="411480" cy="512064"/>
          </a:xfrm>
          <a:prstGeom prst="rect">
            <a:avLst/>
          </a:prstGeom>
          <a:noFill/>
        </p:spPr>
        <p:txBody>
          <a:bodyPr wrap="square" lIns="0" tIns="0" rIns="0" bIns="0" rtlCol="0" anchor="ctr"/>
          <a:lstStyle/>
          <a:p>
            <a:pPr marL="0" indent="0" algn="ctr">
              <a:buNone/>
            </a:pPr>
            <a:r>
              <a:rPr lang="en-US" sz="1100" b="1" dirty="0">
                <a:solidFill>
                  <a:srgbClr val="0891B2"/>
                </a:solidFill>
              </a:rPr>
              <a:t>08</a:t>
            </a:r>
            <a:endParaRPr lang="en-US" sz="1100" dirty="0"/>
          </a:p>
        </p:txBody>
      </p:sp>
      <p:sp>
        <p:nvSpPr>
          <p:cNvPr id="35" name="Text 33"/>
          <p:cNvSpPr/>
          <p:nvPr/>
        </p:nvSpPr>
        <p:spPr>
          <a:xfrm>
            <a:off x="5349240" y="105206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Mitigation Strategies</a:t>
            </a:r>
            <a:endParaRPr lang="en-US" sz="1150" dirty="0"/>
          </a:p>
        </p:txBody>
      </p:sp>
      <p:sp>
        <p:nvSpPr>
          <p:cNvPr id="36" name="Shape 34"/>
          <p:cNvSpPr/>
          <p:nvPr/>
        </p:nvSpPr>
        <p:spPr>
          <a:xfrm>
            <a:off x="4754880" y="1646428"/>
            <a:ext cx="4069080" cy="512064"/>
          </a:xfrm>
          <a:prstGeom prst="rect">
            <a:avLst/>
          </a:prstGeom>
          <a:solidFill>
            <a:srgbClr val="FFFFFF"/>
          </a:solidFill>
          <a:ln w="12700">
            <a:solidFill>
              <a:srgbClr val="2563EB">
                <a:alpha val="35000"/>
              </a:srgbClr>
            </a:solidFill>
            <a:prstDash val="solid"/>
          </a:ln>
          <a:effectLst>
            <a:outerShdw blurRad="127000" dist="38100" dir="8100000" algn="bl" rotWithShape="0">
              <a:srgbClr val="94A3B8">
                <a:alpha val="18000"/>
              </a:srgbClr>
            </a:outerShdw>
          </a:effectLst>
        </p:spPr>
      </p:sp>
      <p:sp>
        <p:nvSpPr>
          <p:cNvPr id="37" name="Shape 35"/>
          <p:cNvSpPr/>
          <p:nvPr/>
        </p:nvSpPr>
        <p:spPr>
          <a:xfrm>
            <a:off x="4754880" y="1646428"/>
            <a:ext cx="54864" cy="512064"/>
          </a:xfrm>
          <a:prstGeom prst="rect">
            <a:avLst/>
          </a:prstGeom>
          <a:solidFill>
            <a:srgbClr val="2563EB"/>
          </a:solidFill>
          <a:ln w="12700">
            <a:solidFill>
              <a:srgbClr val="2563EB"/>
            </a:solidFill>
            <a:prstDash val="solid"/>
          </a:ln>
        </p:spPr>
      </p:sp>
      <p:sp>
        <p:nvSpPr>
          <p:cNvPr id="38" name="Text 36"/>
          <p:cNvSpPr/>
          <p:nvPr/>
        </p:nvSpPr>
        <p:spPr>
          <a:xfrm>
            <a:off x="4892040" y="1646428"/>
            <a:ext cx="411480" cy="512064"/>
          </a:xfrm>
          <a:prstGeom prst="rect">
            <a:avLst/>
          </a:prstGeom>
          <a:noFill/>
        </p:spPr>
        <p:txBody>
          <a:bodyPr wrap="square" lIns="0" tIns="0" rIns="0" bIns="0" rtlCol="0" anchor="ctr"/>
          <a:lstStyle/>
          <a:p>
            <a:pPr marL="0" indent="0" algn="ctr">
              <a:buNone/>
            </a:pPr>
            <a:r>
              <a:rPr lang="en-US" sz="1100" b="1" dirty="0">
                <a:solidFill>
                  <a:srgbClr val="2563EB"/>
                </a:solidFill>
              </a:rPr>
              <a:t>09</a:t>
            </a:r>
            <a:endParaRPr lang="en-US" sz="1100" dirty="0"/>
          </a:p>
        </p:txBody>
      </p:sp>
      <p:sp>
        <p:nvSpPr>
          <p:cNvPr id="39" name="Text 37"/>
          <p:cNvSpPr/>
          <p:nvPr/>
        </p:nvSpPr>
        <p:spPr>
          <a:xfrm>
            <a:off x="5349240" y="164642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NIST AI RMF</a:t>
            </a:r>
            <a:endParaRPr lang="en-US" sz="1150" dirty="0"/>
          </a:p>
        </p:txBody>
      </p:sp>
      <p:sp>
        <p:nvSpPr>
          <p:cNvPr id="40" name="Shape 38"/>
          <p:cNvSpPr/>
          <p:nvPr/>
        </p:nvSpPr>
        <p:spPr>
          <a:xfrm>
            <a:off x="4754880" y="2240788"/>
            <a:ext cx="4069080" cy="512064"/>
          </a:xfrm>
          <a:prstGeom prst="rect">
            <a:avLst/>
          </a:prstGeom>
          <a:solidFill>
            <a:srgbClr val="FFFFFF"/>
          </a:solidFill>
          <a:ln w="12700">
            <a:solidFill>
              <a:srgbClr val="7C3AED">
                <a:alpha val="35000"/>
              </a:srgbClr>
            </a:solidFill>
            <a:prstDash val="solid"/>
          </a:ln>
          <a:effectLst>
            <a:outerShdw blurRad="127000" dist="38100" dir="8100000" algn="bl" rotWithShape="0">
              <a:srgbClr val="94A3B8">
                <a:alpha val="18000"/>
              </a:srgbClr>
            </a:outerShdw>
          </a:effectLst>
        </p:spPr>
      </p:sp>
      <p:sp>
        <p:nvSpPr>
          <p:cNvPr id="41" name="Shape 39"/>
          <p:cNvSpPr/>
          <p:nvPr/>
        </p:nvSpPr>
        <p:spPr>
          <a:xfrm>
            <a:off x="4754880" y="2240788"/>
            <a:ext cx="54864" cy="512064"/>
          </a:xfrm>
          <a:prstGeom prst="rect">
            <a:avLst/>
          </a:prstGeom>
          <a:solidFill>
            <a:srgbClr val="7C3AED"/>
          </a:solidFill>
          <a:ln w="12700">
            <a:solidFill>
              <a:srgbClr val="7C3AED"/>
            </a:solidFill>
            <a:prstDash val="solid"/>
          </a:ln>
        </p:spPr>
      </p:sp>
      <p:sp>
        <p:nvSpPr>
          <p:cNvPr id="42" name="Text 40"/>
          <p:cNvSpPr/>
          <p:nvPr/>
        </p:nvSpPr>
        <p:spPr>
          <a:xfrm>
            <a:off x="4892040" y="2240788"/>
            <a:ext cx="411480" cy="512064"/>
          </a:xfrm>
          <a:prstGeom prst="rect">
            <a:avLst/>
          </a:prstGeom>
          <a:noFill/>
        </p:spPr>
        <p:txBody>
          <a:bodyPr wrap="square" lIns="0" tIns="0" rIns="0" bIns="0" rtlCol="0" anchor="ctr"/>
          <a:lstStyle/>
          <a:p>
            <a:pPr marL="0" indent="0" algn="ctr">
              <a:buNone/>
            </a:pPr>
            <a:r>
              <a:rPr lang="en-US" sz="1100" b="1" dirty="0">
                <a:solidFill>
                  <a:srgbClr val="7C3AED"/>
                </a:solidFill>
              </a:rPr>
              <a:t>10</a:t>
            </a:r>
            <a:endParaRPr lang="en-US" sz="1100" dirty="0"/>
          </a:p>
        </p:txBody>
      </p:sp>
      <p:sp>
        <p:nvSpPr>
          <p:cNvPr id="43" name="Text 41"/>
          <p:cNvSpPr/>
          <p:nvPr/>
        </p:nvSpPr>
        <p:spPr>
          <a:xfrm>
            <a:off x="5349240" y="224078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Main Objectives of NIST AI RMF</a:t>
            </a:r>
            <a:endParaRPr lang="en-US" sz="1150" dirty="0"/>
          </a:p>
        </p:txBody>
      </p:sp>
      <p:sp>
        <p:nvSpPr>
          <p:cNvPr id="44" name="Shape 42"/>
          <p:cNvSpPr/>
          <p:nvPr/>
        </p:nvSpPr>
        <p:spPr>
          <a:xfrm>
            <a:off x="4754880" y="4023868"/>
            <a:ext cx="4069080" cy="512064"/>
          </a:xfrm>
          <a:prstGeom prst="rect">
            <a:avLst/>
          </a:prstGeom>
          <a:solidFill>
            <a:srgbClr val="FFFFFF"/>
          </a:solidFill>
          <a:ln w="12700">
            <a:solidFill>
              <a:srgbClr val="D97706">
                <a:alpha val="35000"/>
              </a:srgbClr>
            </a:solidFill>
            <a:prstDash val="solid"/>
          </a:ln>
          <a:effectLst>
            <a:outerShdw blurRad="127000" dist="38100" dir="8100000" algn="bl" rotWithShape="0">
              <a:srgbClr val="94A3B8">
                <a:alpha val="18000"/>
              </a:srgbClr>
            </a:outerShdw>
          </a:effectLst>
        </p:spPr>
      </p:sp>
      <p:sp>
        <p:nvSpPr>
          <p:cNvPr id="45" name="Shape 43"/>
          <p:cNvSpPr/>
          <p:nvPr/>
        </p:nvSpPr>
        <p:spPr>
          <a:xfrm>
            <a:off x="4754880" y="4023868"/>
            <a:ext cx="54864" cy="512064"/>
          </a:xfrm>
          <a:prstGeom prst="rect">
            <a:avLst/>
          </a:prstGeom>
          <a:solidFill>
            <a:srgbClr val="D97706"/>
          </a:solidFill>
          <a:ln w="12700">
            <a:solidFill>
              <a:srgbClr val="D97706"/>
            </a:solidFill>
            <a:prstDash val="solid"/>
          </a:ln>
        </p:spPr>
      </p:sp>
      <p:sp>
        <p:nvSpPr>
          <p:cNvPr id="46" name="Text 44"/>
          <p:cNvSpPr/>
          <p:nvPr/>
        </p:nvSpPr>
        <p:spPr>
          <a:xfrm>
            <a:off x="4892040" y="4023868"/>
            <a:ext cx="411480" cy="512064"/>
          </a:xfrm>
          <a:prstGeom prst="rect">
            <a:avLst/>
          </a:prstGeom>
          <a:noFill/>
        </p:spPr>
        <p:txBody>
          <a:bodyPr wrap="square" lIns="0" tIns="0" rIns="0" bIns="0" rtlCol="0" anchor="ctr"/>
          <a:lstStyle/>
          <a:p>
            <a:pPr marL="0" indent="0" algn="ctr">
              <a:buNone/>
            </a:pPr>
            <a:r>
              <a:rPr lang="en-US" sz="1100" b="1" dirty="0">
                <a:solidFill>
                  <a:srgbClr val="D97706"/>
                </a:solidFill>
              </a:rPr>
              <a:t>13</a:t>
            </a:r>
            <a:endParaRPr lang="en-US" sz="1100" dirty="0"/>
          </a:p>
        </p:txBody>
      </p:sp>
      <p:sp>
        <p:nvSpPr>
          <p:cNvPr id="47" name="Text 45"/>
          <p:cNvSpPr/>
          <p:nvPr/>
        </p:nvSpPr>
        <p:spPr>
          <a:xfrm>
            <a:off x="5349240" y="402386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AI Use Case &amp; Its Risks</a:t>
            </a:r>
            <a:endParaRPr lang="en-US" sz="1150" dirty="0"/>
          </a:p>
        </p:txBody>
      </p:sp>
      <p:sp>
        <p:nvSpPr>
          <p:cNvPr id="48" name="Shape 46"/>
          <p:cNvSpPr/>
          <p:nvPr/>
        </p:nvSpPr>
        <p:spPr>
          <a:xfrm>
            <a:off x="4754880" y="4618228"/>
            <a:ext cx="4069080" cy="512064"/>
          </a:xfrm>
          <a:prstGeom prst="rect">
            <a:avLst/>
          </a:prstGeom>
          <a:solidFill>
            <a:srgbClr val="FFFFFF"/>
          </a:solidFill>
          <a:ln w="12700">
            <a:solidFill>
              <a:srgbClr val="1E3A5F">
                <a:alpha val="35000"/>
              </a:srgbClr>
            </a:solidFill>
            <a:prstDash val="solid"/>
          </a:ln>
          <a:effectLst>
            <a:outerShdw blurRad="127000" dist="38100" dir="8100000" algn="bl" rotWithShape="0">
              <a:srgbClr val="94A3B8">
                <a:alpha val="18000"/>
              </a:srgbClr>
            </a:outerShdw>
          </a:effectLst>
        </p:spPr>
      </p:sp>
      <p:sp>
        <p:nvSpPr>
          <p:cNvPr id="49" name="Shape 47"/>
          <p:cNvSpPr/>
          <p:nvPr/>
        </p:nvSpPr>
        <p:spPr>
          <a:xfrm>
            <a:off x="4754880" y="4618228"/>
            <a:ext cx="54864" cy="512064"/>
          </a:xfrm>
          <a:prstGeom prst="rect">
            <a:avLst/>
          </a:prstGeom>
          <a:solidFill>
            <a:srgbClr val="1E3A5F"/>
          </a:solidFill>
          <a:ln w="12700">
            <a:solidFill>
              <a:srgbClr val="1E3A5F"/>
            </a:solidFill>
            <a:prstDash val="solid"/>
          </a:ln>
        </p:spPr>
      </p:sp>
      <p:sp>
        <p:nvSpPr>
          <p:cNvPr id="50" name="Text 48"/>
          <p:cNvSpPr/>
          <p:nvPr/>
        </p:nvSpPr>
        <p:spPr>
          <a:xfrm>
            <a:off x="4892040" y="4618228"/>
            <a:ext cx="411480" cy="512064"/>
          </a:xfrm>
          <a:prstGeom prst="rect">
            <a:avLst/>
          </a:prstGeom>
          <a:noFill/>
        </p:spPr>
        <p:txBody>
          <a:bodyPr wrap="square" lIns="0" tIns="0" rIns="0" bIns="0" rtlCol="0" anchor="ctr"/>
          <a:lstStyle/>
          <a:p>
            <a:pPr marL="0" indent="0" algn="ctr">
              <a:buNone/>
            </a:pPr>
            <a:r>
              <a:rPr lang="en-US" sz="1100" b="1" dirty="0">
                <a:solidFill>
                  <a:srgbClr val="1E3A5F"/>
                </a:solidFill>
              </a:rPr>
              <a:t>14</a:t>
            </a:r>
            <a:endParaRPr lang="en-US" sz="1100" dirty="0"/>
          </a:p>
        </p:txBody>
      </p:sp>
      <p:sp>
        <p:nvSpPr>
          <p:cNvPr id="51" name="Text 49"/>
          <p:cNvSpPr/>
          <p:nvPr/>
        </p:nvSpPr>
        <p:spPr>
          <a:xfrm>
            <a:off x="5349240" y="461822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Conclusion</a:t>
            </a:r>
            <a:endParaRPr lang="en-US" sz="1150" dirty="0"/>
          </a:p>
        </p:txBody>
      </p:sp>
      <p:sp>
        <p:nvSpPr>
          <p:cNvPr id="52" name="Shape 50"/>
          <p:cNvSpPr/>
          <p:nvPr/>
        </p:nvSpPr>
        <p:spPr>
          <a:xfrm>
            <a:off x="4754880" y="2835148"/>
            <a:ext cx="4069080" cy="512064"/>
          </a:xfrm>
          <a:prstGeom prst="rect">
            <a:avLst/>
          </a:prstGeom>
          <a:solidFill>
            <a:srgbClr val="FFFFFF"/>
          </a:solidFill>
          <a:ln w="12700">
            <a:solidFill>
              <a:srgbClr val="2563EB">
                <a:alpha val="35000"/>
              </a:srgbClr>
            </a:solidFill>
            <a:prstDash val="solid"/>
          </a:ln>
          <a:effectLst>
            <a:outerShdw blurRad="127000" dist="38100" dir="8100000" algn="bl" rotWithShape="0">
              <a:srgbClr val="94A3B8">
                <a:alpha val="18000"/>
              </a:srgbClr>
            </a:outerShdw>
          </a:effectLst>
        </p:spPr>
      </p:sp>
      <p:sp>
        <p:nvSpPr>
          <p:cNvPr id="53" name="Shape 51"/>
          <p:cNvSpPr/>
          <p:nvPr/>
        </p:nvSpPr>
        <p:spPr>
          <a:xfrm>
            <a:off x="4754880" y="2835148"/>
            <a:ext cx="54864" cy="512064"/>
          </a:xfrm>
          <a:prstGeom prst="rect">
            <a:avLst/>
          </a:prstGeom>
          <a:solidFill>
            <a:srgbClr val="2563EB"/>
          </a:solidFill>
          <a:ln w="12700">
            <a:solidFill>
              <a:srgbClr val="2563EB"/>
            </a:solidFill>
            <a:prstDash val="solid"/>
          </a:ln>
        </p:spPr>
      </p:sp>
      <p:sp>
        <p:nvSpPr>
          <p:cNvPr id="54" name="Text 52"/>
          <p:cNvSpPr/>
          <p:nvPr/>
        </p:nvSpPr>
        <p:spPr>
          <a:xfrm>
            <a:off x="4892040" y="2835148"/>
            <a:ext cx="411480" cy="512064"/>
          </a:xfrm>
          <a:prstGeom prst="rect">
            <a:avLst/>
          </a:prstGeom>
          <a:noFill/>
        </p:spPr>
        <p:txBody>
          <a:bodyPr wrap="square" lIns="0" tIns="0" rIns="0" bIns="0" rtlCol="0" anchor="ctr"/>
          <a:lstStyle/>
          <a:p>
            <a:pPr marL="0" indent="0" algn="ctr">
              <a:buNone/>
            </a:pPr>
            <a:r>
              <a:rPr lang="en-US" sz="1100" b="1" dirty="0">
                <a:solidFill>
                  <a:srgbClr val="2563EB"/>
                </a:solidFill>
              </a:rPr>
              <a:t>11</a:t>
            </a:r>
            <a:endParaRPr lang="en-US" sz="1100" dirty="0"/>
          </a:p>
        </p:txBody>
      </p:sp>
      <p:sp>
        <p:nvSpPr>
          <p:cNvPr id="55" name="Text 53"/>
          <p:cNvSpPr/>
          <p:nvPr/>
        </p:nvSpPr>
        <p:spPr>
          <a:xfrm>
            <a:off x="5349240" y="283514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ISO 42001</a:t>
            </a:r>
            <a:endParaRPr lang="en-US" sz="1150" dirty="0"/>
          </a:p>
        </p:txBody>
      </p:sp>
      <p:sp>
        <p:nvSpPr>
          <p:cNvPr id="56" name="Shape 54"/>
          <p:cNvSpPr/>
          <p:nvPr/>
        </p:nvSpPr>
        <p:spPr>
          <a:xfrm>
            <a:off x="4754880" y="3429508"/>
            <a:ext cx="4069080" cy="512064"/>
          </a:xfrm>
          <a:prstGeom prst="rect">
            <a:avLst/>
          </a:prstGeom>
          <a:solidFill>
            <a:srgbClr val="FFFFFF"/>
          </a:solidFill>
          <a:ln w="12700">
            <a:solidFill>
              <a:srgbClr val="1E3A5F">
                <a:alpha val="35000"/>
              </a:srgbClr>
            </a:solidFill>
            <a:prstDash val="solid"/>
          </a:ln>
          <a:effectLst>
            <a:outerShdw blurRad="127000" dist="38100" dir="8100000" algn="bl" rotWithShape="0">
              <a:srgbClr val="94A3B8">
                <a:alpha val="18000"/>
              </a:srgbClr>
            </a:outerShdw>
          </a:effectLst>
        </p:spPr>
      </p:sp>
      <p:sp>
        <p:nvSpPr>
          <p:cNvPr id="57" name="Shape 55"/>
          <p:cNvSpPr/>
          <p:nvPr/>
        </p:nvSpPr>
        <p:spPr>
          <a:xfrm>
            <a:off x="4754880" y="3429508"/>
            <a:ext cx="54864" cy="512064"/>
          </a:xfrm>
          <a:prstGeom prst="rect">
            <a:avLst/>
          </a:prstGeom>
          <a:solidFill>
            <a:srgbClr val="1E3A5F"/>
          </a:solidFill>
          <a:ln w="12700">
            <a:solidFill>
              <a:srgbClr val="1E3A5F"/>
            </a:solidFill>
            <a:prstDash val="solid"/>
          </a:ln>
        </p:spPr>
      </p:sp>
      <p:sp>
        <p:nvSpPr>
          <p:cNvPr id="58" name="Text 56"/>
          <p:cNvSpPr/>
          <p:nvPr/>
        </p:nvSpPr>
        <p:spPr>
          <a:xfrm>
            <a:off x="4892040" y="3429508"/>
            <a:ext cx="411480" cy="512064"/>
          </a:xfrm>
          <a:prstGeom prst="rect">
            <a:avLst/>
          </a:prstGeom>
          <a:noFill/>
        </p:spPr>
        <p:txBody>
          <a:bodyPr wrap="square" lIns="0" tIns="0" rIns="0" bIns="0" rtlCol="0" anchor="ctr"/>
          <a:lstStyle/>
          <a:p>
            <a:pPr marL="0" indent="0" algn="ctr">
              <a:buNone/>
            </a:pPr>
            <a:r>
              <a:rPr lang="en-US" sz="1100" b="1" dirty="0">
                <a:solidFill>
                  <a:srgbClr val="1E3A5F"/>
                </a:solidFill>
              </a:rPr>
              <a:t>12</a:t>
            </a:r>
            <a:endParaRPr lang="en-US" sz="1100" dirty="0"/>
          </a:p>
        </p:txBody>
      </p:sp>
      <p:sp>
        <p:nvSpPr>
          <p:cNvPr id="59" name="Text 57"/>
          <p:cNvSpPr/>
          <p:nvPr/>
        </p:nvSpPr>
        <p:spPr>
          <a:xfrm>
            <a:off x="5349240" y="342950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Main Objectives of ISO 42001</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563EB">
              <a:alpha val="14000"/>
            </a:srgbClr>
          </a:solidFill>
          <a:ln w="12700">
            <a:solidFill>
              <a:srgbClr val="2563EB">
                <a:alpha val="14000"/>
              </a:srgbClr>
            </a:solidFill>
            <a:prstDash val="solid"/>
          </a:ln>
        </p:spPr>
      </p:sp>
      <p:sp>
        <p:nvSpPr>
          <p:cNvPr id="3" name="Shape 1"/>
          <p:cNvSpPr/>
          <p:nvPr/>
        </p:nvSpPr>
        <p:spPr>
          <a:xfrm>
            <a:off x="274320" y="182880"/>
            <a:ext cx="658368" cy="658368"/>
          </a:xfrm>
          <a:prstGeom prst="ellipse">
            <a:avLst/>
          </a:prstGeom>
          <a:solidFill>
            <a:srgbClr val="2563EB">
              <a:alpha val="45000"/>
            </a:srgbClr>
          </a:solidFill>
          <a:ln w="12700">
            <a:solidFill>
              <a:srgbClr val="2563EB">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2563EB"/>
                </a:solidFill>
              </a:rPr>
              <a:t>01</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Definition &amp; Overview</a:t>
            </a:r>
            <a:endParaRPr lang="en-US" sz="3000" dirty="0"/>
          </a:p>
        </p:txBody>
      </p:sp>
      <p:sp>
        <p:nvSpPr>
          <p:cNvPr id="6" name="Shape 4"/>
          <p:cNvSpPr/>
          <p:nvPr/>
        </p:nvSpPr>
        <p:spPr>
          <a:xfrm>
            <a:off x="320040" y="1207008"/>
            <a:ext cx="4114800" cy="169164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207008"/>
            <a:ext cx="4114800" cy="457200"/>
          </a:xfrm>
          <a:prstGeom prst="rect">
            <a:avLst/>
          </a:prstGeom>
          <a:solidFill>
            <a:srgbClr val="2563EB">
              <a:alpha val="20000"/>
            </a:srgbClr>
          </a:solidFill>
          <a:ln w="12700">
            <a:solidFill>
              <a:srgbClr val="2563EB">
                <a:alpha val="20000"/>
              </a:srgbClr>
            </a:solidFill>
            <a:prstDash val="solid"/>
          </a:ln>
        </p:spPr>
      </p:sp>
      <p:sp>
        <p:nvSpPr>
          <p:cNvPr id="8" name="Text 6"/>
          <p:cNvSpPr/>
          <p:nvPr/>
        </p:nvSpPr>
        <p:spPr>
          <a:xfrm>
            <a:off x="457200" y="1207008"/>
            <a:ext cx="3931920" cy="457200"/>
          </a:xfrm>
          <a:prstGeom prst="rect">
            <a:avLst/>
          </a:prstGeom>
          <a:noFill/>
        </p:spPr>
        <p:txBody>
          <a:bodyPr wrap="square" lIns="0" tIns="0" rIns="0" bIns="0" rtlCol="0" anchor="ctr"/>
          <a:lstStyle/>
          <a:p>
            <a:pPr marL="0" indent="0">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  🧠  AI Governance</a:t>
            </a:r>
            <a:endParaRPr lang="en-US" sz="1300" dirty="0"/>
          </a:p>
        </p:txBody>
      </p:sp>
      <p:sp>
        <p:nvSpPr>
          <p:cNvPr id="9" name="Text 7"/>
          <p:cNvSpPr/>
          <p:nvPr/>
        </p:nvSpPr>
        <p:spPr>
          <a:xfrm>
            <a:off x="475488" y="1737360"/>
            <a:ext cx="3840480" cy="100584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The set of rules and practices to ensure AI is developed and used safely, ethically, and responsibly.</a:t>
            </a:r>
            <a:endParaRPr lang="en-US" sz="1200" dirty="0"/>
          </a:p>
        </p:txBody>
      </p:sp>
      <p:sp>
        <p:nvSpPr>
          <p:cNvPr id="10" name="Shape 8"/>
          <p:cNvSpPr/>
          <p:nvPr/>
        </p:nvSpPr>
        <p:spPr>
          <a:xfrm>
            <a:off x="4709160" y="1207008"/>
            <a:ext cx="4114800" cy="169164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1" name="Shape 9"/>
          <p:cNvSpPr/>
          <p:nvPr/>
        </p:nvSpPr>
        <p:spPr>
          <a:xfrm>
            <a:off x="4709160" y="1207008"/>
            <a:ext cx="4114800" cy="457200"/>
          </a:xfrm>
          <a:prstGeom prst="rect">
            <a:avLst/>
          </a:prstGeom>
          <a:solidFill>
            <a:srgbClr val="0891B2">
              <a:alpha val="20000"/>
            </a:srgbClr>
          </a:solidFill>
          <a:ln w="12700">
            <a:solidFill>
              <a:srgbClr val="0891B2">
                <a:alpha val="20000"/>
              </a:srgbClr>
            </a:solidFill>
            <a:prstDash val="solid"/>
          </a:ln>
        </p:spPr>
      </p:sp>
      <p:sp>
        <p:nvSpPr>
          <p:cNvPr id="12" name="Text 10"/>
          <p:cNvSpPr/>
          <p:nvPr/>
        </p:nvSpPr>
        <p:spPr>
          <a:xfrm>
            <a:off x="4846320" y="1207008"/>
            <a:ext cx="3931920" cy="457200"/>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  🔒  Cyber Risk Management</a:t>
            </a:r>
            <a:endParaRPr lang="en-US" sz="1300" dirty="0"/>
          </a:p>
        </p:txBody>
      </p:sp>
      <p:sp>
        <p:nvSpPr>
          <p:cNvPr id="13" name="Text 11"/>
          <p:cNvSpPr/>
          <p:nvPr/>
        </p:nvSpPr>
        <p:spPr>
          <a:xfrm>
            <a:off x="4864608" y="1737360"/>
            <a:ext cx="3840480" cy="100584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Process of identifying, assessing, and reducing threats to digital systems from cyber-attacks through continuous monitoring and controls.</a:t>
            </a:r>
            <a:endParaRPr lang="en-US" sz="1200" dirty="0"/>
          </a:p>
        </p:txBody>
      </p:sp>
      <p:sp>
        <p:nvSpPr>
          <p:cNvPr id="14" name="Shape 12"/>
          <p:cNvSpPr/>
          <p:nvPr/>
        </p:nvSpPr>
        <p:spPr>
          <a:xfrm>
            <a:off x="320040" y="3017520"/>
            <a:ext cx="8503920" cy="1188720"/>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15" name="Shape 13"/>
          <p:cNvSpPr/>
          <p:nvPr/>
        </p:nvSpPr>
        <p:spPr>
          <a:xfrm>
            <a:off x="320040" y="3017520"/>
            <a:ext cx="8503920" cy="457200"/>
          </a:xfrm>
          <a:prstGeom prst="rect">
            <a:avLst/>
          </a:prstGeom>
          <a:solidFill>
            <a:srgbClr val="10B981">
              <a:alpha val="20000"/>
            </a:srgbClr>
          </a:solidFill>
          <a:ln w="12700">
            <a:solidFill>
              <a:srgbClr val="10B981">
                <a:alpha val="20000"/>
              </a:srgbClr>
            </a:solidFill>
            <a:prstDash val="solid"/>
          </a:ln>
        </p:spPr>
      </p:sp>
      <p:sp>
        <p:nvSpPr>
          <p:cNvPr id="16" name="Text 14"/>
          <p:cNvSpPr/>
          <p:nvPr/>
        </p:nvSpPr>
        <p:spPr>
          <a:xfrm>
            <a:off x="457200" y="3017520"/>
            <a:ext cx="8321040" cy="457200"/>
          </a:xfrm>
          <a:prstGeom prst="rect">
            <a:avLst/>
          </a:prstGeom>
          <a:noFill/>
        </p:spPr>
        <p:txBody>
          <a:bodyPr wrap="square" lIns="0" tIns="0" rIns="0" bIns="0" rtlCol="0" anchor="ct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  ✅  Together</a:t>
            </a:r>
            <a:endParaRPr lang="en-US" sz="1300" dirty="0"/>
          </a:p>
        </p:txBody>
      </p:sp>
      <p:sp>
        <p:nvSpPr>
          <p:cNvPr id="17" name="Text 15"/>
          <p:cNvSpPr/>
          <p:nvPr/>
        </p:nvSpPr>
        <p:spPr>
          <a:xfrm>
            <a:off x="475488" y="3547872"/>
            <a:ext cx="8229600" cy="594360"/>
          </a:xfrm>
          <a:prstGeom prst="rect">
            <a:avLst/>
          </a:prstGeom>
          <a:noFill/>
        </p:spPr>
        <p:txBody>
          <a:bodyPr wrap="square" rtlCol="0" anchor="ct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Help organizations use AI securely while managing cyber threats, keeping data safe, and building public trust.</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slow" p14:dur="3200">
        <p:dissolve/>
      </p:transition>
    </mc:Choice>
    <mc:Fallback>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891B2">
              <a:alpha val="14000"/>
            </a:srgbClr>
          </a:solidFill>
          <a:ln w="12700">
            <a:solidFill>
              <a:srgbClr val="0891B2">
                <a:alpha val="14000"/>
              </a:srgbClr>
            </a:solidFill>
            <a:prstDash val="solid"/>
          </a:ln>
        </p:spPr>
      </p:sp>
      <p:sp>
        <p:nvSpPr>
          <p:cNvPr id="3" name="Shape 1"/>
          <p:cNvSpPr/>
          <p:nvPr/>
        </p:nvSpPr>
        <p:spPr>
          <a:xfrm>
            <a:off x="274320" y="182880"/>
            <a:ext cx="658368" cy="658368"/>
          </a:xfrm>
          <a:prstGeom prst="ellipse">
            <a:avLst/>
          </a:prstGeom>
          <a:solidFill>
            <a:srgbClr val="0891B2">
              <a:alpha val="45000"/>
            </a:srgbClr>
          </a:solidFill>
          <a:ln w="12700">
            <a:solidFill>
              <a:srgbClr val="0891B2">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0891B2"/>
                </a:solidFill>
              </a:rPr>
              <a:t>02</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Importance</a:t>
            </a:r>
            <a:endParaRPr lang="en-US" sz="3000" dirty="0"/>
          </a:p>
        </p:txBody>
      </p:sp>
      <p:sp>
        <p:nvSpPr>
          <p:cNvPr id="6" name="Shape 4"/>
          <p:cNvSpPr/>
          <p:nvPr/>
        </p:nvSpPr>
        <p:spPr>
          <a:xfrm>
            <a:off x="320040" y="1207008"/>
            <a:ext cx="4114800" cy="1627632"/>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484632" y="1371600"/>
            <a:ext cx="530352" cy="530352"/>
          </a:xfrm>
          <a:prstGeom prst="ellipse">
            <a:avLst/>
          </a:prstGeom>
          <a:solidFill>
            <a:srgbClr val="0891B2">
              <a:alpha val="22000"/>
            </a:srgbClr>
          </a:solidFill>
          <a:ln w="12700">
            <a:solidFill>
              <a:srgbClr val="0891B2">
                <a:alpha val="22000"/>
              </a:srgbClr>
            </a:solidFill>
            <a:prstDash val="solid"/>
          </a:ln>
        </p:spPr>
      </p:sp>
      <p:sp>
        <p:nvSpPr>
          <p:cNvPr id="8" name="Text 6"/>
          <p:cNvSpPr/>
          <p:nvPr/>
        </p:nvSpPr>
        <p:spPr>
          <a:xfrm>
            <a:off x="484632" y="1371600"/>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9" name="Text 7"/>
          <p:cNvSpPr/>
          <p:nvPr/>
        </p:nvSpPr>
        <p:spPr>
          <a:xfrm>
            <a:off x="1143000" y="1298448"/>
            <a:ext cx="3154680" cy="457200"/>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Safety Guardrails</a:t>
            </a:r>
            <a:endParaRPr lang="en-US" sz="1300" dirty="0"/>
          </a:p>
        </p:txBody>
      </p:sp>
      <p:sp>
        <p:nvSpPr>
          <p:cNvPr id="10" name="Text 8"/>
          <p:cNvSpPr/>
          <p:nvPr/>
        </p:nvSpPr>
        <p:spPr>
          <a:xfrm>
            <a:off x="484632" y="1865376"/>
            <a:ext cx="3840480" cy="89611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As AI enters phones, banks, hospitals and cars, governance prevents unfair decisions, data leaks, and adversarial manipulation.</a:t>
            </a:r>
            <a:endParaRPr lang="en-US" sz="1100" dirty="0"/>
          </a:p>
        </p:txBody>
      </p:sp>
      <p:sp>
        <p:nvSpPr>
          <p:cNvPr id="11" name="Shape 9"/>
          <p:cNvSpPr/>
          <p:nvPr/>
        </p:nvSpPr>
        <p:spPr>
          <a:xfrm>
            <a:off x="320040" y="3035808"/>
            <a:ext cx="4114800" cy="1627632"/>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12" name="Shape 10"/>
          <p:cNvSpPr/>
          <p:nvPr/>
        </p:nvSpPr>
        <p:spPr>
          <a:xfrm>
            <a:off x="484632" y="3200400"/>
            <a:ext cx="530352" cy="530352"/>
          </a:xfrm>
          <a:prstGeom prst="ellipse">
            <a:avLst/>
          </a:prstGeom>
          <a:solidFill>
            <a:srgbClr val="2563EB">
              <a:alpha val="22000"/>
            </a:srgbClr>
          </a:solidFill>
          <a:ln w="12700">
            <a:solidFill>
              <a:srgbClr val="2563EB">
                <a:alpha val="22000"/>
              </a:srgbClr>
            </a:solidFill>
            <a:prstDash val="solid"/>
          </a:ln>
        </p:spPr>
      </p:sp>
      <p:sp>
        <p:nvSpPr>
          <p:cNvPr id="13" name="Text 11"/>
          <p:cNvSpPr/>
          <p:nvPr/>
        </p:nvSpPr>
        <p:spPr>
          <a:xfrm>
            <a:off x="484632" y="3200400"/>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1143000" y="3127248"/>
            <a:ext cx="3154680" cy="457200"/>
          </a:xfrm>
          <a:prstGeom prst="rect">
            <a:avLst/>
          </a:prstGeom>
          <a:noFill/>
        </p:spPr>
        <p:txBody>
          <a:bodyPr wrap="square" lIns="0" tIns="0" rIns="0" bIns="0" rtlCol="0" anchor="ctr"/>
          <a:lstStyle/>
          <a:p>
            <a:pPr marL="0" indent="0">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Public Trust</a:t>
            </a:r>
            <a:endParaRPr lang="en-US" sz="1300" dirty="0"/>
          </a:p>
        </p:txBody>
      </p:sp>
      <p:sp>
        <p:nvSpPr>
          <p:cNvPr id="15" name="Text 13"/>
          <p:cNvSpPr/>
          <p:nvPr/>
        </p:nvSpPr>
        <p:spPr>
          <a:xfrm>
            <a:off x="484632" y="3694176"/>
            <a:ext cx="3840480" cy="89611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They act as guardrails allowing businesses to innovate responsibly so people feel safe using AI systems.</a:t>
            </a:r>
            <a:endParaRPr lang="en-US" sz="1100" dirty="0"/>
          </a:p>
        </p:txBody>
      </p:sp>
      <p:sp>
        <p:nvSpPr>
          <p:cNvPr id="16" name="Shape 14"/>
          <p:cNvSpPr/>
          <p:nvPr/>
        </p:nvSpPr>
        <p:spPr>
          <a:xfrm>
            <a:off x="4709160" y="1207008"/>
            <a:ext cx="4114800" cy="1627632"/>
          </a:xfrm>
          <a:prstGeom prst="rect">
            <a:avLst/>
          </a:prstGeom>
          <a:solidFill>
            <a:srgbClr val="FFFFFF"/>
          </a:solidFill>
          <a:ln w="12700">
            <a:solidFill>
              <a:srgbClr val="D97706">
                <a:alpha val="45000"/>
              </a:srgbClr>
            </a:solidFill>
            <a:prstDash val="solid"/>
          </a:ln>
          <a:effectLst>
            <a:outerShdw blurRad="127000" dist="38100" dir="8100000" algn="bl" rotWithShape="0">
              <a:srgbClr val="94A3B8">
                <a:alpha val="18000"/>
              </a:srgbClr>
            </a:outerShdw>
          </a:effectLst>
        </p:spPr>
      </p:sp>
      <p:sp>
        <p:nvSpPr>
          <p:cNvPr id="17" name="Shape 15"/>
          <p:cNvSpPr/>
          <p:nvPr/>
        </p:nvSpPr>
        <p:spPr>
          <a:xfrm>
            <a:off x="4873752" y="1371600"/>
            <a:ext cx="530352" cy="530352"/>
          </a:xfrm>
          <a:prstGeom prst="ellipse">
            <a:avLst/>
          </a:prstGeom>
          <a:solidFill>
            <a:srgbClr val="D97706">
              <a:alpha val="22000"/>
            </a:srgbClr>
          </a:solidFill>
          <a:ln w="12700">
            <a:solidFill>
              <a:srgbClr val="D97706">
                <a:alpha val="22000"/>
              </a:srgbClr>
            </a:solidFill>
            <a:prstDash val="solid"/>
          </a:ln>
        </p:spPr>
      </p:sp>
      <p:sp>
        <p:nvSpPr>
          <p:cNvPr id="18" name="Text 16"/>
          <p:cNvSpPr/>
          <p:nvPr/>
        </p:nvSpPr>
        <p:spPr>
          <a:xfrm>
            <a:off x="4873752" y="1371600"/>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9" name="Text 17"/>
          <p:cNvSpPr/>
          <p:nvPr/>
        </p:nvSpPr>
        <p:spPr>
          <a:xfrm>
            <a:off x="5532120" y="1298448"/>
            <a:ext cx="3154680" cy="457200"/>
          </a:xfrm>
          <a:prstGeom prst="rect">
            <a:avLst/>
          </a:prstGeom>
          <a:noFill/>
        </p:spPr>
        <p:txBody>
          <a:bodyPr wrap="square" lIns="0" tIns="0" rIns="0" bIns="0" rtlCol="0" anchor="ctr"/>
          <a:lstStyle/>
          <a:p>
            <a:pPr marL="0" indent="0">
              <a:buNone/>
            </a:pPr>
            <a:r>
              <a:rPr lang="en-US" sz="1300" b="1" dirty="0">
                <a:solidFill>
                  <a:srgbClr val="D97706"/>
                </a:solidFill>
                <a:latin typeface="Calibri" panose="020F0502020204030204" pitchFamily="34" charset="0"/>
                <a:ea typeface="Calibri" panose="020F0502020204030204" pitchFamily="34" charset="-122"/>
                <a:cs typeface="Calibri" panose="020F0502020204030204" pitchFamily="34" charset="-120"/>
              </a:rPr>
              <a:t>Financial &amp; Reputation Protection</a:t>
            </a:r>
            <a:endParaRPr lang="en-US" sz="1300" dirty="0"/>
          </a:p>
        </p:txBody>
      </p:sp>
      <p:sp>
        <p:nvSpPr>
          <p:cNvPr id="20" name="Text 18"/>
          <p:cNvSpPr/>
          <p:nvPr/>
        </p:nvSpPr>
        <p:spPr>
          <a:xfrm>
            <a:off x="4873752" y="1865376"/>
            <a:ext cx="3840480" cy="89611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Proactively identifying AI failures, biases, or security breaches helps companies avoid costly incidents and protect brand image.</a:t>
            </a:r>
            <a:endParaRPr lang="en-US" sz="1100" dirty="0"/>
          </a:p>
        </p:txBody>
      </p:sp>
      <p:sp>
        <p:nvSpPr>
          <p:cNvPr id="21" name="Shape 19"/>
          <p:cNvSpPr/>
          <p:nvPr/>
        </p:nvSpPr>
        <p:spPr>
          <a:xfrm>
            <a:off x="4709160" y="3035808"/>
            <a:ext cx="4114800" cy="1627632"/>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22" name="Shape 20"/>
          <p:cNvSpPr/>
          <p:nvPr/>
        </p:nvSpPr>
        <p:spPr>
          <a:xfrm>
            <a:off x="4873752" y="3200400"/>
            <a:ext cx="530352" cy="530352"/>
          </a:xfrm>
          <a:prstGeom prst="ellipse">
            <a:avLst/>
          </a:prstGeom>
          <a:solidFill>
            <a:srgbClr val="7C3AED">
              <a:alpha val="22000"/>
            </a:srgbClr>
          </a:solidFill>
          <a:ln w="12700">
            <a:solidFill>
              <a:srgbClr val="7C3AED">
                <a:alpha val="22000"/>
              </a:srgbClr>
            </a:solidFill>
            <a:prstDash val="solid"/>
          </a:ln>
        </p:spPr>
      </p:sp>
      <p:sp>
        <p:nvSpPr>
          <p:cNvPr id="23" name="Text 21"/>
          <p:cNvSpPr/>
          <p:nvPr/>
        </p:nvSpPr>
        <p:spPr>
          <a:xfrm>
            <a:off x="4873752" y="3200400"/>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5532120" y="3127248"/>
            <a:ext cx="3154680" cy="457200"/>
          </a:xfrm>
          <a:prstGeom prst="rect">
            <a:avLst/>
          </a:prstGeom>
          <a:noFill/>
        </p:spPr>
        <p:txBody>
          <a:bodyPr wrap="square" lIns="0" tIns="0" rIns="0" bIns="0" rtlCol="0" anchor="ctr"/>
          <a:lstStyle/>
          <a:p>
            <a:pPr marL="0" indent="0">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Necessary — Not Optional</a:t>
            </a:r>
            <a:endParaRPr lang="en-US" sz="1300" dirty="0"/>
          </a:p>
        </p:txBody>
      </p:sp>
      <p:sp>
        <p:nvSpPr>
          <p:cNvPr id="25" name="Text 23"/>
          <p:cNvSpPr/>
          <p:nvPr/>
        </p:nvSpPr>
        <p:spPr>
          <a:xfrm>
            <a:off x="4873752" y="3694176"/>
            <a:ext cx="3840480" cy="89611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In today's world, strong AI governance and cyber risk management are essential requirements for any organization leveraging AI.</a:t>
            </a:r>
            <a:endParaRPr lang="en-US" sz="11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7C3AED">
              <a:alpha val="14000"/>
            </a:srgbClr>
          </a:solidFill>
          <a:ln w="12700">
            <a:solidFill>
              <a:srgbClr val="7C3AED">
                <a:alpha val="14000"/>
              </a:srgbClr>
            </a:solidFill>
            <a:prstDash val="solid"/>
          </a:ln>
        </p:spPr>
      </p:sp>
      <p:sp>
        <p:nvSpPr>
          <p:cNvPr id="3" name="Shape 1"/>
          <p:cNvSpPr/>
          <p:nvPr/>
        </p:nvSpPr>
        <p:spPr>
          <a:xfrm>
            <a:off x="274320" y="182880"/>
            <a:ext cx="658368" cy="658368"/>
          </a:xfrm>
          <a:prstGeom prst="ellipse">
            <a:avLst/>
          </a:prstGeom>
          <a:solidFill>
            <a:srgbClr val="7C3AED">
              <a:alpha val="45000"/>
            </a:srgbClr>
          </a:solidFill>
          <a:ln w="12700">
            <a:solidFill>
              <a:srgbClr val="7C3AED">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7C3AED"/>
                </a:solidFill>
              </a:rPr>
              <a:t>03</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Key Components</a:t>
            </a:r>
            <a:endParaRPr lang="en-US" sz="3000" dirty="0"/>
          </a:p>
        </p:txBody>
      </p:sp>
      <p:sp>
        <p:nvSpPr>
          <p:cNvPr id="6" name="Text 4"/>
          <p:cNvSpPr/>
          <p:nvPr/>
        </p:nvSpPr>
        <p:spPr>
          <a:xfrm>
            <a:off x="320040" y="1143000"/>
            <a:ext cx="5486400" cy="411480"/>
          </a:xfrm>
          <a:prstGeom prst="rect">
            <a:avLst/>
          </a:prstGeom>
          <a:noFill/>
        </p:spPr>
        <p:txBody>
          <a:bodyPr wrap="square" rtlCol="0" anchor="ctr"/>
          <a:lstStyle/>
          <a:p>
            <a:pPr marL="0" indent="0">
              <a:buNone/>
            </a:pPr>
            <a:r>
              <a:rPr lang="en-US" sz="1700" b="1" dirty="0">
                <a:solidFill>
                  <a:srgbClr val="7C3AED"/>
                </a:solidFill>
                <a:latin typeface="Calibri" panose="020F0502020204030204" pitchFamily="34" charset="0"/>
                <a:ea typeface="Calibri" panose="020F0502020204030204" pitchFamily="34" charset="-122"/>
                <a:cs typeface="Calibri" panose="020F0502020204030204" pitchFamily="34" charset="-120"/>
              </a:rPr>
              <a:t>Ethical Principles &amp; Guidelines</a:t>
            </a:r>
            <a:endParaRPr lang="en-US" sz="1700" dirty="0"/>
          </a:p>
        </p:txBody>
      </p:sp>
      <p:sp>
        <p:nvSpPr>
          <p:cNvPr id="7" name="Text 5"/>
          <p:cNvSpPr/>
          <p:nvPr/>
        </p:nvSpPr>
        <p:spPr>
          <a:xfrm>
            <a:off x="320040" y="1536192"/>
            <a:ext cx="5486400" cy="347472"/>
          </a:xfrm>
          <a:prstGeom prst="rect">
            <a:avLst/>
          </a:prstGeom>
          <a:noFill/>
        </p:spPr>
        <p:txBody>
          <a:bodyPr wrap="square" rtlCol="0" anchor="ctr"/>
          <a:lstStyle/>
          <a:p>
            <a:pPr marL="0" indent="0">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These components act as a "Moral Compass" for AI systems:</a:t>
            </a:r>
            <a:endParaRPr lang="en-US" sz="1200" dirty="0"/>
          </a:p>
        </p:txBody>
      </p:sp>
      <p:sp>
        <p:nvSpPr>
          <p:cNvPr id="8" name="Shape 6"/>
          <p:cNvSpPr/>
          <p:nvPr/>
        </p:nvSpPr>
        <p:spPr>
          <a:xfrm>
            <a:off x="320040" y="1965960"/>
            <a:ext cx="960120" cy="1005840"/>
          </a:xfrm>
          <a:prstGeom prst="rect">
            <a:avLst/>
          </a:prstGeom>
          <a:solidFill>
            <a:srgbClr val="7C3AED">
              <a:alpha val="15000"/>
            </a:srgbClr>
          </a:solidFill>
          <a:ln w="12700">
            <a:solidFill>
              <a:srgbClr val="7C3AED">
                <a:alpha val="35000"/>
              </a:srgbClr>
            </a:solidFill>
            <a:prstDash val="solid"/>
          </a:ln>
          <a:effectLst>
            <a:outerShdw blurRad="127000" dist="38100" dir="8100000" algn="bl" rotWithShape="0">
              <a:srgbClr val="94A3B8">
                <a:alpha val="18000"/>
              </a:srgbClr>
            </a:outerShdw>
          </a:effectLst>
        </p:spPr>
      </p:sp>
      <p:sp>
        <p:nvSpPr>
          <p:cNvPr id="9" name="Text 7"/>
          <p:cNvSpPr/>
          <p:nvPr/>
        </p:nvSpPr>
        <p:spPr>
          <a:xfrm>
            <a:off x="320040" y="199339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20040" y="2487168"/>
            <a:ext cx="960120" cy="384048"/>
          </a:xfrm>
          <a:prstGeom prst="rect">
            <a:avLst/>
          </a:prstGeom>
          <a:noFill/>
        </p:spPr>
        <p:txBody>
          <a:bodyPr wrap="square" lIns="0" tIns="0" rIns="0" bIns="0" rtlCol="0" anchor="ctr"/>
          <a:lstStyle/>
          <a:p>
            <a:pPr marL="0" indent="0" algn="ctr">
              <a:buNone/>
            </a:pPr>
            <a:r>
              <a:rPr lang="en-US" sz="1000" b="1" dirty="0">
                <a:solidFill>
                  <a:srgbClr val="7C3AED"/>
                </a:solidFill>
                <a:latin typeface="Calibri" panose="020F0502020204030204" pitchFamily="34" charset="0"/>
                <a:ea typeface="Calibri" panose="020F0502020204030204" pitchFamily="34" charset="-122"/>
                <a:cs typeface="Calibri" panose="020F0502020204030204" pitchFamily="34" charset="-120"/>
              </a:rPr>
              <a:t>Ethics</a:t>
            </a:r>
            <a:endParaRPr lang="en-US" sz="1000" dirty="0"/>
          </a:p>
        </p:txBody>
      </p:sp>
      <p:sp>
        <p:nvSpPr>
          <p:cNvPr id="11" name="Shape 9"/>
          <p:cNvSpPr/>
          <p:nvPr/>
        </p:nvSpPr>
        <p:spPr>
          <a:xfrm>
            <a:off x="1417320" y="1965960"/>
            <a:ext cx="960120" cy="1005840"/>
          </a:xfrm>
          <a:prstGeom prst="rect">
            <a:avLst/>
          </a:prstGeom>
          <a:solidFill>
            <a:srgbClr val="2563EB">
              <a:alpha val="15000"/>
            </a:srgbClr>
          </a:solidFill>
          <a:ln w="12700">
            <a:solidFill>
              <a:srgbClr val="2563EB">
                <a:alpha val="35000"/>
              </a:srgbClr>
            </a:solidFill>
            <a:prstDash val="solid"/>
          </a:ln>
          <a:effectLst>
            <a:outerShdw blurRad="127000" dist="38100" dir="8100000" algn="bl" rotWithShape="0">
              <a:srgbClr val="94A3B8">
                <a:alpha val="18000"/>
              </a:srgbClr>
            </a:outerShdw>
          </a:effectLst>
        </p:spPr>
      </p:sp>
      <p:sp>
        <p:nvSpPr>
          <p:cNvPr id="12" name="Text 10"/>
          <p:cNvSpPr/>
          <p:nvPr/>
        </p:nvSpPr>
        <p:spPr>
          <a:xfrm>
            <a:off x="1417320" y="199339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1417320" y="2487168"/>
            <a:ext cx="960120" cy="384048"/>
          </a:xfrm>
          <a:prstGeom prst="rect">
            <a:avLst/>
          </a:prstGeom>
          <a:noFill/>
        </p:spPr>
        <p:txBody>
          <a:bodyPr wrap="square" lIns="0" tIns="0" rIns="0" bIns="0" rtlCol="0" anchor="ctr"/>
          <a:lstStyle/>
          <a:p>
            <a:pPr marL="0" indent="0" algn="ctr">
              <a:buNone/>
            </a:pPr>
            <a:r>
              <a:rPr lang="en-US" sz="1000" b="1" dirty="0">
                <a:solidFill>
                  <a:srgbClr val="2563EB"/>
                </a:solidFill>
                <a:latin typeface="Calibri" panose="020F0502020204030204" pitchFamily="34" charset="0"/>
                <a:ea typeface="Calibri" panose="020F0502020204030204" pitchFamily="34" charset="-122"/>
                <a:cs typeface="Calibri" panose="020F0502020204030204" pitchFamily="34" charset="-120"/>
              </a:rPr>
              <a:t>Fairness</a:t>
            </a:r>
            <a:endParaRPr lang="en-US" sz="1000" dirty="0"/>
          </a:p>
        </p:txBody>
      </p:sp>
      <p:sp>
        <p:nvSpPr>
          <p:cNvPr id="14" name="Shape 12"/>
          <p:cNvSpPr/>
          <p:nvPr/>
        </p:nvSpPr>
        <p:spPr>
          <a:xfrm>
            <a:off x="2514600" y="1965960"/>
            <a:ext cx="960120" cy="1005840"/>
          </a:xfrm>
          <a:prstGeom prst="rect">
            <a:avLst/>
          </a:prstGeom>
          <a:solidFill>
            <a:srgbClr val="10B981">
              <a:alpha val="15000"/>
            </a:srgbClr>
          </a:solidFill>
          <a:ln w="12700">
            <a:solidFill>
              <a:srgbClr val="10B981">
                <a:alpha val="35000"/>
              </a:srgbClr>
            </a:solidFill>
            <a:prstDash val="solid"/>
          </a:ln>
          <a:effectLst>
            <a:outerShdw blurRad="127000" dist="38100" dir="8100000" algn="bl" rotWithShape="0">
              <a:srgbClr val="94A3B8">
                <a:alpha val="18000"/>
              </a:srgbClr>
            </a:outerShdw>
          </a:effectLst>
        </p:spPr>
      </p:sp>
      <p:sp>
        <p:nvSpPr>
          <p:cNvPr id="15" name="Text 13"/>
          <p:cNvSpPr/>
          <p:nvPr/>
        </p:nvSpPr>
        <p:spPr>
          <a:xfrm>
            <a:off x="2514600" y="199339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2514600" y="2487168"/>
            <a:ext cx="960120" cy="384048"/>
          </a:xfrm>
          <a:prstGeom prst="rect">
            <a:avLst/>
          </a:prstGeom>
          <a:noFill/>
        </p:spPr>
        <p:txBody>
          <a:bodyPr wrap="square" lIns="0" tIns="0" rIns="0" bIns="0" rtlCol="0" anchor="ctr"/>
          <a:lstStyle/>
          <a:p>
            <a:pPr marL="0" indent="0" algn="ctr">
              <a:buNone/>
            </a:pPr>
            <a:r>
              <a:rPr lang="en-US" sz="1000" b="1" dirty="0">
                <a:solidFill>
                  <a:srgbClr val="10B981"/>
                </a:solidFill>
                <a:latin typeface="Calibri" panose="020F0502020204030204" pitchFamily="34" charset="0"/>
                <a:ea typeface="Calibri" panose="020F0502020204030204" pitchFamily="34" charset="-122"/>
                <a:cs typeface="Calibri" panose="020F0502020204030204" pitchFamily="34" charset="-120"/>
              </a:rPr>
              <a:t>Reliability</a:t>
            </a:r>
            <a:endParaRPr lang="en-US" sz="1000" dirty="0"/>
          </a:p>
        </p:txBody>
      </p:sp>
      <p:sp>
        <p:nvSpPr>
          <p:cNvPr id="17" name="Shape 15"/>
          <p:cNvSpPr/>
          <p:nvPr/>
        </p:nvSpPr>
        <p:spPr>
          <a:xfrm>
            <a:off x="3611880" y="1965960"/>
            <a:ext cx="960120" cy="1005840"/>
          </a:xfrm>
          <a:prstGeom prst="rect">
            <a:avLst/>
          </a:prstGeom>
          <a:solidFill>
            <a:srgbClr val="0891B2">
              <a:alpha val="15000"/>
            </a:srgbClr>
          </a:solidFill>
          <a:ln w="12700">
            <a:solidFill>
              <a:srgbClr val="0891B2">
                <a:alpha val="35000"/>
              </a:srgbClr>
            </a:solidFill>
            <a:prstDash val="solid"/>
          </a:ln>
          <a:effectLst>
            <a:outerShdw blurRad="127000" dist="38100" dir="8100000" algn="bl" rotWithShape="0">
              <a:srgbClr val="94A3B8">
                <a:alpha val="18000"/>
              </a:srgbClr>
            </a:outerShdw>
          </a:effectLst>
        </p:spPr>
      </p:sp>
      <p:sp>
        <p:nvSpPr>
          <p:cNvPr id="18" name="Text 16"/>
          <p:cNvSpPr/>
          <p:nvPr/>
        </p:nvSpPr>
        <p:spPr>
          <a:xfrm>
            <a:off x="3611880" y="199339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3611880" y="2487168"/>
            <a:ext cx="960120" cy="384048"/>
          </a:xfrm>
          <a:prstGeom prst="rect">
            <a:avLst/>
          </a:prstGeom>
          <a:noFill/>
        </p:spPr>
        <p:txBody>
          <a:bodyPr wrap="square" lIns="0" tIns="0" rIns="0" bIns="0" rtlCol="0" anchor="ctr"/>
          <a:lstStyle/>
          <a:p>
            <a:pPr marL="0" indent="0" algn="ctr">
              <a:buNone/>
            </a:pPr>
            <a:r>
              <a:rPr lang="en-US" sz="1000" b="1" dirty="0">
                <a:solidFill>
                  <a:srgbClr val="0891B2"/>
                </a:solidFill>
                <a:latin typeface="Calibri" panose="020F0502020204030204" pitchFamily="34" charset="0"/>
                <a:ea typeface="Calibri" panose="020F0502020204030204" pitchFamily="34" charset="-122"/>
                <a:cs typeface="Calibri" panose="020F0502020204030204" pitchFamily="34" charset="-120"/>
              </a:rPr>
              <a:t>Governance</a:t>
            </a:r>
            <a:endParaRPr lang="en-US" sz="1000" dirty="0"/>
          </a:p>
        </p:txBody>
      </p:sp>
      <p:sp>
        <p:nvSpPr>
          <p:cNvPr id="20" name="Shape 18"/>
          <p:cNvSpPr/>
          <p:nvPr/>
        </p:nvSpPr>
        <p:spPr>
          <a:xfrm>
            <a:off x="4709160" y="1965960"/>
            <a:ext cx="960120" cy="1005840"/>
          </a:xfrm>
          <a:prstGeom prst="rect">
            <a:avLst/>
          </a:prstGeom>
          <a:solidFill>
            <a:srgbClr val="D97706">
              <a:alpha val="15000"/>
            </a:srgbClr>
          </a:solidFill>
          <a:ln w="12700">
            <a:solidFill>
              <a:srgbClr val="D97706">
                <a:alpha val="35000"/>
              </a:srgbClr>
            </a:solidFill>
            <a:prstDash val="solid"/>
          </a:ln>
          <a:effectLst>
            <a:outerShdw blurRad="127000" dist="38100" dir="8100000" algn="bl" rotWithShape="0">
              <a:srgbClr val="94A3B8">
                <a:alpha val="18000"/>
              </a:srgbClr>
            </a:outerShdw>
          </a:effectLst>
        </p:spPr>
      </p:sp>
      <p:sp>
        <p:nvSpPr>
          <p:cNvPr id="21" name="Text 19"/>
          <p:cNvSpPr/>
          <p:nvPr/>
        </p:nvSpPr>
        <p:spPr>
          <a:xfrm>
            <a:off x="4709160" y="199339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4709160" y="2487168"/>
            <a:ext cx="960120" cy="384048"/>
          </a:xfrm>
          <a:prstGeom prst="rect">
            <a:avLst/>
          </a:prstGeom>
          <a:noFill/>
        </p:spPr>
        <p:txBody>
          <a:bodyPr wrap="square" lIns="0" tIns="0" rIns="0" bIns="0" rtlCol="0" anchor="ctr"/>
          <a:lstStyle/>
          <a:p>
            <a:pPr marL="0" indent="0" algn="ctr">
              <a:buNone/>
            </a:pPr>
            <a:r>
              <a:rPr lang="en-US" sz="1000" b="1" dirty="0">
                <a:solidFill>
                  <a:srgbClr val="D97706"/>
                </a:solidFill>
                <a:latin typeface="Calibri" panose="020F0502020204030204" pitchFamily="34" charset="0"/>
                <a:ea typeface="Calibri" panose="020F0502020204030204" pitchFamily="34" charset="-122"/>
                <a:cs typeface="Calibri" panose="020F0502020204030204" pitchFamily="34" charset="-120"/>
              </a:rPr>
              <a:t>Privacy</a:t>
            </a:r>
            <a:endParaRPr lang="en-US" sz="1000" dirty="0"/>
          </a:p>
        </p:txBody>
      </p:sp>
      <p:sp>
        <p:nvSpPr>
          <p:cNvPr id="23" name="Shape 21"/>
          <p:cNvSpPr/>
          <p:nvPr/>
        </p:nvSpPr>
        <p:spPr>
          <a:xfrm>
            <a:off x="320040" y="3154680"/>
            <a:ext cx="5486400" cy="45720"/>
          </a:xfrm>
          <a:prstGeom prst="rect">
            <a:avLst/>
          </a:prstGeom>
          <a:solidFill>
            <a:srgbClr val="CBD5E1"/>
          </a:solidFill>
          <a:ln w="12700">
            <a:solidFill>
              <a:srgbClr val="CBD5E1"/>
            </a:solidFill>
            <a:prstDash val="solid"/>
          </a:ln>
        </p:spPr>
      </p:sp>
      <p:sp>
        <p:nvSpPr>
          <p:cNvPr id="24" name="Text 22"/>
          <p:cNvSpPr/>
          <p:nvPr/>
        </p:nvSpPr>
        <p:spPr>
          <a:xfrm>
            <a:off x="320040" y="3291840"/>
            <a:ext cx="5486400" cy="347472"/>
          </a:xfrm>
          <a:prstGeom prst="rect">
            <a:avLst/>
          </a:prstGeom>
          <a:noFill/>
        </p:spPr>
        <p:txBody>
          <a:bodyPr wrap="square" rtlCol="0" anchor="ctr"/>
          <a:lstStyle/>
          <a:p>
            <a:pPr marL="0" indent="0">
              <a:buNone/>
            </a:pPr>
            <a:r>
              <a:rPr lang="en-US" sz="1200" i="1" dirty="0">
                <a:solidFill>
                  <a:srgbClr val="64748B"/>
                </a:solidFill>
                <a:latin typeface="Calibri" panose="020F0502020204030204" pitchFamily="34" charset="0"/>
                <a:ea typeface="Calibri" panose="020F0502020204030204" pitchFamily="34" charset="-122"/>
                <a:cs typeface="Calibri" panose="020F0502020204030204" pitchFamily="34" charset="-120"/>
              </a:rPr>
              <a:t>Each Element Plays A Different And Vital Role</a:t>
            </a:r>
            <a:endParaRPr lang="en-US" sz="1200" dirty="0"/>
          </a:p>
        </p:txBody>
      </p:sp>
      <p:sp>
        <p:nvSpPr>
          <p:cNvPr id="25" name="Shape 23"/>
          <p:cNvSpPr/>
          <p:nvPr/>
        </p:nvSpPr>
        <p:spPr>
          <a:xfrm>
            <a:off x="320040" y="3749040"/>
            <a:ext cx="960120" cy="1005840"/>
          </a:xfrm>
          <a:prstGeom prst="roundRect">
            <a:avLst>
              <a:gd name="adj" fmla="val 7619"/>
            </a:avLst>
          </a:prstGeom>
          <a:solidFill>
            <a:srgbClr val="0891B2">
              <a:alpha val="15000"/>
            </a:srgbClr>
          </a:solidFill>
          <a:ln w="12700">
            <a:solidFill>
              <a:srgbClr val="0891B2">
                <a:alpha val="35000"/>
              </a:srgbClr>
            </a:solidFill>
            <a:prstDash val="solid"/>
          </a:ln>
          <a:effectLst>
            <a:outerShdw blurRad="127000" dist="38100" dir="8100000" algn="bl" rotWithShape="0">
              <a:srgbClr val="94A3B8">
                <a:alpha val="18000"/>
              </a:srgbClr>
            </a:outerShdw>
          </a:effectLst>
        </p:spPr>
      </p:sp>
      <p:sp>
        <p:nvSpPr>
          <p:cNvPr id="26" name="Text 24"/>
          <p:cNvSpPr/>
          <p:nvPr/>
        </p:nvSpPr>
        <p:spPr>
          <a:xfrm>
            <a:off x="320040" y="377647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7" name="Text 25"/>
          <p:cNvSpPr/>
          <p:nvPr/>
        </p:nvSpPr>
        <p:spPr>
          <a:xfrm>
            <a:off x="320040" y="4270248"/>
            <a:ext cx="960120" cy="384048"/>
          </a:xfrm>
          <a:prstGeom prst="rect">
            <a:avLst/>
          </a:prstGeom>
          <a:noFill/>
        </p:spPr>
        <p:txBody>
          <a:bodyPr wrap="square" lIns="0" tIns="0" rIns="0" bIns="0" rtlCol="0" anchor="ctr"/>
          <a:lstStyle/>
          <a:p>
            <a:pPr marL="0" indent="0" algn="ctr">
              <a:buNone/>
            </a:pPr>
            <a:r>
              <a:rPr lang="en-US" sz="950" b="1" dirty="0">
                <a:solidFill>
                  <a:srgbClr val="0891B2"/>
                </a:solidFill>
                <a:latin typeface="Calibri" panose="020F0502020204030204" pitchFamily="34" charset="0"/>
                <a:ea typeface="Calibri" panose="020F0502020204030204" pitchFamily="34" charset="-122"/>
                <a:cs typeface="Calibri" panose="020F0502020204030204" pitchFamily="34" charset="-120"/>
              </a:rPr>
              <a:t>Data</a:t>
            </a:r>
            <a:endParaRPr lang="en-US" sz="950" dirty="0"/>
          </a:p>
        </p:txBody>
      </p:sp>
      <p:sp>
        <p:nvSpPr>
          <p:cNvPr id="28" name="Shape 26"/>
          <p:cNvSpPr/>
          <p:nvPr/>
        </p:nvSpPr>
        <p:spPr>
          <a:xfrm>
            <a:off x="1417320" y="3749040"/>
            <a:ext cx="960120" cy="1005840"/>
          </a:xfrm>
          <a:prstGeom prst="roundRect">
            <a:avLst>
              <a:gd name="adj" fmla="val 7619"/>
            </a:avLst>
          </a:prstGeom>
          <a:solidFill>
            <a:srgbClr val="2563EB">
              <a:alpha val="15000"/>
            </a:srgbClr>
          </a:solidFill>
          <a:ln w="12700">
            <a:solidFill>
              <a:srgbClr val="2563EB">
                <a:alpha val="35000"/>
              </a:srgbClr>
            </a:solidFill>
            <a:prstDash val="solid"/>
          </a:ln>
          <a:effectLst>
            <a:outerShdw blurRad="127000" dist="38100" dir="8100000" algn="bl" rotWithShape="0">
              <a:srgbClr val="94A3B8">
                <a:alpha val="18000"/>
              </a:srgbClr>
            </a:outerShdw>
          </a:effectLst>
        </p:spPr>
      </p:sp>
      <p:sp>
        <p:nvSpPr>
          <p:cNvPr id="29" name="Text 27"/>
          <p:cNvSpPr/>
          <p:nvPr/>
        </p:nvSpPr>
        <p:spPr>
          <a:xfrm>
            <a:off x="1417320" y="377647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0" name="Text 28"/>
          <p:cNvSpPr/>
          <p:nvPr/>
        </p:nvSpPr>
        <p:spPr>
          <a:xfrm>
            <a:off x="1417320" y="4270248"/>
            <a:ext cx="960120" cy="384048"/>
          </a:xfrm>
          <a:prstGeom prst="rect">
            <a:avLst/>
          </a:prstGeom>
          <a:noFill/>
        </p:spPr>
        <p:txBody>
          <a:bodyPr wrap="square" lIns="0" tIns="0" rIns="0" bIns="0" rtlCol="0" anchor="ctr"/>
          <a:lstStyle/>
          <a:p>
            <a:pPr marL="0" indent="0" algn="ctr">
              <a:buNone/>
            </a:pPr>
            <a:r>
              <a:rPr lang="en-US" sz="950" b="1" dirty="0">
                <a:solidFill>
                  <a:srgbClr val="2563EB"/>
                </a:solidFill>
                <a:latin typeface="Calibri" panose="020F0502020204030204" pitchFamily="34" charset="0"/>
                <a:ea typeface="Calibri" panose="020F0502020204030204" pitchFamily="34" charset="-122"/>
                <a:cs typeface="Calibri" panose="020F0502020204030204" pitchFamily="34" charset="-120"/>
              </a:rPr>
              <a:t>Monitoring</a:t>
            </a:r>
            <a:endParaRPr lang="en-US" sz="950" dirty="0"/>
          </a:p>
        </p:txBody>
      </p:sp>
      <p:sp>
        <p:nvSpPr>
          <p:cNvPr id="31" name="Shape 29"/>
          <p:cNvSpPr/>
          <p:nvPr/>
        </p:nvSpPr>
        <p:spPr>
          <a:xfrm>
            <a:off x="2514600" y="3749040"/>
            <a:ext cx="960120" cy="1005840"/>
          </a:xfrm>
          <a:prstGeom prst="roundRect">
            <a:avLst>
              <a:gd name="adj" fmla="val 7619"/>
            </a:avLst>
          </a:prstGeom>
          <a:solidFill>
            <a:srgbClr val="DC2626">
              <a:alpha val="15000"/>
            </a:srgbClr>
          </a:solidFill>
          <a:ln w="12700">
            <a:solidFill>
              <a:srgbClr val="DC2626">
                <a:alpha val="35000"/>
              </a:srgbClr>
            </a:solidFill>
            <a:prstDash val="solid"/>
          </a:ln>
          <a:effectLst>
            <a:outerShdw blurRad="127000" dist="38100" dir="8100000" algn="bl" rotWithShape="0">
              <a:srgbClr val="94A3B8">
                <a:alpha val="18000"/>
              </a:srgbClr>
            </a:outerShdw>
          </a:effectLst>
        </p:spPr>
      </p:sp>
      <p:sp>
        <p:nvSpPr>
          <p:cNvPr id="32" name="Text 30"/>
          <p:cNvSpPr/>
          <p:nvPr/>
        </p:nvSpPr>
        <p:spPr>
          <a:xfrm>
            <a:off x="2514600" y="377647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3" name="Text 31"/>
          <p:cNvSpPr/>
          <p:nvPr/>
        </p:nvSpPr>
        <p:spPr>
          <a:xfrm>
            <a:off x="2514600" y="4270248"/>
            <a:ext cx="960120" cy="384048"/>
          </a:xfrm>
          <a:prstGeom prst="rect">
            <a:avLst/>
          </a:prstGeom>
          <a:noFill/>
        </p:spPr>
        <p:txBody>
          <a:bodyPr wrap="square" lIns="0" tIns="0" rIns="0" bIns="0" rtlCol="0" anchor="ctr"/>
          <a:lstStyle/>
          <a:p>
            <a:pPr marL="0" indent="0" algn="ctr">
              <a:buNone/>
            </a:pPr>
            <a:r>
              <a:rPr lang="en-US" sz="950" b="1" dirty="0">
                <a:solidFill>
                  <a:srgbClr val="DC2626"/>
                </a:solidFill>
                <a:latin typeface="Calibri" panose="020F0502020204030204" pitchFamily="34" charset="0"/>
                <a:ea typeface="Calibri" panose="020F0502020204030204" pitchFamily="34" charset="-122"/>
                <a:cs typeface="Calibri" panose="020F0502020204030204" pitchFamily="34" charset="-120"/>
              </a:rPr>
              <a:t>Security</a:t>
            </a:r>
            <a:endParaRPr lang="en-US" sz="950" dirty="0"/>
          </a:p>
        </p:txBody>
      </p:sp>
      <p:sp>
        <p:nvSpPr>
          <p:cNvPr id="34" name="Shape 32"/>
          <p:cNvSpPr/>
          <p:nvPr/>
        </p:nvSpPr>
        <p:spPr>
          <a:xfrm>
            <a:off x="3611880" y="3749040"/>
            <a:ext cx="960120" cy="1005840"/>
          </a:xfrm>
          <a:prstGeom prst="roundRect">
            <a:avLst>
              <a:gd name="adj" fmla="val 7619"/>
            </a:avLst>
          </a:prstGeom>
          <a:solidFill>
            <a:srgbClr val="7C3AED">
              <a:alpha val="15000"/>
            </a:srgbClr>
          </a:solidFill>
          <a:ln w="12700">
            <a:solidFill>
              <a:srgbClr val="7C3AED">
                <a:alpha val="35000"/>
              </a:srgbClr>
            </a:solidFill>
            <a:prstDash val="solid"/>
          </a:ln>
          <a:effectLst>
            <a:outerShdw blurRad="127000" dist="38100" dir="8100000" algn="bl" rotWithShape="0">
              <a:srgbClr val="94A3B8">
                <a:alpha val="18000"/>
              </a:srgbClr>
            </a:outerShdw>
          </a:effectLst>
        </p:spPr>
      </p:sp>
      <p:sp>
        <p:nvSpPr>
          <p:cNvPr id="35" name="Text 33"/>
          <p:cNvSpPr/>
          <p:nvPr/>
        </p:nvSpPr>
        <p:spPr>
          <a:xfrm>
            <a:off x="3611880" y="377647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6" name="Text 34"/>
          <p:cNvSpPr/>
          <p:nvPr/>
        </p:nvSpPr>
        <p:spPr>
          <a:xfrm>
            <a:off x="3611880" y="4270248"/>
            <a:ext cx="960120" cy="384048"/>
          </a:xfrm>
          <a:prstGeom prst="rect">
            <a:avLst/>
          </a:prstGeom>
          <a:noFill/>
        </p:spPr>
        <p:txBody>
          <a:bodyPr wrap="square" lIns="0" tIns="0" rIns="0" bIns="0" rtlCol="0" anchor="ctr"/>
          <a:lstStyle/>
          <a:p>
            <a:pPr marL="0" indent="0" algn="ctr">
              <a:buNone/>
            </a:pPr>
            <a:r>
              <a:rPr lang="en-US" sz="950" b="1" dirty="0">
                <a:solidFill>
                  <a:srgbClr val="7C3AED"/>
                </a:solidFill>
                <a:latin typeface="Calibri" panose="020F0502020204030204" pitchFamily="34" charset="0"/>
                <a:ea typeface="Calibri" panose="020F0502020204030204" pitchFamily="34" charset="-122"/>
                <a:cs typeface="Calibri" panose="020F0502020204030204" pitchFamily="34" charset="-120"/>
              </a:rPr>
              <a:t>Transparency</a:t>
            </a:r>
            <a:endParaRPr lang="en-US" sz="950" dirty="0"/>
          </a:p>
        </p:txBody>
      </p:sp>
      <p:sp>
        <p:nvSpPr>
          <p:cNvPr id="37" name="Shape 35"/>
          <p:cNvSpPr/>
          <p:nvPr/>
        </p:nvSpPr>
        <p:spPr>
          <a:xfrm>
            <a:off x="4709160" y="3749040"/>
            <a:ext cx="960120" cy="1005840"/>
          </a:xfrm>
          <a:prstGeom prst="roundRect">
            <a:avLst>
              <a:gd name="adj" fmla="val 7619"/>
            </a:avLst>
          </a:prstGeom>
          <a:solidFill>
            <a:srgbClr val="D97706">
              <a:alpha val="15000"/>
            </a:srgbClr>
          </a:solidFill>
          <a:ln w="12700">
            <a:solidFill>
              <a:srgbClr val="D97706">
                <a:alpha val="35000"/>
              </a:srgbClr>
            </a:solidFill>
            <a:prstDash val="solid"/>
          </a:ln>
          <a:effectLst>
            <a:outerShdw blurRad="127000" dist="38100" dir="8100000" algn="bl" rotWithShape="0">
              <a:srgbClr val="94A3B8">
                <a:alpha val="18000"/>
              </a:srgbClr>
            </a:outerShdw>
          </a:effectLst>
        </p:spPr>
      </p:sp>
      <p:sp>
        <p:nvSpPr>
          <p:cNvPr id="38" name="Text 36"/>
          <p:cNvSpPr/>
          <p:nvPr/>
        </p:nvSpPr>
        <p:spPr>
          <a:xfrm>
            <a:off x="4709160" y="377647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9" name="Text 37"/>
          <p:cNvSpPr/>
          <p:nvPr/>
        </p:nvSpPr>
        <p:spPr>
          <a:xfrm>
            <a:off x="4709160" y="4270248"/>
            <a:ext cx="960120" cy="384048"/>
          </a:xfrm>
          <a:prstGeom prst="rect">
            <a:avLst/>
          </a:prstGeom>
          <a:noFill/>
        </p:spPr>
        <p:txBody>
          <a:bodyPr wrap="square" lIns="0" tIns="0" rIns="0" bIns="0" rtlCol="0" anchor="ctr"/>
          <a:lstStyle/>
          <a:p>
            <a:pPr marL="0" indent="0" algn="ctr">
              <a:buNone/>
            </a:pPr>
            <a:r>
              <a:rPr lang="en-US" sz="950" b="1" dirty="0">
                <a:solidFill>
                  <a:srgbClr val="D97706"/>
                </a:solidFill>
                <a:latin typeface="Calibri" panose="020F0502020204030204" pitchFamily="34" charset="0"/>
                <a:ea typeface="Calibri" panose="020F0502020204030204" pitchFamily="34" charset="-122"/>
                <a:cs typeface="Calibri" panose="020F0502020204030204" pitchFamily="34" charset="-120"/>
              </a:rPr>
              <a:t>Accountability</a:t>
            </a:r>
            <a:endParaRPr lang="en-US" sz="950" dirty="0"/>
          </a:p>
        </p:txBody>
      </p:sp>
      <p:sp>
        <p:nvSpPr>
          <p:cNvPr id="40" name="Shape 38"/>
          <p:cNvSpPr/>
          <p:nvPr/>
        </p:nvSpPr>
        <p:spPr>
          <a:xfrm>
            <a:off x="6080760" y="1143000"/>
            <a:ext cx="2743200" cy="3657600"/>
          </a:xfrm>
          <a:prstGeom prst="rect">
            <a:avLst/>
          </a:prstGeom>
          <a:solidFill>
            <a:srgbClr val="FFFFFF"/>
          </a:solidFill>
          <a:ln w="12700">
            <a:solidFill>
              <a:srgbClr val="7C3AED">
                <a:alpha val="40000"/>
              </a:srgbClr>
            </a:solidFill>
            <a:prstDash val="solid"/>
          </a:ln>
          <a:effectLst>
            <a:outerShdw blurRad="127000" dist="38100" dir="8100000" algn="bl" rotWithShape="0">
              <a:srgbClr val="94A3B8">
                <a:alpha val="18000"/>
              </a:srgbClr>
            </a:outerShdw>
          </a:effectLst>
        </p:spPr>
      </p:sp>
      <p:sp>
        <p:nvSpPr>
          <p:cNvPr id="41" name="Shape 39"/>
          <p:cNvSpPr/>
          <p:nvPr/>
        </p:nvSpPr>
        <p:spPr>
          <a:xfrm>
            <a:off x="6080760" y="1143000"/>
            <a:ext cx="2743200" cy="457200"/>
          </a:xfrm>
          <a:prstGeom prst="rect">
            <a:avLst/>
          </a:prstGeom>
          <a:solidFill>
            <a:srgbClr val="7C3AED">
              <a:alpha val="20000"/>
            </a:srgbClr>
          </a:solidFill>
          <a:ln w="12700">
            <a:solidFill>
              <a:srgbClr val="7C3AED">
                <a:alpha val="20000"/>
              </a:srgbClr>
            </a:solidFill>
            <a:prstDash val="solid"/>
          </a:ln>
        </p:spPr>
      </p:sp>
      <p:sp>
        <p:nvSpPr>
          <p:cNvPr id="42" name="Text 40"/>
          <p:cNvSpPr/>
          <p:nvPr/>
        </p:nvSpPr>
        <p:spPr>
          <a:xfrm>
            <a:off x="6217920" y="1143000"/>
            <a:ext cx="2560320" cy="457200"/>
          </a:xfrm>
          <a:prstGeom prst="rect">
            <a:avLst/>
          </a:prstGeom>
          <a:noFill/>
        </p:spPr>
        <p:txBody>
          <a:bodyPr wrap="square" lIns="0" tIns="0" rIns="0" bIns="0" rtlCol="0" anchor="ctr"/>
          <a:lstStyle/>
          <a:p>
            <a:pPr marL="0" indent="0">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  Governance Structure</a:t>
            </a:r>
            <a:endParaRPr lang="en-US" sz="1300" dirty="0"/>
          </a:p>
        </p:txBody>
      </p:sp>
      <p:sp>
        <p:nvSpPr>
          <p:cNvPr id="43" name="Text 41"/>
          <p:cNvSpPr/>
          <p:nvPr/>
        </p:nvSpPr>
        <p:spPr>
          <a:xfrm>
            <a:off x="6217920" y="1719072"/>
            <a:ext cx="2514600" cy="297180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AI Oversight Committee
</a:t>
            </a:r>
            <a:endParaRPr lang="en-US" sz="1100" dirty="0"/>
          </a:p>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Chief AI Officers
</a:t>
            </a:r>
            <a:endParaRPr lang="en-US" sz="1100" dirty="0"/>
          </a:p>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Multiple departments managing AI projects
</a:t>
            </a:r>
            <a:endParaRPr lang="en-US" sz="1100" dirty="0"/>
          </a:p>
          <a:p>
            <a:pPr marL="0" indent="0">
              <a:buNone/>
            </a:pPr>
            <a:r>
              <a:rPr lang="en-US" sz="1100" b="1" dirty="0">
                <a:solidFill>
                  <a:srgbClr val="334155"/>
                </a:solidFill>
                <a:latin typeface="Calibri" panose="020F0502020204030204" pitchFamily="34" charset="0"/>
                <a:ea typeface="Calibri" panose="020F0502020204030204" pitchFamily="34" charset="-122"/>
                <a:cs typeface="Calibri" panose="020F0502020204030204" pitchFamily="34" charset="-120"/>
              </a:rPr>
              <a:t>Policies &amp; Standards
</a:t>
            </a:r>
            <a:endParaRPr lang="en-US" sz="1100" dirty="0"/>
          </a:p>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Written rules for AI boundaries
</a:t>
            </a:r>
            <a:endParaRPr lang="en-US" sz="1100" dirty="0"/>
          </a:p>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Protect against data poisoning, hacking, model theft
</a:t>
            </a:r>
            <a:endParaRPr lang="en-US" sz="1100" dirty="0"/>
          </a:p>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Based on NIST AI RMF and ISO 42001</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2200">
        <p14:doors dir="ver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7C3AED">
              <a:alpha val="14000"/>
            </a:srgbClr>
          </a:solidFill>
          <a:ln w="12700">
            <a:solidFill>
              <a:srgbClr val="7C3AED">
                <a:alpha val="14000"/>
              </a:srgbClr>
            </a:solidFill>
            <a:prstDash val="solid"/>
          </a:ln>
        </p:spPr>
      </p:sp>
      <p:sp>
        <p:nvSpPr>
          <p:cNvPr id="3" name="Shape 1"/>
          <p:cNvSpPr/>
          <p:nvPr/>
        </p:nvSpPr>
        <p:spPr>
          <a:xfrm>
            <a:off x="274320" y="182880"/>
            <a:ext cx="658368" cy="658368"/>
          </a:xfrm>
          <a:prstGeom prst="ellipse">
            <a:avLst/>
          </a:prstGeom>
          <a:solidFill>
            <a:srgbClr val="7C3AED">
              <a:alpha val="45000"/>
            </a:srgbClr>
          </a:solidFill>
          <a:ln w="12700">
            <a:solidFill>
              <a:srgbClr val="7C3AED">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7C3AED"/>
                </a:solidFill>
              </a:rPr>
              <a:t>03</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Key Components: Risk Management</a:t>
            </a:r>
            <a:endParaRPr lang="en-US" sz="3000" dirty="0"/>
          </a:p>
        </p:txBody>
      </p:sp>
      <p:sp>
        <p:nvSpPr>
          <p:cNvPr id="6" name="Shape 4"/>
          <p:cNvSpPr/>
          <p:nvPr/>
        </p:nvSpPr>
        <p:spPr>
          <a:xfrm>
            <a:off x="320040" y="1170432"/>
            <a:ext cx="8503920" cy="621792"/>
          </a:xfrm>
          <a:prstGeom prst="rect">
            <a:avLst/>
          </a:prstGeom>
          <a:solidFill>
            <a:srgbClr val="7C3AED">
              <a:alpha val="12000"/>
            </a:srgbClr>
          </a:solidFill>
          <a:ln w="12700">
            <a:solidFill>
              <a:srgbClr val="7C3AED">
                <a:alpha val="25000"/>
              </a:srgbClr>
            </a:solidFill>
            <a:prstDash val="solid"/>
          </a:ln>
        </p:spPr>
      </p:sp>
      <p:sp>
        <p:nvSpPr>
          <p:cNvPr id="7" name="Text 5"/>
          <p:cNvSpPr/>
          <p:nvPr/>
        </p:nvSpPr>
        <p:spPr>
          <a:xfrm>
            <a:off x="457200" y="1207008"/>
            <a:ext cx="8321040" cy="548640"/>
          </a:xfrm>
          <a:prstGeom prst="rect">
            <a:avLst/>
          </a:prstGeom>
          <a:noFill/>
        </p:spPr>
        <p:txBody>
          <a:bodyPr wrap="square" rtlCol="0" anchor="ctr"/>
          <a:lstStyle/>
          <a:p>
            <a:pPr marL="0" indent="0">
              <a:buNone/>
            </a:pPr>
            <a:r>
              <a:rPr lang="en-US" sz="1200" i="1" dirty="0">
                <a:solidFill>
                  <a:srgbClr val="7C3AED"/>
                </a:solidFill>
                <a:latin typeface="Calibri" panose="020F0502020204030204" pitchFamily="34" charset="0"/>
                <a:ea typeface="Calibri" panose="020F0502020204030204" pitchFamily="34" charset="-122"/>
                <a:cs typeface="Calibri" panose="020F0502020204030204" pitchFamily="34" charset="-120"/>
              </a:rPr>
              <a:t>Risk management is the process of spotting, understanding, and handling risks in AI systems making AI trustworthy, ethical, secure, and compliant.</a:t>
            </a:r>
            <a:endParaRPr lang="en-US" sz="1200" dirty="0"/>
          </a:p>
        </p:txBody>
      </p:sp>
      <p:sp>
        <p:nvSpPr>
          <p:cNvPr id="8" name="Shape 6"/>
          <p:cNvSpPr/>
          <p:nvPr/>
        </p:nvSpPr>
        <p:spPr>
          <a:xfrm>
            <a:off x="320040" y="1993392"/>
            <a:ext cx="1572768" cy="283464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9" name="Shape 7"/>
          <p:cNvSpPr/>
          <p:nvPr/>
        </p:nvSpPr>
        <p:spPr>
          <a:xfrm>
            <a:off x="786384" y="2103120"/>
            <a:ext cx="640080" cy="640080"/>
          </a:xfrm>
          <a:prstGeom prst="ellipse">
            <a:avLst/>
          </a:prstGeom>
          <a:solidFill>
            <a:srgbClr val="2563EB"/>
          </a:solidFill>
          <a:ln w="12700">
            <a:solidFill>
              <a:srgbClr val="2563EB"/>
            </a:solidFill>
            <a:prstDash val="solid"/>
          </a:ln>
        </p:spPr>
      </p:sp>
      <p:sp>
        <p:nvSpPr>
          <p:cNvPr id="10" name="Text 8"/>
          <p:cNvSpPr/>
          <p:nvPr/>
        </p:nvSpPr>
        <p:spPr>
          <a:xfrm>
            <a:off x="786384" y="2103120"/>
            <a:ext cx="640080" cy="640080"/>
          </a:xfrm>
          <a:prstGeom prst="rect">
            <a:avLst/>
          </a:prstGeom>
          <a:noFill/>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1" name="Text 9"/>
          <p:cNvSpPr/>
          <p:nvPr/>
        </p:nvSpPr>
        <p:spPr>
          <a:xfrm>
            <a:off x="320040" y="2852928"/>
            <a:ext cx="1572768" cy="384048"/>
          </a:xfrm>
          <a:prstGeom prst="rect">
            <a:avLst/>
          </a:prstGeom>
          <a:noFill/>
        </p:spPr>
        <p:txBody>
          <a:bodyPr wrap="square" lIns="0" tIns="0" rIns="0" bIns="0" rtlCol="0" anchor="ctr"/>
          <a:lstStyle/>
          <a:p>
            <a:pPr marL="0" indent="0" algn="ctr">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Identify</a:t>
            </a:r>
            <a:endParaRPr lang="en-US" sz="1300" dirty="0"/>
          </a:p>
        </p:txBody>
      </p:sp>
      <p:sp>
        <p:nvSpPr>
          <p:cNvPr id="12" name="Text 10"/>
          <p:cNvSpPr/>
          <p:nvPr/>
        </p:nvSpPr>
        <p:spPr>
          <a:xfrm>
            <a:off x="411480" y="3291840"/>
            <a:ext cx="1417320" cy="1444752"/>
          </a:xfrm>
          <a:prstGeom prst="rect">
            <a:avLst/>
          </a:prstGeom>
          <a:noFill/>
        </p:spPr>
        <p:txBody>
          <a:bodyPr wrap="square"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Spot potential problems within the AI system early in development.</a:t>
            </a:r>
            <a:endParaRPr lang="en-US" sz="1050" dirty="0"/>
          </a:p>
        </p:txBody>
      </p:sp>
      <p:sp>
        <p:nvSpPr>
          <p:cNvPr id="13" name="Shape 11"/>
          <p:cNvSpPr/>
          <p:nvPr/>
        </p:nvSpPr>
        <p:spPr>
          <a:xfrm>
            <a:off x="2039112" y="1993392"/>
            <a:ext cx="1572768" cy="283464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4" name="Shape 12"/>
          <p:cNvSpPr/>
          <p:nvPr/>
        </p:nvSpPr>
        <p:spPr>
          <a:xfrm>
            <a:off x="2505456" y="2103120"/>
            <a:ext cx="640080" cy="640080"/>
          </a:xfrm>
          <a:prstGeom prst="ellipse">
            <a:avLst/>
          </a:prstGeom>
          <a:solidFill>
            <a:srgbClr val="0891B2"/>
          </a:solidFill>
          <a:ln w="12700">
            <a:solidFill>
              <a:srgbClr val="0891B2"/>
            </a:solidFill>
            <a:prstDash val="solid"/>
          </a:ln>
        </p:spPr>
      </p:sp>
      <p:sp>
        <p:nvSpPr>
          <p:cNvPr id="15" name="Text 13"/>
          <p:cNvSpPr/>
          <p:nvPr/>
        </p:nvSpPr>
        <p:spPr>
          <a:xfrm>
            <a:off x="2505456" y="2103120"/>
            <a:ext cx="640080" cy="640080"/>
          </a:xfrm>
          <a:prstGeom prst="rect">
            <a:avLst/>
          </a:prstGeom>
          <a:noFill/>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6" name="Text 14"/>
          <p:cNvSpPr/>
          <p:nvPr/>
        </p:nvSpPr>
        <p:spPr>
          <a:xfrm>
            <a:off x="2039112" y="2852928"/>
            <a:ext cx="1572768" cy="384048"/>
          </a:xfrm>
          <a:prstGeom prst="rect">
            <a:avLst/>
          </a:prstGeom>
          <a:noFill/>
        </p:spPr>
        <p:txBody>
          <a:bodyPr wrap="square" lIns="0" tIns="0" rIns="0" bIns="0" rtlCol="0" anchor="ctr"/>
          <a:lstStyle/>
          <a:p>
            <a:pPr marL="0" indent="0" algn="ctr">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Assess</a:t>
            </a:r>
            <a:endParaRPr lang="en-US" sz="1300" dirty="0"/>
          </a:p>
        </p:txBody>
      </p:sp>
      <p:sp>
        <p:nvSpPr>
          <p:cNvPr id="17" name="Text 15"/>
          <p:cNvSpPr/>
          <p:nvPr/>
        </p:nvSpPr>
        <p:spPr>
          <a:xfrm>
            <a:off x="2130552" y="3291840"/>
            <a:ext cx="1417320" cy="1444752"/>
          </a:xfrm>
          <a:prstGeom prst="rect">
            <a:avLst/>
          </a:prstGeom>
          <a:noFill/>
        </p:spPr>
        <p:txBody>
          <a:bodyPr wrap="square"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Evaluate how serious each identified risk is to the organization.</a:t>
            </a:r>
            <a:endParaRPr lang="en-US" sz="1050" dirty="0"/>
          </a:p>
        </p:txBody>
      </p:sp>
      <p:sp>
        <p:nvSpPr>
          <p:cNvPr id="18" name="Shape 16"/>
          <p:cNvSpPr/>
          <p:nvPr/>
        </p:nvSpPr>
        <p:spPr>
          <a:xfrm>
            <a:off x="3758184" y="1993392"/>
            <a:ext cx="1572768" cy="2834640"/>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19" name="Shape 17"/>
          <p:cNvSpPr/>
          <p:nvPr/>
        </p:nvSpPr>
        <p:spPr>
          <a:xfrm>
            <a:off x="4224528" y="2103120"/>
            <a:ext cx="640080" cy="640080"/>
          </a:xfrm>
          <a:prstGeom prst="ellipse">
            <a:avLst/>
          </a:prstGeom>
          <a:solidFill>
            <a:srgbClr val="10B981"/>
          </a:solidFill>
          <a:ln w="12700">
            <a:solidFill>
              <a:srgbClr val="10B981"/>
            </a:solidFill>
            <a:prstDash val="solid"/>
          </a:ln>
        </p:spPr>
      </p:sp>
      <p:sp>
        <p:nvSpPr>
          <p:cNvPr id="20" name="Text 18"/>
          <p:cNvSpPr/>
          <p:nvPr/>
        </p:nvSpPr>
        <p:spPr>
          <a:xfrm>
            <a:off x="4224528" y="2103120"/>
            <a:ext cx="640080" cy="640080"/>
          </a:xfrm>
          <a:prstGeom prst="rect">
            <a:avLst/>
          </a:prstGeom>
          <a:noFill/>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1" name="Text 19"/>
          <p:cNvSpPr/>
          <p:nvPr/>
        </p:nvSpPr>
        <p:spPr>
          <a:xfrm>
            <a:off x="3758184" y="2852928"/>
            <a:ext cx="1572768" cy="384048"/>
          </a:xfrm>
          <a:prstGeom prst="rect">
            <a:avLst/>
          </a:prstGeom>
          <a:noFill/>
        </p:spPr>
        <p:txBody>
          <a:bodyPr wrap="square" lIns="0" tIns="0" rIns="0" bIns="0" rtlCol="0" anchor="ctr"/>
          <a:lstStyle/>
          <a:p>
            <a:pPr marL="0" indent="0" algn="ctr">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Reduce</a:t>
            </a:r>
            <a:endParaRPr lang="en-US" sz="1300" dirty="0"/>
          </a:p>
        </p:txBody>
      </p:sp>
      <p:sp>
        <p:nvSpPr>
          <p:cNvPr id="22" name="Text 20"/>
          <p:cNvSpPr/>
          <p:nvPr/>
        </p:nvSpPr>
        <p:spPr>
          <a:xfrm>
            <a:off x="3849624" y="3291840"/>
            <a:ext cx="1417320" cy="1444752"/>
          </a:xfrm>
          <a:prstGeom prst="rect">
            <a:avLst/>
          </a:prstGeom>
          <a:noFill/>
        </p:spPr>
        <p:txBody>
          <a:bodyPr wrap="square"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Take steps to mitigate or eliminate risks before deployment.</a:t>
            </a:r>
            <a:endParaRPr lang="en-US" sz="1050" dirty="0"/>
          </a:p>
        </p:txBody>
      </p:sp>
      <p:sp>
        <p:nvSpPr>
          <p:cNvPr id="23" name="Shape 21"/>
          <p:cNvSpPr/>
          <p:nvPr/>
        </p:nvSpPr>
        <p:spPr>
          <a:xfrm>
            <a:off x="5477256" y="1993392"/>
            <a:ext cx="1572768" cy="2834640"/>
          </a:xfrm>
          <a:prstGeom prst="rect">
            <a:avLst/>
          </a:prstGeom>
          <a:solidFill>
            <a:srgbClr val="FFFFFF"/>
          </a:solidFill>
          <a:ln w="12700">
            <a:solidFill>
              <a:srgbClr val="D97706">
                <a:alpha val="45000"/>
              </a:srgbClr>
            </a:solidFill>
            <a:prstDash val="solid"/>
          </a:ln>
          <a:effectLst>
            <a:outerShdw blurRad="127000" dist="38100" dir="8100000" algn="bl" rotWithShape="0">
              <a:srgbClr val="94A3B8">
                <a:alpha val="18000"/>
              </a:srgbClr>
            </a:outerShdw>
          </a:effectLst>
        </p:spPr>
      </p:sp>
      <p:sp>
        <p:nvSpPr>
          <p:cNvPr id="24" name="Shape 22"/>
          <p:cNvSpPr/>
          <p:nvPr/>
        </p:nvSpPr>
        <p:spPr>
          <a:xfrm>
            <a:off x="5943600" y="2103120"/>
            <a:ext cx="640080" cy="640080"/>
          </a:xfrm>
          <a:prstGeom prst="ellipse">
            <a:avLst/>
          </a:prstGeom>
          <a:solidFill>
            <a:srgbClr val="D97706"/>
          </a:solidFill>
          <a:ln w="12700">
            <a:solidFill>
              <a:srgbClr val="D97706"/>
            </a:solidFill>
            <a:prstDash val="solid"/>
          </a:ln>
        </p:spPr>
      </p:sp>
      <p:sp>
        <p:nvSpPr>
          <p:cNvPr id="25" name="Text 23"/>
          <p:cNvSpPr/>
          <p:nvPr/>
        </p:nvSpPr>
        <p:spPr>
          <a:xfrm>
            <a:off x="5943600" y="2103120"/>
            <a:ext cx="640080" cy="640080"/>
          </a:xfrm>
          <a:prstGeom prst="rect">
            <a:avLst/>
          </a:prstGeom>
          <a:noFill/>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6" name="Text 24"/>
          <p:cNvSpPr/>
          <p:nvPr/>
        </p:nvSpPr>
        <p:spPr>
          <a:xfrm>
            <a:off x="5477256" y="2852928"/>
            <a:ext cx="1572768" cy="384048"/>
          </a:xfrm>
          <a:prstGeom prst="rect">
            <a:avLst/>
          </a:prstGeom>
          <a:noFill/>
        </p:spPr>
        <p:txBody>
          <a:bodyPr wrap="square" lIns="0" tIns="0" rIns="0" bIns="0" rtlCol="0" anchor="ctr"/>
          <a:lstStyle/>
          <a:p>
            <a:pPr marL="0" indent="0" algn="ctr">
              <a:buNone/>
            </a:pPr>
            <a:r>
              <a:rPr lang="en-US" sz="1300" b="1" dirty="0">
                <a:solidFill>
                  <a:srgbClr val="D97706"/>
                </a:solidFill>
                <a:latin typeface="Calibri" panose="020F0502020204030204" pitchFamily="34" charset="0"/>
                <a:ea typeface="Calibri" panose="020F0502020204030204" pitchFamily="34" charset="-122"/>
                <a:cs typeface="Calibri" panose="020F0502020204030204" pitchFamily="34" charset="-120"/>
              </a:rPr>
              <a:t>Monitor</a:t>
            </a:r>
            <a:endParaRPr lang="en-US" sz="1300" dirty="0"/>
          </a:p>
        </p:txBody>
      </p:sp>
      <p:sp>
        <p:nvSpPr>
          <p:cNvPr id="27" name="Text 25"/>
          <p:cNvSpPr/>
          <p:nvPr/>
        </p:nvSpPr>
        <p:spPr>
          <a:xfrm>
            <a:off x="5568696" y="3291840"/>
            <a:ext cx="1417320" cy="1444752"/>
          </a:xfrm>
          <a:prstGeom prst="rect">
            <a:avLst/>
          </a:prstGeom>
          <a:noFill/>
        </p:spPr>
        <p:txBody>
          <a:bodyPr wrap="square"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Continuously watch for new threats and control existing ones.</a:t>
            </a:r>
            <a:endParaRPr lang="en-US" sz="1050" dirty="0"/>
          </a:p>
        </p:txBody>
      </p:sp>
      <p:sp>
        <p:nvSpPr>
          <p:cNvPr id="28" name="Shape 26"/>
          <p:cNvSpPr/>
          <p:nvPr/>
        </p:nvSpPr>
        <p:spPr>
          <a:xfrm>
            <a:off x="7196328" y="1993392"/>
            <a:ext cx="1572768" cy="2834640"/>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29" name="Shape 27"/>
          <p:cNvSpPr/>
          <p:nvPr/>
        </p:nvSpPr>
        <p:spPr>
          <a:xfrm>
            <a:off x="7662672" y="2103120"/>
            <a:ext cx="640080" cy="640080"/>
          </a:xfrm>
          <a:prstGeom prst="ellipse">
            <a:avLst/>
          </a:prstGeom>
          <a:solidFill>
            <a:srgbClr val="7C3AED"/>
          </a:solidFill>
          <a:ln w="12700">
            <a:solidFill>
              <a:srgbClr val="7C3AED"/>
            </a:solidFill>
            <a:prstDash val="solid"/>
          </a:ln>
        </p:spPr>
      </p:sp>
      <p:sp>
        <p:nvSpPr>
          <p:cNvPr id="30" name="Text 28"/>
          <p:cNvSpPr/>
          <p:nvPr/>
        </p:nvSpPr>
        <p:spPr>
          <a:xfrm>
            <a:off x="7662672" y="2103120"/>
            <a:ext cx="640080" cy="640080"/>
          </a:xfrm>
          <a:prstGeom prst="rect">
            <a:avLst/>
          </a:prstGeom>
          <a:noFill/>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31" name="Text 29"/>
          <p:cNvSpPr/>
          <p:nvPr/>
        </p:nvSpPr>
        <p:spPr>
          <a:xfrm>
            <a:off x="7196328" y="2852928"/>
            <a:ext cx="1572768" cy="384048"/>
          </a:xfrm>
          <a:prstGeom prst="rect">
            <a:avLst/>
          </a:prstGeom>
          <a:noFill/>
        </p:spPr>
        <p:txBody>
          <a:bodyPr wrap="square" lIns="0" tIns="0" rIns="0" bIns="0" rtlCol="0" anchor="ctr"/>
          <a:lstStyle/>
          <a:p>
            <a:pPr marL="0" indent="0" algn="ctr">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Protect</a:t>
            </a:r>
            <a:endParaRPr lang="en-US" sz="1300" dirty="0"/>
          </a:p>
        </p:txBody>
      </p:sp>
      <p:sp>
        <p:nvSpPr>
          <p:cNvPr id="32" name="Text 30"/>
          <p:cNvSpPr/>
          <p:nvPr/>
        </p:nvSpPr>
        <p:spPr>
          <a:xfrm>
            <a:off x="7287768" y="3291840"/>
            <a:ext cx="1417320" cy="1444752"/>
          </a:xfrm>
          <a:prstGeom prst="rect">
            <a:avLst/>
          </a:prstGeom>
          <a:noFill/>
        </p:spPr>
        <p:txBody>
          <a:bodyPr wrap="square"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Ensure people, organizations, and society are shielded from harm.</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3000">
        <p:randomBar dir="vert"/>
      </p:transition>
    </mc:Choice>
    <mc:Fallback>
      <p:transition spd="slow">
        <p:randomBar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DC2626">
              <a:alpha val="14000"/>
            </a:srgbClr>
          </a:solidFill>
          <a:ln w="12700">
            <a:solidFill>
              <a:srgbClr val="DC2626">
                <a:alpha val="14000"/>
              </a:srgbClr>
            </a:solidFill>
            <a:prstDash val="solid"/>
          </a:ln>
        </p:spPr>
      </p:sp>
      <p:sp>
        <p:nvSpPr>
          <p:cNvPr id="3" name="Shape 1"/>
          <p:cNvSpPr/>
          <p:nvPr/>
        </p:nvSpPr>
        <p:spPr>
          <a:xfrm>
            <a:off x="274320" y="182880"/>
            <a:ext cx="658368" cy="658368"/>
          </a:xfrm>
          <a:prstGeom prst="ellipse">
            <a:avLst/>
          </a:prstGeom>
          <a:solidFill>
            <a:srgbClr val="DC2626">
              <a:alpha val="45000"/>
            </a:srgbClr>
          </a:solidFill>
          <a:ln w="12700">
            <a:solidFill>
              <a:srgbClr val="DC2626">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DC2626"/>
                </a:solidFill>
              </a:rPr>
              <a:t>04</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Types of Risk</a:t>
            </a:r>
            <a:endParaRPr lang="en-US" sz="3000" dirty="0"/>
          </a:p>
        </p:txBody>
      </p:sp>
      <p:sp>
        <p:nvSpPr>
          <p:cNvPr id="6" name="Shape 4"/>
          <p:cNvSpPr/>
          <p:nvPr/>
        </p:nvSpPr>
        <p:spPr>
          <a:xfrm>
            <a:off x="320040" y="1188720"/>
            <a:ext cx="4114800" cy="3566160"/>
          </a:xfrm>
          <a:prstGeom prst="rect">
            <a:avLst/>
          </a:prstGeom>
          <a:solidFill>
            <a:srgbClr val="FFFFFF"/>
          </a:solidFill>
          <a:ln w="12700">
            <a:solidFill>
              <a:srgbClr val="DC2626">
                <a:alpha val="50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188720"/>
            <a:ext cx="4114800" cy="502920"/>
          </a:xfrm>
          <a:prstGeom prst="rect">
            <a:avLst/>
          </a:prstGeom>
          <a:solidFill>
            <a:srgbClr val="DC2626">
              <a:alpha val="18000"/>
            </a:srgbClr>
          </a:solidFill>
          <a:ln w="12700">
            <a:solidFill>
              <a:srgbClr val="DC2626">
                <a:alpha val="18000"/>
              </a:srgbClr>
            </a:solidFill>
            <a:prstDash val="solid"/>
          </a:ln>
        </p:spPr>
      </p:sp>
      <p:sp>
        <p:nvSpPr>
          <p:cNvPr id="8" name="Text 6"/>
          <p:cNvSpPr/>
          <p:nvPr/>
        </p:nvSpPr>
        <p:spPr>
          <a:xfrm>
            <a:off x="457200" y="1216152"/>
            <a:ext cx="3840480" cy="457200"/>
          </a:xfrm>
          <a:prstGeom prst="rect">
            <a:avLst/>
          </a:prstGeom>
          <a:noFill/>
        </p:spPr>
        <p:txBody>
          <a:bodyPr wrap="square" lIns="0" tIns="0" rIns="0" bIns="0" rtlCol="0" anchor="ctr"/>
          <a:lstStyle/>
          <a:p>
            <a:pPr marL="0" indent="0">
              <a:buNone/>
            </a:pPr>
            <a:r>
              <a:rPr lang="en-US" sz="1500" b="1" dirty="0">
                <a:solidFill>
                  <a:srgbClr val="DC2626"/>
                </a:solidFill>
              </a:rPr>
              <a:t>💉  Prompt Injection</a:t>
            </a:r>
            <a:endParaRPr lang="en-US" sz="1500" dirty="0"/>
          </a:p>
        </p:txBody>
      </p:sp>
      <p:sp>
        <p:nvSpPr>
          <p:cNvPr id="9" name="Text 7"/>
          <p:cNvSpPr/>
          <p:nvPr/>
        </p:nvSpPr>
        <p:spPr>
          <a:xfrm>
            <a:off x="502920" y="1828800"/>
            <a:ext cx="3794760" cy="274320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Malicious user input tricks an AI into ignoring its system instructions and executing the attacker's hidden commands instead.</a:t>
            </a:r>
            <a:endParaRPr lang="en-US" sz="1200" dirty="0"/>
          </a:p>
          <a:p>
            <a:pPr marL="0" indent="0">
              <a:buNone/>
            </a:pP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Example: A user crafts input that overrides the AI's safety rules and extracts confidential data.</a:t>
            </a:r>
            <a:endParaRPr lang="en-US" sz="1200" dirty="0"/>
          </a:p>
        </p:txBody>
      </p:sp>
      <p:sp>
        <p:nvSpPr>
          <p:cNvPr id="10" name="Shape 8"/>
          <p:cNvSpPr/>
          <p:nvPr/>
        </p:nvSpPr>
        <p:spPr>
          <a:xfrm>
            <a:off x="4754880" y="1188720"/>
            <a:ext cx="4114800" cy="3566160"/>
          </a:xfrm>
          <a:prstGeom prst="rect">
            <a:avLst/>
          </a:prstGeom>
          <a:solidFill>
            <a:srgbClr val="FFFFFF"/>
          </a:solidFill>
          <a:ln w="12700">
            <a:solidFill>
              <a:srgbClr val="D97706">
                <a:alpha val="50000"/>
              </a:srgbClr>
            </a:solidFill>
            <a:prstDash val="solid"/>
          </a:ln>
          <a:effectLst>
            <a:outerShdw blurRad="127000" dist="38100" dir="8100000" algn="bl" rotWithShape="0">
              <a:srgbClr val="94A3B8">
                <a:alpha val="18000"/>
              </a:srgbClr>
            </a:outerShdw>
          </a:effectLst>
        </p:spPr>
      </p:sp>
      <p:sp>
        <p:nvSpPr>
          <p:cNvPr id="11" name="Shape 9"/>
          <p:cNvSpPr/>
          <p:nvPr/>
        </p:nvSpPr>
        <p:spPr>
          <a:xfrm>
            <a:off x="4754880" y="1188720"/>
            <a:ext cx="4114800" cy="502920"/>
          </a:xfrm>
          <a:prstGeom prst="rect">
            <a:avLst/>
          </a:prstGeom>
          <a:solidFill>
            <a:srgbClr val="D97706">
              <a:alpha val="18000"/>
            </a:srgbClr>
          </a:solidFill>
          <a:ln w="12700">
            <a:solidFill>
              <a:srgbClr val="D97706">
                <a:alpha val="18000"/>
              </a:srgbClr>
            </a:solidFill>
            <a:prstDash val="solid"/>
          </a:ln>
        </p:spPr>
      </p:sp>
      <p:sp>
        <p:nvSpPr>
          <p:cNvPr id="12" name="Text 10"/>
          <p:cNvSpPr/>
          <p:nvPr/>
        </p:nvSpPr>
        <p:spPr>
          <a:xfrm>
            <a:off x="4892040" y="1216152"/>
            <a:ext cx="3840480" cy="457200"/>
          </a:xfrm>
          <a:prstGeom prst="rect">
            <a:avLst/>
          </a:prstGeom>
          <a:noFill/>
        </p:spPr>
        <p:txBody>
          <a:bodyPr wrap="square" lIns="0" tIns="0" rIns="0" bIns="0" rtlCol="0" anchor="ctr"/>
          <a:lstStyle/>
          <a:p>
            <a:pPr marL="0" indent="0">
              <a:buNone/>
            </a:pPr>
            <a:r>
              <a:rPr lang="en-US" sz="1500" b="1" dirty="0">
                <a:solidFill>
                  <a:srgbClr val="D97706"/>
                </a:solidFill>
              </a:rPr>
              <a:t>🚫  Denial of Service (DoS)</a:t>
            </a:r>
            <a:endParaRPr lang="en-US" sz="1500" dirty="0"/>
          </a:p>
        </p:txBody>
      </p:sp>
      <p:sp>
        <p:nvSpPr>
          <p:cNvPr id="13" name="Text 11"/>
          <p:cNvSpPr/>
          <p:nvPr/>
        </p:nvSpPr>
        <p:spPr>
          <a:xfrm>
            <a:off x="4937760" y="1828800"/>
            <a:ext cx="3794760" cy="274320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A cyber attack that floods a system, server, or network with excessive traffic or requests to make it unavailable to legitimate users.</a:t>
            </a:r>
            <a:endParaRPr lang="en-US" sz="1200" dirty="0"/>
          </a:p>
          <a:p>
            <a:pPr marL="0" indent="0">
              <a:buNone/>
            </a:pP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Impact: AI systems become unresponsive, causing operational failure and financial loss.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750">
        <p:dissolve/>
      </p:transition>
    </mc:Choice>
    <mc:Fallback>
      <p:transition spd="slow">
        <p:dissolv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DC2626">
              <a:alpha val="14000"/>
            </a:srgbClr>
          </a:solidFill>
          <a:ln w="12700">
            <a:solidFill>
              <a:srgbClr val="DC2626">
                <a:alpha val="14000"/>
              </a:srgbClr>
            </a:solidFill>
            <a:prstDash val="solid"/>
          </a:ln>
        </p:spPr>
      </p:sp>
      <p:sp>
        <p:nvSpPr>
          <p:cNvPr id="3" name="Shape 1"/>
          <p:cNvSpPr/>
          <p:nvPr/>
        </p:nvSpPr>
        <p:spPr>
          <a:xfrm>
            <a:off x="274320" y="182880"/>
            <a:ext cx="658368" cy="658368"/>
          </a:xfrm>
          <a:prstGeom prst="ellipse">
            <a:avLst/>
          </a:prstGeom>
          <a:solidFill>
            <a:srgbClr val="DC2626">
              <a:alpha val="45000"/>
            </a:srgbClr>
          </a:solidFill>
          <a:ln w="12700">
            <a:solidFill>
              <a:srgbClr val="DC2626">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DC2626"/>
                </a:solidFill>
              </a:rPr>
              <a:t>04</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Types of Risk (Continued)</a:t>
            </a:r>
            <a:endParaRPr lang="en-US" sz="3000" dirty="0"/>
          </a:p>
        </p:txBody>
      </p:sp>
      <p:sp>
        <p:nvSpPr>
          <p:cNvPr id="6" name="Shape 4"/>
          <p:cNvSpPr/>
          <p:nvPr/>
        </p:nvSpPr>
        <p:spPr>
          <a:xfrm>
            <a:off x="320040" y="1188720"/>
            <a:ext cx="4114800" cy="3566160"/>
          </a:xfrm>
          <a:prstGeom prst="rect">
            <a:avLst/>
          </a:prstGeom>
          <a:solidFill>
            <a:srgbClr val="FFFFFF"/>
          </a:solidFill>
          <a:ln w="12700">
            <a:solidFill>
              <a:srgbClr val="7C3AED">
                <a:alpha val="50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188720"/>
            <a:ext cx="4114800" cy="502920"/>
          </a:xfrm>
          <a:prstGeom prst="rect">
            <a:avLst/>
          </a:prstGeom>
          <a:solidFill>
            <a:srgbClr val="7C3AED">
              <a:alpha val="18000"/>
            </a:srgbClr>
          </a:solidFill>
          <a:ln w="12700">
            <a:solidFill>
              <a:srgbClr val="7C3AED">
                <a:alpha val="18000"/>
              </a:srgbClr>
            </a:solidFill>
            <a:prstDash val="solid"/>
          </a:ln>
        </p:spPr>
      </p:sp>
      <p:sp>
        <p:nvSpPr>
          <p:cNvPr id="8" name="Text 6"/>
          <p:cNvSpPr/>
          <p:nvPr/>
        </p:nvSpPr>
        <p:spPr>
          <a:xfrm>
            <a:off x="457200" y="1216152"/>
            <a:ext cx="3840480" cy="457200"/>
          </a:xfrm>
          <a:prstGeom prst="rect">
            <a:avLst/>
          </a:prstGeom>
          <a:noFill/>
        </p:spPr>
        <p:txBody>
          <a:bodyPr wrap="square" lIns="0" tIns="0" rIns="0" bIns="0" rtlCol="0" anchor="ctr"/>
          <a:lstStyle/>
          <a:p>
            <a:pPr marL="0" indent="0">
              <a:buNone/>
            </a:pPr>
            <a:r>
              <a:rPr lang="en-US" sz="1500" b="1" dirty="0">
                <a:solidFill>
                  <a:srgbClr val="7C3AED"/>
                </a:solidFill>
              </a:rPr>
              <a:t>🔑  Session Hijacking</a:t>
            </a:r>
            <a:endParaRPr lang="en-US" sz="1500" dirty="0"/>
          </a:p>
        </p:txBody>
      </p:sp>
      <p:sp>
        <p:nvSpPr>
          <p:cNvPr id="9" name="Text 7"/>
          <p:cNvSpPr/>
          <p:nvPr/>
        </p:nvSpPr>
        <p:spPr>
          <a:xfrm>
            <a:off x="502920" y="1828800"/>
            <a:ext cx="3794760" cy="274320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An attack where an adversary steals or predicts a user's active session token to impersonate them and gain unauthorized access.</a:t>
            </a:r>
            <a:endParaRPr lang="en-US" sz="1200" dirty="0"/>
          </a:p>
          <a:p>
            <a:pPr marL="0" indent="0">
              <a:buNone/>
            </a:pP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Result: Unauthorized access to sensitive user accounts and private data within AI platforms.</a:t>
            </a:r>
            <a:endParaRPr lang="en-US" sz="1200" dirty="0"/>
          </a:p>
        </p:txBody>
      </p:sp>
      <p:sp>
        <p:nvSpPr>
          <p:cNvPr id="10" name="Shape 8"/>
          <p:cNvSpPr/>
          <p:nvPr/>
        </p:nvSpPr>
        <p:spPr>
          <a:xfrm>
            <a:off x="4754880" y="1188720"/>
            <a:ext cx="4114800" cy="3566160"/>
          </a:xfrm>
          <a:prstGeom prst="rect">
            <a:avLst/>
          </a:prstGeom>
          <a:solidFill>
            <a:srgbClr val="FFFFFF"/>
          </a:solidFill>
          <a:ln w="12700">
            <a:solidFill>
              <a:srgbClr val="0891B2">
                <a:alpha val="50000"/>
              </a:srgbClr>
            </a:solidFill>
            <a:prstDash val="solid"/>
          </a:ln>
          <a:effectLst>
            <a:outerShdw blurRad="127000" dist="38100" dir="8100000" algn="bl" rotWithShape="0">
              <a:srgbClr val="94A3B8">
                <a:alpha val="18000"/>
              </a:srgbClr>
            </a:outerShdw>
          </a:effectLst>
        </p:spPr>
      </p:sp>
      <p:sp>
        <p:nvSpPr>
          <p:cNvPr id="11" name="Shape 9"/>
          <p:cNvSpPr/>
          <p:nvPr/>
        </p:nvSpPr>
        <p:spPr>
          <a:xfrm>
            <a:off x="4754880" y="1188720"/>
            <a:ext cx="4114800" cy="502920"/>
          </a:xfrm>
          <a:prstGeom prst="rect">
            <a:avLst/>
          </a:prstGeom>
          <a:solidFill>
            <a:srgbClr val="0891B2">
              <a:alpha val="18000"/>
            </a:srgbClr>
          </a:solidFill>
          <a:ln w="12700">
            <a:solidFill>
              <a:srgbClr val="0891B2">
                <a:alpha val="18000"/>
              </a:srgbClr>
            </a:solidFill>
            <a:prstDash val="solid"/>
          </a:ln>
        </p:spPr>
      </p:sp>
      <p:sp>
        <p:nvSpPr>
          <p:cNvPr id="12" name="Text 10"/>
          <p:cNvSpPr/>
          <p:nvPr/>
        </p:nvSpPr>
        <p:spPr>
          <a:xfrm>
            <a:off x="4892040" y="1216152"/>
            <a:ext cx="3840480" cy="457200"/>
          </a:xfrm>
          <a:prstGeom prst="rect">
            <a:avLst/>
          </a:prstGeom>
          <a:noFill/>
        </p:spPr>
        <p:txBody>
          <a:bodyPr wrap="square" lIns="0" tIns="0" rIns="0" bIns="0" rtlCol="0" anchor="ctr"/>
          <a:lstStyle/>
          <a:p>
            <a:pPr marL="0" indent="0">
              <a:buNone/>
            </a:pPr>
            <a:r>
              <a:rPr lang="en-US" sz="1500" b="1" dirty="0">
                <a:solidFill>
                  <a:srgbClr val="0891B2"/>
                </a:solidFill>
              </a:rPr>
              <a:t>☠  Data Poisoning</a:t>
            </a:r>
            <a:endParaRPr lang="en-US" sz="1500" dirty="0"/>
          </a:p>
        </p:txBody>
      </p:sp>
      <p:sp>
        <p:nvSpPr>
          <p:cNvPr id="13" name="Text 11"/>
          <p:cNvSpPr/>
          <p:nvPr/>
        </p:nvSpPr>
        <p:spPr>
          <a:xfrm>
            <a:off x="4937760" y="1828800"/>
            <a:ext cx="3794760" cy="274320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Deliberately injecting malicious or misleading data into training datasets to corrupt, bias, or backdoor a machine learning model.</a:t>
            </a:r>
            <a:endParaRPr lang="en-US" sz="1200" dirty="0"/>
          </a:p>
          <a:p>
            <a:pPr marL="0" indent="0">
              <a:buNone/>
            </a:pP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Result: AI makes systematically wrong or harmful decisions undetected.</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750">
        <p:dissolve/>
      </p:transition>
    </mc:Choice>
    <mc:Fallback>
      <p:transition spd="slow">
        <p:dissolv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D97706">
              <a:alpha val="14000"/>
            </a:srgbClr>
          </a:solidFill>
          <a:ln w="12700">
            <a:solidFill>
              <a:srgbClr val="D97706">
                <a:alpha val="14000"/>
              </a:srgbClr>
            </a:solidFill>
            <a:prstDash val="solid"/>
          </a:ln>
        </p:spPr>
      </p:sp>
      <p:sp>
        <p:nvSpPr>
          <p:cNvPr id="3" name="Shape 1"/>
          <p:cNvSpPr/>
          <p:nvPr/>
        </p:nvSpPr>
        <p:spPr>
          <a:xfrm>
            <a:off x="274320" y="182880"/>
            <a:ext cx="658368" cy="658368"/>
          </a:xfrm>
          <a:prstGeom prst="ellipse">
            <a:avLst/>
          </a:prstGeom>
          <a:solidFill>
            <a:srgbClr val="D97706">
              <a:alpha val="45000"/>
            </a:srgbClr>
          </a:solidFill>
          <a:ln w="12700">
            <a:solidFill>
              <a:srgbClr val="D97706">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D97706"/>
                </a:solidFill>
              </a:rPr>
              <a:t>05</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Potential Risks</a:t>
            </a:r>
            <a:endParaRPr lang="en-US" sz="3000" dirty="0"/>
          </a:p>
        </p:txBody>
      </p:sp>
      <p:sp>
        <p:nvSpPr>
          <p:cNvPr id="6" name="Shape 4"/>
          <p:cNvSpPr/>
          <p:nvPr/>
        </p:nvSpPr>
        <p:spPr>
          <a:xfrm>
            <a:off x="320040" y="1170432"/>
            <a:ext cx="8503920" cy="1691640"/>
          </a:xfrm>
          <a:prstGeom prst="rect">
            <a:avLst/>
          </a:prstGeom>
          <a:solidFill>
            <a:srgbClr val="FFFFFF"/>
          </a:solidFill>
          <a:ln w="12700">
            <a:solidFill>
              <a:srgbClr val="DC2626">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170432"/>
            <a:ext cx="8503920" cy="475488"/>
          </a:xfrm>
          <a:prstGeom prst="rect">
            <a:avLst/>
          </a:prstGeom>
          <a:solidFill>
            <a:srgbClr val="DC2626">
              <a:alpha val="18000"/>
            </a:srgbClr>
          </a:solidFill>
          <a:ln w="12700">
            <a:solidFill>
              <a:srgbClr val="DC2626">
                <a:alpha val="18000"/>
              </a:srgbClr>
            </a:solidFill>
            <a:prstDash val="solid"/>
          </a:ln>
        </p:spPr>
      </p:sp>
      <p:sp>
        <p:nvSpPr>
          <p:cNvPr id="8" name="Text 6"/>
          <p:cNvSpPr/>
          <p:nvPr/>
        </p:nvSpPr>
        <p:spPr>
          <a:xfrm>
            <a:off x="475488" y="1197864"/>
            <a:ext cx="8229600" cy="438912"/>
          </a:xfrm>
          <a:prstGeom prst="rect">
            <a:avLst/>
          </a:prstGeom>
          <a:noFill/>
        </p:spPr>
        <p:txBody>
          <a:bodyPr wrap="square" lIns="0" tIns="0" rIns="0" bIns="0" rtlCol="0" anchor="ctr"/>
          <a:lstStyle/>
          <a:p>
            <a:pPr marL="0" indent="0">
              <a:buNone/>
            </a:pPr>
            <a:r>
              <a:rPr lang="en-US" sz="1400" b="1" dirty="0">
                <a:solidFill>
                  <a:srgbClr val="DC2626"/>
                </a:solidFill>
              </a:rPr>
              <a:t>⚙  Technical Risks to AI Systems</a:t>
            </a:r>
            <a:endParaRPr lang="en-US" sz="1400" dirty="0"/>
          </a:p>
        </p:txBody>
      </p:sp>
      <p:sp>
        <p:nvSpPr>
          <p:cNvPr id="9" name="Text 7"/>
          <p:cNvSpPr/>
          <p:nvPr/>
        </p:nvSpPr>
        <p:spPr>
          <a:xfrm>
            <a:off x="475488" y="1719072"/>
            <a:ext cx="8229600" cy="1005840"/>
          </a:xfrm>
          <a:prstGeom prst="rect">
            <a:avLst/>
          </a:prstGeom>
          <a:noFill/>
        </p:spPr>
        <p:txBody>
          <a:bodyPr wrap="square" rtlCol="0" anchor="ctr"/>
          <a:lstStyle/>
          <a:p>
            <a:pPr marL="0" indent="0">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Data poisoning, session hijacking, prompt injection, and denial of service can compromise AI systems.
</a:t>
            </a:r>
            <a:endParaRPr lang="en-US" sz="1200" dirty="0"/>
          </a:p>
          <a:p>
            <a:pPr marL="0" indent="0">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Lack of security monitoring and weak authentication amplifies technical risk exposure.</a:t>
            </a:r>
            <a:endParaRPr lang="en-US" sz="1200" dirty="0"/>
          </a:p>
        </p:txBody>
      </p:sp>
      <p:sp>
        <p:nvSpPr>
          <p:cNvPr id="10" name="Shape 8"/>
          <p:cNvSpPr/>
          <p:nvPr/>
        </p:nvSpPr>
        <p:spPr>
          <a:xfrm>
            <a:off x="320040" y="3017520"/>
            <a:ext cx="8503920" cy="1783080"/>
          </a:xfrm>
          <a:prstGeom prst="rect">
            <a:avLst/>
          </a:prstGeom>
          <a:solidFill>
            <a:srgbClr val="FFFFFF"/>
          </a:solidFill>
          <a:ln w="12700">
            <a:solidFill>
              <a:srgbClr val="D97706">
                <a:alpha val="45000"/>
              </a:srgbClr>
            </a:solidFill>
            <a:prstDash val="solid"/>
          </a:ln>
          <a:effectLst>
            <a:outerShdw blurRad="127000" dist="38100" dir="8100000" algn="bl" rotWithShape="0">
              <a:srgbClr val="94A3B8">
                <a:alpha val="18000"/>
              </a:srgbClr>
            </a:outerShdw>
          </a:effectLst>
        </p:spPr>
      </p:sp>
      <p:sp>
        <p:nvSpPr>
          <p:cNvPr id="11" name="Shape 9"/>
          <p:cNvSpPr/>
          <p:nvPr/>
        </p:nvSpPr>
        <p:spPr>
          <a:xfrm>
            <a:off x="320040" y="3017520"/>
            <a:ext cx="8503920" cy="475488"/>
          </a:xfrm>
          <a:prstGeom prst="rect">
            <a:avLst/>
          </a:prstGeom>
          <a:solidFill>
            <a:srgbClr val="D97706">
              <a:alpha val="18000"/>
            </a:srgbClr>
          </a:solidFill>
          <a:ln w="12700">
            <a:solidFill>
              <a:srgbClr val="D97706">
                <a:alpha val="18000"/>
              </a:srgbClr>
            </a:solidFill>
            <a:prstDash val="solid"/>
          </a:ln>
        </p:spPr>
      </p:sp>
      <p:sp>
        <p:nvSpPr>
          <p:cNvPr id="12" name="Text 10"/>
          <p:cNvSpPr/>
          <p:nvPr/>
        </p:nvSpPr>
        <p:spPr>
          <a:xfrm>
            <a:off x="475488" y="3044952"/>
            <a:ext cx="8229600" cy="438912"/>
          </a:xfrm>
          <a:prstGeom prst="rect">
            <a:avLst/>
          </a:prstGeom>
          <a:noFill/>
        </p:spPr>
        <p:txBody>
          <a:bodyPr wrap="square" lIns="0" tIns="0" rIns="0" bIns="0" rtlCol="0" anchor="ctr"/>
          <a:lstStyle/>
          <a:p>
            <a:pPr marL="0" indent="0">
              <a:buNone/>
            </a:pPr>
            <a:r>
              <a:rPr lang="en-US" sz="1400" b="1" dirty="0">
                <a:solidFill>
                  <a:srgbClr val="D97706"/>
                </a:solidFill>
              </a:rPr>
              <a:t>🔐  Data Privacy &amp; Security Risks</a:t>
            </a:r>
            <a:endParaRPr lang="en-US" sz="1400" dirty="0"/>
          </a:p>
        </p:txBody>
      </p:sp>
      <p:sp>
        <p:nvSpPr>
          <p:cNvPr id="13" name="Text 11"/>
          <p:cNvSpPr/>
          <p:nvPr/>
        </p:nvSpPr>
        <p:spPr>
          <a:xfrm>
            <a:off x="475488" y="3566160"/>
            <a:ext cx="8229600" cy="1097280"/>
          </a:xfrm>
          <a:prstGeom prst="rect">
            <a:avLst/>
          </a:prstGeom>
          <a:noFill/>
        </p:spPr>
        <p:txBody>
          <a:bodyPr wrap="square" rtlCol="0" anchor="ctr"/>
          <a:lstStyle/>
          <a:p>
            <a:pPr marL="0" indent="0">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AI models can accidentally reveal personal or confidential data through inference attacks.
</a:t>
            </a:r>
            <a:endParaRPr lang="en-US" sz="1200" dirty="0"/>
          </a:p>
          <a:p>
            <a:pPr marL="0" indent="0">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Mishandling of sensitive data during training or inference can violate regulations and trigger data leaks.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3500">
        <p:checker dir="vert"/>
      </p:transition>
    </mc:Choice>
    <mc:Fallback>
      <p:transition spd="slow">
        <p:checker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3A5F">
              <a:alpha val="14000"/>
            </a:srgbClr>
          </a:solidFill>
          <a:ln w="12700">
            <a:solidFill>
              <a:srgbClr val="1E3A5F">
                <a:alpha val="14000"/>
              </a:srgbClr>
            </a:solidFill>
            <a:prstDash val="solid"/>
          </a:ln>
        </p:spPr>
      </p:sp>
      <p:sp>
        <p:nvSpPr>
          <p:cNvPr id="3" name="Shape 1"/>
          <p:cNvSpPr/>
          <p:nvPr/>
        </p:nvSpPr>
        <p:spPr>
          <a:xfrm>
            <a:off x="274320" y="182880"/>
            <a:ext cx="658368" cy="658368"/>
          </a:xfrm>
          <a:prstGeom prst="ellipse">
            <a:avLst/>
          </a:prstGeom>
          <a:solidFill>
            <a:srgbClr val="1E3A5F">
              <a:alpha val="45000"/>
            </a:srgbClr>
          </a:solidFill>
          <a:ln w="12700">
            <a:solidFill>
              <a:srgbClr val="1E3A5F">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1E3A5F"/>
                </a:solidFill>
              </a:rPr>
              <a:t>06</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Risk Due to Lack of Transparency</a:t>
            </a:r>
            <a:endParaRPr lang="en-US" sz="3000" dirty="0"/>
          </a:p>
        </p:txBody>
      </p:sp>
      <p:sp>
        <p:nvSpPr>
          <p:cNvPr id="6" name="Shape 4"/>
          <p:cNvSpPr/>
          <p:nvPr/>
        </p:nvSpPr>
        <p:spPr>
          <a:xfrm>
            <a:off x="228600" y="1234440"/>
            <a:ext cx="1508760" cy="658368"/>
          </a:xfrm>
          <a:prstGeom prst="rect">
            <a:avLst/>
          </a:prstGeom>
          <a:solidFill>
            <a:srgbClr val="1E3A5F">
              <a:alpha val="18000"/>
            </a:srgbClr>
          </a:solidFill>
          <a:ln w="12700">
            <a:solidFill>
              <a:srgbClr val="1E3A5F">
                <a:alpha val="40000"/>
              </a:srgbClr>
            </a:solidFill>
            <a:prstDash val="solid"/>
          </a:ln>
          <a:effectLst>
            <a:outerShdw blurRad="127000" dist="38100" dir="8100000" algn="bl" rotWithShape="0">
              <a:srgbClr val="94A3B8">
                <a:alpha val="18000"/>
              </a:srgbClr>
            </a:outerShdw>
          </a:effectLst>
        </p:spPr>
      </p:sp>
      <p:sp>
        <p:nvSpPr>
          <p:cNvPr id="7" name="Text 5"/>
          <p:cNvSpPr/>
          <p:nvPr/>
        </p:nvSpPr>
        <p:spPr>
          <a:xfrm>
            <a:off x="228600" y="1261872"/>
            <a:ext cx="1508760" cy="603504"/>
          </a:xfrm>
          <a:prstGeom prst="rect">
            <a:avLst/>
          </a:prstGeom>
          <a:noFill/>
        </p:spPr>
        <p:txBody>
          <a:bodyPr wrap="square" lIns="0" tIns="0" rIns="0" bIns="0" rtlCol="0" anchor="ctr"/>
          <a:lstStyle/>
          <a:p>
            <a:pPr marL="0" indent="0" algn="ctr">
              <a:buNone/>
            </a:pPr>
            <a:r>
              <a:rPr lang="en-US" sz="1000" b="1" dirty="0">
                <a:solidFill>
                  <a:srgbClr val="1E3A5F"/>
                </a:solidFill>
                <a:latin typeface="Calibri" panose="020F0502020204030204" pitchFamily="34" charset="0"/>
                <a:ea typeface="Calibri" panose="020F0502020204030204" pitchFamily="34" charset="-122"/>
                <a:cs typeface="Calibri" panose="020F0502020204030204" pitchFamily="34" charset="-120"/>
              </a:rPr>
              <a:t>No Transparency</a:t>
            </a:r>
            <a:endParaRPr lang="en-US" sz="1000" dirty="0"/>
          </a:p>
        </p:txBody>
      </p:sp>
      <p:sp>
        <p:nvSpPr>
          <p:cNvPr id="8" name="Text 6"/>
          <p:cNvSpPr/>
          <p:nvPr/>
        </p:nvSpPr>
        <p:spPr>
          <a:xfrm>
            <a:off x="1737360" y="1325880"/>
            <a:ext cx="228600" cy="457200"/>
          </a:xfrm>
          <a:prstGeom prst="rect">
            <a:avLst/>
          </a:prstGeom>
          <a:noFill/>
        </p:spPr>
        <p:txBody>
          <a:bodyPr wrap="square" lIns="0" tIns="0" rIns="0" bIns="0" rtlCol="0" anchor="ctr"/>
          <a:lstStyle/>
          <a:p>
            <a:pPr marL="0" indent="0" algn="ctr">
              <a:buNone/>
            </a:pPr>
            <a:r>
              <a:rPr lang="en-US" sz="1600" dirty="0">
                <a:solidFill>
                  <a:srgbClr val="64748B"/>
                </a:solidFill>
              </a:rPr>
              <a:t>→</a:t>
            </a:r>
            <a:endParaRPr lang="en-US" sz="1600" dirty="0"/>
          </a:p>
        </p:txBody>
      </p:sp>
      <p:sp>
        <p:nvSpPr>
          <p:cNvPr id="9" name="Shape 7"/>
          <p:cNvSpPr/>
          <p:nvPr/>
        </p:nvSpPr>
        <p:spPr>
          <a:xfrm>
            <a:off x="1965960" y="1234440"/>
            <a:ext cx="1508760" cy="658368"/>
          </a:xfrm>
          <a:prstGeom prst="rect">
            <a:avLst/>
          </a:prstGeom>
          <a:solidFill>
            <a:srgbClr val="DC2626">
              <a:alpha val="18000"/>
            </a:srgbClr>
          </a:solidFill>
          <a:ln w="12700">
            <a:solidFill>
              <a:srgbClr val="DC2626">
                <a:alpha val="40000"/>
              </a:srgbClr>
            </a:solidFill>
            <a:prstDash val="solid"/>
          </a:ln>
          <a:effectLst>
            <a:outerShdw blurRad="127000" dist="38100" dir="8100000" algn="bl" rotWithShape="0">
              <a:srgbClr val="94A3B8">
                <a:alpha val="18000"/>
              </a:srgbClr>
            </a:outerShdw>
          </a:effectLst>
        </p:spPr>
      </p:sp>
      <p:sp>
        <p:nvSpPr>
          <p:cNvPr id="10" name="Text 8"/>
          <p:cNvSpPr/>
          <p:nvPr/>
        </p:nvSpPr>
        <p:spPr>
          <a:xfrm>
            <a:off x="1965960" y="1261872"/>
            <a:ext cx="1508760" cy="603504"/>
          </a:xfrm>
          <a:prstGeom prst="rect">
            <a:avLst/>
          </a:prstGeom>
          <a:noFill/>
        </p:spPr>
        <p:txBody>
          <a:bodyPr wrap="square" lIns="0" tIns="0" rIns="0" bIns="0" rtlCol="0" anchor="ctr"/>
          <a:lstStyle/>
          <a:p>
            <a:pPr marL="0" indent="0" algn="ctr">
              <a:buNone/>
            </a:pPr>
            <a:r>
              <a:rPr lang="en-US" sz="1000" b="1" dirty="0">
                <a:solidFill>
                  <a:srgbClr val="DC2626"/>
                </a:solidFill>
                <a:latin typeface="Calibri" panose="020F0502020204030204" pitchFamily="34" charset="0"/>
                <a:ea typeface="Calibri" panose="020F0502020204030204" pitchFamily="34" charset="-122"/>
                <a:cs typeface="Calibri" panose="020F0502020204030204" pitchFamily="34" charset="-120"/>
              </a:rPr>
              <a:t>No Accountability</a:t>
            </a:r>
            <a:endParaRPr lang="en-US" sz="1000" dirty="0"/>
          </a:p>
        </p:txBody>
      </p:sp>
      <p:sp>
        <p:nvSpPr>
          <p:cNvPr id="11" name="Text 9"/>
          <p:cNvSpPr/>
          <p:nvPr/>
        </p:nvSpPr>
        <p:spPr>
          <a:xfrm>
            <a:off x="3474720" y="1325880"/>
            <a:ext cx="228600" cy="457200"/>
          </a:xfrm>
          <a:prstGeom prst="rect">
            <a:avLst/>
          </a:prstGeom>
          <a:noFill/>
        </p:spPr>
        <p:txBody>
          <a:bodyPr wrap="square" lIns="0" tIns="0" rIns="0" bIns="0" rtlCol="0" anchor="ctr"/>
          <a:lstStyle/>
          <a:p>
            <a:pPr marL="0" indent="0" algn="ctr">
              <a:buNone/>
            </a:pPr>
            <a:r>
              <a:rPr lang="en-US" sz="1600" dirty="0">
                <a:solidFill>
                  <a:srgbClr val="64748B"/>
                </a:solidFill>
              </a:rPr>
              <a:t>→</a:t>
            </a:r>
            <a:endParaRPr lang="en-US" sz="1600" dirty="0"/>
          </a:p>
        </p:txBody>
      </p:sp>
      <p:sp>
        <p:nvSpPr>
          <p:cNvPr id="12" name="Shape 10"/>
          <p:cNvSpPr/>
          <p:nvPr/>
        </p:nvSpPr>
        <p:spPr>
          <a:xfrm>
            <a:off x="3703320" y="1234440"/>
            <a:ext cx="1508760" cy="658368"/>
          </a:xfrm>
          <a:prstGeom prst="rect">
            <a:avLst/>
          </a:prstGeom>
          <a:solidFill>
            <a:srgbClr val="D97706">
              <a:alpha val="18000"/>
            </a:srgbClr>
          </a:solidFill>
          <a:ln w="12700">
            <a:solidFill>
              <a:srgbClr val="D97706">
                <a:alpha val="40000"/>
              </a:srgbClr>
            </a:solidFill>
            <a:prstDash val="solid"/>
          </a:ln>
          <a:effectLst>
            <a:outerShdw blurRad="127000" dist="38100" dir="8100000" algn="bl" rotWithShape="0">
              <a:srgbClr val="94A3B8">
                <a:alpha val="18000"/>
              </a:srgbClr>
            </a:outerShdw>
          </a:effectLst>
        </p:spPr>
      </p:sp>
      <p:sp>
        <p:nvSpPr>
          <p:cNvPr id="13" name="Text 11"/>
          <p:cNvSpPr/>
          <p:nvPr/>
        </p:nvSpPr>
        <p:spPr>
          <a:xfrm>
            <a:off x="3703320" y="1261872"/>
            <a:ext cx="1508760" cy="603504"/>
          </a:xfrm>
          <a:prstGeom prst="rect">
            <a:avLst/>
          </a:prstGeom>
          <a:noFill/>
        </p:spPr>
        <p:txBody>
          <a:bodyPr wrap="square" lIns="0" tIns="0" rIns="0" bIns="0" rtlCol="0" anchor="ctr"/>
          <a:lstStyle/>
          <a:p>
            <a:pPr marL="0" indent="0" algn="ctr">
              <a:buNone/>
            </a:pPr>
            <a:r>
              <a:rPr lang="en-US" sz="1000" b="1" dirty="0">
                <a:solidFill>
                  <a:srgbClr val="D97706"/>
                </a:solidFill>
                <a:latin typeface="Calibri" panose="020F0502020204030204" pitchFamily="34" charset="0"/>
                <a:ea typeface="Calibri" panose="020F0502020204030204" pitchFamily="34" charset="-122"/>
                <a:cs typeface="Calibri" panose="020F0502020204030204" pitchFamily="34" charset="-120"/>
              </a:rPr>
              <a:t>Security Vulnerabilities</a:t>
            </a:r>
            <a:endParaRPr lang="en-US" sz="1000" dirty="0"/>
          </a:p>
        </p:txBody>
      </p:sp>
      <p:sp>
        <p:nvSpPr>
          <p:cNvPr id="14" name="Text 12"/>
          <p:cNvSpPr/>
          <p:nvPr/>
        </p:nvSpPr>
        <p:spPr>
          <a:xfrm>
            <a:off x="5212080" y="1325880"/>
            <a:ext cx="228600" cy="457200"/>
          </a:xfrm>
          <a:prstGeom prst="rect">
            <a:avLst/>
          </a:prstGeom>
          <a:noFill/>
        </p:spPr>
        <p:txBody>
          <a:bodyPr wrap="square" lIns="0" tIns="0" rIns="0" bIns="0" rtlCol="0" anchor="ctr"/>
          <a:lstStyle/>
          <a:p>
            <a:pPr marL="0" indent="0" algn="ctr">
              <a:buNone/>
            </a:pPr>
            <a:r>
              <a:rPr lang="en-US" sz="1600" dirty="0">
                <a:solidFill>
                  <a:srgbClr val="64748B"/>
                </a:solidFill>
              </a:rPr>
              <a:t>→</a:t>
            </a:r>
            <a:endParaRPr lang="en-US" sz="1600" dirty="0"/>
          </a:p>
        </p:txBody>
      </p:sp>
      <p:sp>
        <p:nvSpPr>
          <p:cNvPr id="15" name="Shape 13"/>
          <p:cNvSpPr/>
          <p:nvPr/>
        </p:nvSpPr>
        <p:spPr>
          <a:xfrm>
            <a:off x="5440680" y="1234440"/>
            <a:ext cx="1508760" cy="658368"/>
          </a:xfrm>
          <a:prstGeom prst="rect">
            <a:avLst/>
          </a:prstGeom>
          <a:solidFill>
            <a:srgbClr val="DC2626">
              <a:alpha val="18000"/>
            </a:srgbClr>
          </a:solidFill>
          <a:ln w="12700">
            <a:solidFill>
              <a:srgbClr val="DC2626">
                <a:alpha val="40000"/>
              </a:srgbClr>
            </a:solidFill>
            <a:prstDash val="solid"/>
          </a:ln>
          <a:effectLst>
            <a:outerShdw blurRad="127000" dist="38100" dir="8100000" algn="bl" rotWithShape="0">
              <a:srgbClr val="94A3B8">
                <a:alpha val="18000"/>
              </a:srgbClr>
            </a:outerShdw>
          </a:effectLst>
        </p:spPr>
      </p:sp>
      <p:sp>
        <p:nvSpPr>
          <p:cNvPr id="16" name="Text 14"/>
          <p:cNvSpPr/>
          <p:nvPr/>
        </p:nvSpPr>
        <p:spPr>
          <a:xfrm>
            <a:off x="5440680" y="1261872"/>
            <a:ext cx="1508760" cy="603504"/>
          </a:xfrm>
          <a:prstGeom prst="rect">
            <a:avLst/>
          </a:prstGeom>
          <a:noFill/>
        </p:spPr>
        <p:txBody>
          <a:bodyPr wrap="square" lIns="0" tIns="0" rIns="0" bIns="0" rtlCol="0" anchor="ctr"/>
          <a:lstStyle/>
          <a:p>
            <a:pPr marL="0" indent="0" algn="ctr">
              <a:buNone/>
            </a:pPr>
            <a:r>
              <a:rPr lang="en-US" sz="1000" b="1" dirty="0">
                <a:solidFill>
                  <a:srgbClr val="DC2626"/>
                </a:solidFill>
                <a:latin typeface="Calibri" panose="020F0502020204030204" pitchFamily="34" charset="0"/>
                <a:ea typeface="Calibri" panose="020F0502020204030204" pitchFamily="34" charset="-122"/>
                <a:cs typeface="Calibri" panose="020F0502020204030204" pitchFamily="34" charset="-120"/>
              </a:rPr>
              <a:t>Cyber Attacks</a:t>
            </a:r>
            <a:endParaRPr lang="en-US" sz="1000" dirty="0"/>
          </a:p>
        </p:txBody>
      </p:sp>
      <p:sp>
        <p:nvSpPr>
          <p:cNvPr id="17" name="Text 15"/>
          <p:cNvSpPr/>
          <p:nvPr/>
        </p:nvSpPr>
        <p:spPr>
          <a:xfrm>
            <a:off x="6949440" y="1325880"/>
            <a:ext cx="228600" cy="457200"/>
          </a:xfrm>
          <a:prstGeom prst="rect">
            <a:avLst/>
          </a:prstGeom>
          <a:noFill/>
        </p:spPr>
        <p:txBody>
          <a:bodyPr wrap="square" lIns="0" tIns="0" rIns="0" bIns="0" rtlCol="0" anchor="ctr"/>
          <a:lstStyle/>
          <a:p>
            <a:pPr marL="0" indent="0" algn="ctr">
              <a:buNone/>
            </a:pPr>
            <a:r>
              <a:rPr lang="en-US" sz="1600" dirty="0">
                <a:solidFill>
                  <a:srgbClr val="64748B"/>
                </a:solidFill>
              </a:rPr>
              <a:t>→</a:t>
            </a:r>
            <a:endParaRPr lang="en-US" sz="1600" dirty="0"/>
          </a:p>
        </p:txBody>
      </p:sp>
      <p:sp>
        <p:nvSpPr>
          <p:cNvPr id="18" name="Shape 16"/>
          <p:cNvSpPr/>
          <p:nvPr/>
        </p:nvSpPr>
        <p:spPr>
          <a:xfrm>
            <a:off x="7178040" y="1234440"/>
            <a:ext cx="1508760" cy="658368"/>
          </a:xfrm>
          <a:prstGeom prst="rect">
            <a:avLst/>
          </a:prstGeom>
          <a:solidFill>
            <a:srgbClr val="1E3A5F">
              <a:alpha val="18000"/>
            </a:srgbClr>
          </a:solidFill>
          <a:ln w="12700">
            <a:solidFill>
              <a:srgbClr val="1E3A5F">
                <a:alpha val="40000"/>
              </a:srgbClr>
            </a:solidFill>
            <a:prstDash val="solid"/>
          </a:ln>
          <a:effectLst>
            <a:outerShdw blurRad="127000" dist="38100" dir="8100000" algn="bl" rotWithShape="0">
              <a:srgbClr val="94A3B8">
                <a:alpha val="18000"/>
              </a:srgbClr>
            </a:outerShdw>
          </a:effectLst>
        </p:spPr>
      </p:sp>
      <p:sp>
        <p:nvSpPr>
          <p:cNvPr id="19" name="Text 17"/>
          <p:cNvSpPr/>
          <p:nvPr/>
        </p:nvSpPr>
        <p:spPr>
          <a:xfrm>
            <a:off x="7178040" y="1261872"/>
            <a:ext cx="1508760" cy="603504"/>
          </a:xfrm>
          <a:prstGeom prst="rect">
            <a:avLst/>
          </a:prstGeom>
          <a:noFill/>
        </p:spPr>
        <p:txBody>
          <a:bodyPr wrap="square" lIns="0" tIns="0" rIns="0" bIns="0" rtlCol="0" anchor="ctr"/>
          <a:lstStyle/>
          <a:p>
            <a:pPr marL="0" indent="0" algn="ctr">
              <a:buNone/>
            </a:pPr>
            <a:r>
              <a:rPr lang="en-US" sz="1000" b="1" dirty="0">
                <a:solidFill>
                  <a:srgbClr val="1E3A5F"/>
                </a:solidFill>
                <a:latin typeface="Calibri" panose="020F0502020204030204" pitchFamily="34" charset="0"/>
                <a:ea typeface="Calibri" panose="020F0502020204030204" pitchFamily="34" charset="-122"/>
                <a:cs typeface="Calibri" panose="020F0502020204030204" pitchFamily="34" charset="-120"/>
              </a:rPr>
              <a:t>Loss of Public Trust</a:t>
            </a:r>
            <a:endParaRPr lang="en-US" sz="1000" dirty="0"/>
          </a:p>
        </p:txBody>
      </p:sp>
      <p:sp>
        <p:nvSpPr>
          <p:cNvPr id="20" name="Shape 18"/>
          <p:cNvSpPr/>
          <p:nvPr/>
        </p:nvSpPr>
        <p:spPr>
          <a:xfrm>
            <a:off x="320040" y="2103120"/>
            <a:ext cx="8503920" cy="1371600"/>
          </a:xfrm>
          <a:prstGeom prst="rect">
            <a:avLst/>
          </a:prstGeom>
          <a:solidFill>
            <a:srgbClr val="FFFFFF"/>
          </a:solidFill>
          <a:ln w="12700">
            <a:solidFill>
              <a:srgbClr val="1E3A5F">
                <a:alpha val="40000"/>
              </a:srgbClr>
            </a:solidFill>
            <a:prstDash val="solid"/>
          </a:ln>
          <a:effectLst>
            <a:outerShdw blurRad="127000" dist="38100" dir="8100000" algn="bl" rotWithShape="0">
              <a:srgbClr val="94A3B8">
                <a:alpha val="18000"/>
              </a:srgbClr>
            </a:outerShdw>
          </a:effectLst>
        </p:spPr>
      </p:sp>
      <p:sp>
        <p:nvSpPr>
          <p:cNvPr id="21" name="Text 19"/>
          <p:cNvSpPr/>
          <p:nvPr/>
        </p:nvSpPr>
        <p:spPr>
          <a:xfrm>
            <a:off x="475488" y="2176272"/>
            <a:ext cx="8229600" cy="347472"/>
          </a:xfrm>
          <a:prstGeom prst="rect">
            <a:avLst/>
          </a:prstGeom>
          <a:noFill/>
        </p:spPr>
        <p:txBody>
          <a:bodyPr wrap="square" rtlCol="0" anchor="ctr"/>
          <a:lstStyle/>
          <a:p>
            <a:pPr marL="0" indent="0">
              <a:buNone/>
            </a:pPr>
            <a:r>
              <a:rPr lang="en-US" sz="1300" b="1" dirty="0">
                <a:solidFill>
                  <a:srgbClr val="1E3A5F"/>
                </a:solidFill>
                <a:latin typeface="Calibri" panose="020F0502020204030204" pitchFamily="34" charset="0"/>
                <a:ea typeface="Calibri" panose="020F0502020204030204" pitchFamily="34" charset="-122"/>
                <a:cs typeface="Calibri" panose="020F0502020204030204" pitchFamily="34" charset="-120"/>
              </a:rPr>
              <a:t>What happens when transparency fails:</a:t>
            </a:r>
            <a:endParaRPr lang="en-US" sz="1300" dirty="0"/>
          </a:p>
        </p:txBody>
      </p:sp>
      <p:sp>
        <p:nvSpPr>
          <p:cNvPr id="22" name="Text 20"/>
          <p:cNvSpPr/>
          <p:nvPr/>
        </p:nvSpPr>
        <p:spPr>
          <a:xfrm>
            <a:off x="475488" y="2542032"/>
            <a:ext cx="8229600" cy="82296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The AI system becomes unpredictable and unsafe no longer in control of its creator but in the hands of those who have potentially compromised it. The outcomes become unknown and potentially catastrophic.</a:t>
            </a:r>
            <a:endParaRPr lang="en-US" sz="1200" dirty="0"/>
          </a:p>
        </p:txBody>
      </p:sp>
      <p:sp>
        <p:nvSpPr>
          <p:cNvPr id="23" name="Shape 21"/>
          <p:cNvSpPr/>
          <p:nvPr/>
        </p:nvSpPr>
        <p:spPr>
          <a:xfrm>
            <a:off x="320040" y="3657600"/>
            <a:ext cx="8503920" cy="685800"/>
          </a:xfrm>
          <a:prstGeom prst="rect">
            <a:avLst/>
          </a:prstGeom>
          <a:solidFill>
            <a:srgbClr val="1E3A5F">
              <a:alpha val="12000"/>
            </a:srgbClr>
          </a:solidFill>
          <a:ln w="12700">
            <a:solidFill>
              <a:srgbClr val="1E3A5F">
                <a:alpha val="25000"/>
              </a:srgbClr>
            </a:solidFill>
            <a:prstDash val="solid"/>
          </a:ln>
        </p:spPr>
      </p:sp>
      <p:sp>
        <p:nvSpPr>
          <p:cNvPr id="24" name="Text 22"/>
          <p:cNvSpPr/>
          <p:nvPr/>
        </p:nvSpPr>
        <p:spPr>
          <a:xfrm>
            <a:off x="475488" y="3703320"/>
            <a:ext cx="8321040" cy="594360"/>
          </a:xfrm>
          <a:prstGeom prst="rect">
            <a:avLst/>
          </a:prstGeom>
          <a:noFill/>
        </p:spPr>
        <p:txBody>
          <a:bodyPr wrap="square" rtlCol="0" anchor="ctr"/>
          <a:lstStyle/>
          <a:p>
            <a:pPr marL="0" indent="0">
              <a:buNone/>
            </a:pPr>
            <a:r>
              <a:rPr lang="en-US" sz="1200" b="1" dirty="0">
                <a:solidFill>
                  <a:srgbClr val="1E3A5F"/>
                </a:solidFill>
                <a:latin typeface="Calibri" panose="020F0502020204030204" pitchFamily="34" charset="0"/>
                <a:ea typeface="Calibri" panose="020F0502020204030204" pitchFamily="34" charset="-122"/>
                <a:cs typeface="Calibri" panose="020F0502020204030204" pitchFamily="34" charset="-120"/>
              </a:rPr>
              <a:t>✅  Conclusion: AI systems MUST maintain clear transparency to prevent minor and major damage to individuals and organizations.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2000">
        <p:split orient="vert" dir="in"/>
      </p:transition>
    </mc:Choice>
    <mc:Fallback>
      <p:transition spd="slow">
        <p:split orient="vert" dir="in"/>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0B981">
              <a:alpha val="14000"/>
            </a:srgbClr>
          </a:solidFill>
          <a:ln w="12700">
            <a:solidFill>
              <a:srgbClr val="10B981">
                <a:alpha val="14000"/>
              </a:srgbClr>
            </a:solidFill>
            <a:prstDash val="solid"/>
          </a:ln>
        </p:spPr>
      </p:sp>
      <p:sp>
        <p:nvSpPr>
          <p:cNvPr id="3" name="Shape 1"/>
          <p:cNvSpPr/>
          <p:nvPr/>
        </p:nvSpPr>
        <p:spPr>
          <a:xfrm>
            <a:off x="274320" y="182880"/>
            <a:ext cx="658368" cy="658368"/>
          </a:xfrm>
          <a:prstGeom prst="ellipse">
            <a:avLst/>
          </a:prstGeom>
          <a:solidFill>
            <a:srgbClr val="10B981">
              <a:alpha val="45000"/>
            </a:srgbClr>
          </a:solidFill>
          <a:ln w="12700">
            <a:solidFill>
              <a:srgbClr val="10B981">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10B981"/>
                </a:solidFill>
              </a:rPr>
              <a:t>07</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Purpose of a Risk Assessment System</a:t>
            </a:r>
            <a:endParaRPr lang="en-US" sz="3000" dirty="0"/>
          </a:p>
        </p:txBody>
      </p:sp>
      <p:sp>
        <p:nvSpPr>
          <p:cNvPr id="6" name="Shape 4"/>
          <p:cNvSpPr/>
          <p:nvPr/>
        </p:nvSpPr>
        <p:spPr>
          <a:xfrm>
            <a:off x="320040" y="1207008"/>
            <a:ext cx="4114800" cy="1645920"/>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484632" y="1408176"/>
            <a:ext cx="548640" cy="548640"/>
          </a:xfrm>
          <a:prstGeom prst="ellipse">
            <a:avLst/>
          </a:prstGeom>
          <a:solidFill>
            <a:srgbClr val="10B981">
              <a:alpha val="22000"/>
            </a:srgbClr>
          </a:solidFill>
          <a:ln w="12700">
            <a:solidFill>
              <a:srgbClr val="10B981">
                <a:alpha val="22000"/>
              </a:srgbClr>
            </a:solidFill>
            <a:prstDash val="solid"/>
          </a:ln>
        </p:spPr>
      </p:sp>
      <p:sp>
        <p:nvSpPr>
          <p:cNvPr id="8" name="Text 6"/>
          <p:cNvSpPr/>
          <p:nvPr/>
        </p:nvSpPr>
        <p:spPr>
          <a:xfrm>
            <a:off x="484632" y="1408176"/>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1161288" y="1298448"/>
            <a:ext cx="3145536" cy="475488"/>
          </a:xfrm>
          <a:prstGeom prst="rect">
            <a:avLst/>
          </a:prstGeom>
          <a:noFill/>
        </p:spPr>
        <p:txBody>
          <a:bodyPr wrap="square" lIns="0" tIns="0" rIns="0" bIns="0" rtlCol="0" anchor="ct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Identify Hidden Vulnerabilities</a:t>
            </a:r>
            <a:endParaRPr lang="en-US" sz="1300" dirty="0"/>
          </a:p>
        </p:txBody>
      </p:sp>
      <p:sp>
        <p:nvSpPr>
          <p:cNvPr id="10" name="Text 8"/>
          <p:cNvSpPr/>
          <p:nvPr/>
        </p:nvSpPr>
        <p:spPr>
          <a:xfrm>
            <a:off x="484632" y="2011680"/>
            <a:ext cx="3840480" cy="749808"/>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Risks are not always visible they often lie deep within AI system code and model logic.</a:t>
            </a:r>
            <a:endParaRPr lang="en-US" sz="1150" dirty="0"/>
          </a:p>
        </p:txBody>
      </p:sp>
      <p:sp>
        <p:nvSpPr>
          <p:cNvPr id="11" name="Shape 9"/>
          <p:cNvSpPr/>
          <p:nvPr/>
        </p:nvSpPr>
        <p:spPr>
          <a:xfrm>
            <a:off x="320040" y="3035808"/>
            <a:ext cx="4114800" cy="164592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2" name="Shape 10"/>
          <p:cNvSpPr/>
          <p:nvPr/>
        </p:nvSpPr>
        <p:spPr>
          <a:xfrm>
            <a:off x="484632" y="3236976"/>
            <a:ext cx="548640" cy="548640"/>
          </a:xfrm>
          <a:prstGeom prst="ellipse">
            <a:avLst/>
          </a:prstGeom>
          <a:solidFill>
            <a:srgbClr val="0891B2">
              <a:alpha val="22000"/>
            </a:srgbClr>
          </a:solidFill>
          <a:ln w="12700">
            <a:solidFill>
              <a:srgbClr val="0891B2">
                <a:alpha val="22000"/>
              </a:srgbClr>
            </a:solidFill>
            <a:prstDash val="solid"/>
          </a:ln>
        </p:spPr>
      </p:sp>
      <p:sp>
        <p:nvSpPr>
          <p:cNvPr id="13" name="Text 11"/>
          <p:cNvSpPr/>
          <p:nvPr/>
        </p:nvSpPr>
        <p:spPr>
          <a:xfrm>
            <a:off x="484632" y="3236976"/>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1161288" y="3127248"/>
            <a:ext cx="3145536" cy="475488"/>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Assess Severity</a:t>
            </a:r>
            <a:endParaRPr lang="en-US" sz="1300" dirty="0"/>
          </a:p>
        </p:txBody>
      </p:sp>
      <p:sp>
        <p:nvSpPr>
          <p:cNvPr id="15" name="Text 13"/>
          <p:cNvSpPr/>
          <p:nvPr/>
        </p:nvSpPr>
        <p:spPr>
          <a:xfrm>
            <a:off x="484632" y="3840480"/>
            <a:ext cx="3840480" cy="749808"/>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Determine how serious each risk is and prioritize accordingly to allocate resources efficiently.</a:t>
            </a:r>
            <a:endParaRPr lang="en-US" sz="1150" dirty="0"/>
          </a:p>
        </p:txBody>
      </p:sp>
      <p:sp>
        <p:nvSpPr>
          <p:cNvPr id="16" name="Shape 14"/>
          <p:cNvSpPr/>
          <p:nvPr/>
        </p:nvSpPr>
        <p:spPr>
          <a:xfrm>
            <a:off x="4709160" y="1207008"/>
            <a:ext cx="4114800" cy="164592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17" name="Shape 15"/>
          <p:cNvSpPr/>
          <p:nvPr/>
        </p:nvSpPr>
        <p:spPr>
          <a:xfrm>
            <a:off x="4873752" y="1408176"/>
            <a:ext cx="548640" cy="548640"/>
          </a:xfrm>
          <a:prstGeom prst="ellipse">
            <a:avLst/>
          </a:prstGeom>
          <a:solidFill>
            <a:srgbClr val="2563EB">
              <a:alpha val="22000"/>
            </a:srgbClr>
          </a:solidFill>
          <a:ln w="12700">
            <a:solidFill>
              <a:srgbClr val="2563EB">
                <a:alpha val="22000"/>
              </a:srgbClr>
            </a:solidFill>
            <a:prstDash val="solid"/>
          </a:ln>
        </p:spPr>
      </p:sp>
      <p:sp>
        <p:nvSpPr>
          <p:cNvPr id="18" name="Text 16"/>
          <p:cNvSpPr/>
          <p:nvPr/>
        </p:nvSpPr>
        <p:spPr>
          <a:xfrm>
            <a:off x="4873752" y="1408176"/>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5550408" y="1298448"/>
            <a:ext cx="3145536" cy="475488"/>
          </a:xfrm>
          <a:prstGeom prst="rect">
            <a:avLst/>
          </a:prstGeom>
          <a:noFill/>
        </p:spPr>
        <p:txBody>
          <a:bodyPr wrap="square" lIns="0" tIns="0" rIns="0" bIns="0" rtlCol="0" anchor="ctr"/>
          <a:lstStyle/>
          <a:p>
            <a:pPr marL="0" indent="0">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Enable Mitigation</a:t>
            </a:r>
            <a:endParaRPr lang="en-US" sz="1300" dirty="0"/>
          </a:p>
        </p:txBody>
      </p:sp>
      <p:sp>
        <p:nvSpPr>
          <p:cNvPr id="20" name="Text 18"/>
          <p:cNvSpPr/>
          <p:nvPr/>
        </p:nvSpPr>
        <p:spPr>
          <a:xfrm>
            <a:off x="4873752" y="2011680"/>
            <a:ext cx="3840480" cy="749808"/>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Using corrective action guides by trusted frameworks like NIST AI RMF and ISO 42001.</a:t>
            </a:r>
            <a:endParaRPr lang="en-US" sz="1150" dirty="0"/>
          </a:p>
        </p:txBody>
      </p:sp>
      <p:sp>
        <p:nvSpPr>
          <p:cNvPr id="21" name="Shape 19"/>
          <p:cNvSpPr/>
          <p:nvPr/>
        </p:nvSpPr>
        <p:spPr>
          <a:xfrm>
            <a:off x="4709160" y="3035808"/>
            <a:ext cx="4114800" cy="1645920"/>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22" name="Shape 20"/>
          <p:cNvSpPr/>
          <p:nvPr/>
        </p:nvSpPr>
        <p:spPr>
          <a:xfrm>
            <a:off x="4873752" y="3236976"/>
            <a:ext cx="548640" cy="548640"/>
          </a:xfrm>
          <a:prstGeom prst="ellipse">
            <a:avLst/>
          </a:prstGeom>
          <a:solidFill>
            <a:srgbClr val="7C3AED">
              <a:alpha val="22000"/>
            </a:srgbClr>
          </a:solidFill>
          <a:ln w="12700">
            <a:solidFill>
              <a:srgbClr val="7C3AED">
                <a:alpha val="22000"/>
              </a:srgbClr>
            </a:solidFill>
            <a:prstDash val="solid"/>
          </a:ln>
        </p:spPr>
      </p:sp>
      <p:sp>
        <p:nvSpPr>
          <p:cNvPr id="23" name="Text 21"/>
          <p:cNvSpPr/>
          <p:nvPr/>
        </p:nvSpPr>
        <p:spPr>
          <a:xfrm>
            <a:off x="4873752" y="3236976"/>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5550408" y="3127248"/>
            <a:ext cx="3145536" cy="475488"/>
          </a:xfrm>
          <a:prstGeom prst="rect">
            <a:avLst/>
          </a:prstGeom>
          <a:noFill/>
        </p:spPr>
        <p:txBody>
          <a:bodyPr wrap="square" lIns="0" tIns="0" rIns="0" bIns="0" rtlCol="0" anchor="ctr"/>
          <a:lstStyle/>
          <a:p>
            <a:pPr marL="0" indent="0">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Best Time: During Development</a:t>
            </a:r>
            <a:endParaRPr lang="en-US" sz="1300" dirty="0"/>
          </a:p>
        </p:txBody>
      </p:sp>
      <p:sp>
        <p:nvSpPr>
          <p:cNvPr id="25" name="Text 23"/>
          <p:cNvSpPr/>
          <p:nvPr/>
        </p:nvSpPr>
        <p:spPr>
          <a:xfrm>
            <a:off x="4873752" y="3840480"/>
            <a:ext cx="3840480" cy="749808"/>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Perform risk assessment during and after development but before deployment, changes are easiest to make at that time.</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slow" p14:dur="1899">
        <p:blinds/>
      </p:transition>
    </mc:Choice>
    <mc:Fallback>
      <p:transition spd="slow">
        <p:blind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891B2">
              <a:alpha val="14000"/>
            </a:srgbClr>
          </a:solidFill>
          <a:ln w="12700">
            <a:solidFill>
              <a:srgbClr val="0891B2">
                <a:alpha val="14000"/>
              </a:srgbClr>
            </a:solidFill>
            <a:prstDash val="solid"/>
          </a:ln>
        </p:spPr>
      </p:sp>
      <p:sp>
        <p:nvSpPr>
          <p:cNvPr id="3" name="Shape 1"/>
          <p:cNvSpPr/>
          <p:nvPr/>
        </p:nvSpPr>
        <p:spPr>
          <a:xfrm>
            <a:off x="274320" y="182880"/>
            <a:ext cx="658368" cy="658368"/>
          </a:xfrm>
          <a:prstGeom prst="ellipse">
            <a:avLst/>
          </a:prstGeom>
          <a:solidFill>
            <a:srgbClr val="0891B2">
              <a:alpha val="45000"/>
            </a:srgbClr>
          </a:solidFill>
          <a:ln w="12700">
            <a:solidFill>
              <a:srgbClr val="0891B2">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0891B2"/>
                </a:solidFill>
              </a:rPr>
              <a:t>08</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Mitigation Strategies</a:t>
            </a:r>
            <a:endParaRPr lang="en-US" sz="3000" dirty="0"/>
          </a:p>
        </p:txBody>
      </p:sp>
      <p:sp>
        <p:nvSpPr>
          <p:cNvPr id="6" name="Shape 4"/>
          <p:cNvSpPr/>
          <p:nvPr/>
        </p:nvSpPr>
        <p:spPr>
          <a:xfrm>
            <a:off x="320040" y="1207008"/>
            <a:ext cx="2743200" cy="1572768"/>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207008"/>
            <a:ext cx="2743200" cy="438912"/>
          </a:xfrm>
          <a:prstGeom prst="rect">
            <a:avLst/>
          </a:prstGeom>
          <a:solidFill>
            <a:srgbClr val="0891B2">
              <a:alpha val="18000"/>
            </a:srgbClr>
          </a:solidFill>
          <a:ln w="12700">
            <a:solidFill>
              <a:srgbClr val="0891B2">
                <a:alpha val="18000"/>
              </a:srgbClr>
            </a:solidFill>
            <a:prstDash val="solid"/>
          </a:ln>
        </p:spPr>
      </p:sp>
      <p:sp>
        <p:nvSpPr>
          <p:cNvPr id="8" name="Text 6"/>
          <p:cNvSpPr/>
          <p:nvPr/>
        </p:nvSpPr>
        <p:spPr>
          <a:xfrm>
            <a:off x="429768" y="1207008"/>
            <a:ext cx="2578608" cy="420624"/>
          </a:xfrm>
          <a:prstGeom prst="rect">
            <a:avLst/>
          </a:prstGeom>
          <a:noFill/>
        </p:spPr>
        <p:txBody>
          <a:bodyPr wrap="square" lIns="0" tIns="0" rIns="0" bIns="0" rtlCol="0" anchor="ctr"/>
          <a:lstStyle/>
          <a:p>
            <a:pPr marL="0" indent="0">
              <a:buNone/>
            </a:pPr>
            <a:r>
              <a:rPr lang="en-US" sz="1200" b="1" dirty="0">
                <a:solidFill>
                  <a:srgbClr val="0891B2"/>
                </a:solidFill>
              </a:rPr>
              <a:t>📜  Clear Policies &amp; Roles</a:t>
            </a:r>
            <a:endParaRPr lang="en-US" sz="1200" dirty="0"/>
          </a:p>
        </p:txBody>
      </p:sp>
      <p:sp>
        <p:nvSpPr>
          <p:cNvPr id="9" name="Text 7"/>
          <p:cNvSpPr/>
          <p:nvPr/>
        </p:nvSpPr>
        <p:spPr>
          <a:xfrm>
            <a:off x="429768" y="170992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Define rules, responsibilities, and accountability structures across the organization.</a:t>
            </a:r>
            <a:endParaRPr lang="en-US" sz="1100" dirty="0"/>
          </a:p>
        </p:txBody>
      </p:sp>
      <p:sp>
        <p:nvSpPr>
          <p:cNvPr id="10" name="Shape 8"/>
          <p:cNvSpPr/>
          <p:nvPr/>
        </p:nvSpPr>
        <p:spPr>
          <a:xfrm>
            <a:off x="3200400" y="1207008"/>
            <a:ext cx="2743200" cy="1572768"/>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11" name="Shape 9"/>
          <p:cNvSpPr/>
          <p:nvPr/>
        </p:nvSpPr>
        <p:spPr>
          <a:xfrm>
            <a:off x="3200400" y="1207008"/>
            <a:ext cx="2743200" cy="438912"/>
          </a:xfrm>
          <a:prstGeom prst="rect">
            <a:avLst/>
          </a:prstGeom>
          <a:solidFill>
            <a:srgbClr val="2563EB">
              <a:alpha val="18000"/>
            </a:srgbClr>
          </a:solidFill>
          <a:ln w="12700">
            <a:solidFill>
              <a:srgbClr val="2563EB">
                <a:alpha val="18000"/>
              </a:srgbClr>
            </a:solidFill>
            <a:prstDash val="solid"/>
          </a:ln>
        </p:spPr>
      </p:sp>
      <p:sp>
        <p:nvSpPr>
          <p:cNvPr id="12" name="Text 10"/>
          <p:cNvSpPr/>
          <p:nvPr/>
        </p:nvSpPr>
        <p:spPr>
          <a:xfrm>
            <a:off x="3310128" y="1207008"/>
            <a:ext cx="2578608" cy="420624"/>
          </a:xfrm>
          <a:prstGeom prst="rect">
            <a:avLst/>
          </a:prstGeom>
          <a:noFill/>
        </p:spPr>
        <p:txBody>
          <a:bodyPr wrap="square" lIns="0" tIns="0" rIns="0" bIns="0" rtlCol="0" anchor="ctr"/>
          <a:lstStyle/>
          <a:p>
            <a:pPr marL="0" indent="0">
              <a:buNone/>
            </a:pPr>
            <a:r>
              <a:rPr lang="en-US" sz="1200" b="1" dirty="0">
                <a:solidFill>
                  <a:srgbClr val="2563EB"/>
                </a:solidFill>
              </a:rPr>
              <a:t>🔒  Encryption &amp; Access Control</a:t>
            </a:r>
            <a:endParaRPr lang="en-US" sz="1200" dirty="0"/>
          </a:p>
        </p:txBody>
      </p:sp>
      <p:sp>
        <p:nvSpPr>
          <p:cNvPr id="13" name="Text 11"/>
          <p:cNvSpPr/>
          <p:nvPr/>
        </p:nvSpPr>
        <p:spPr>
          <a:xfrm>
            <a:off x="3310128" y="170992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Implement encryption and least-privilege access control to protect sensitive systems and data.</a:t>
            </a:r>
            <a:endParaRPr lang="en-US" sz="1100" dirty="0"/>
          </a:p>
        </p:txBody>
      </p:sp>
      <p:sp>
        <p:nvSpPr>
          <p:cNvPr id="14" name="Shape 12"/>
          <p:cNvSpPr/>
          <p:nvPr/>
        </p:nvSpPr>
        <p:spPr>
          <a:xfrm>
            <a:off x="6080760" y="1207008"/>
            <a:ext cx="2743200" cy="1572768"/>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15" name="Shape 13"/>
          <p:cNvSpPr/>
          <p:nvPr/>
        </p:nvSpPr>
        <p:spPr>
          <a:xfrm>
            <a:off x="6080760" y="1207008"/>
            <a:ext cx="2743200" cy="438912"/>
          </a:xfrm>
          <a:prstGeom prst="rect">
            <a:avLst/>
          </a:prstGeom>
          <a:solidFill>
            <a:srgbClr val="7C3AED">
              <a:alpha val="18000"/>
            </a:srgbClr>
          </a:solidFill>
          <a:ln w="12700">
            <a:solidFill>
              <a:srgbClr val="7C3AED">
                <a:alpha val="18000"/>
              </a:srgbClr>
            </a:solidFill>
            <a:prstDash val="solid"/>
          </a:ln>
        </p:spPr>
      </p:sp>
      <p:sp>
        <p:nvSpPr>
          <p:cNvPr id="16" name="Text 14"/>
          <p:cNvSpPr/>
          <p:nvPr/>
        </p:nvSpPr>
        <p:spPr>
          <a:xfrm>
            <a:off x="6190488" y="1207008"/>
            <a:ext cx="2578608" cy="420624"/>
          </a:xfrm>
          <a:prstGeom prst="rect">
            <a:avLst/>
          </a:prstGeom>
          <a:noFill/>
        </p:spPr>
        <p:txBody>
          <a:bodyPr wrap="square" lIns="0" tIns="0" rIns="0" bIns="0" rtlCol="0" anchor="ctr"/>
          <a:lstStyle/>
          <a:p>
            <a:pPr marL="0" indent="0">
              <a:buNone/>
            </a:pPr>
            <a:r>
              <a:rPr lang="en-US" sz="1200" b="1" dirty="0">
                <a:solidFill>
                  <a:srgbClr val="7C3AED"/>
                </a:solidFill>
              </a:rPr>
              <a:t>👁  Human Oversight</a:t>
            </a:r>
            <a:endParaRPr lang="en-US" sz="1200" dirty="0"/>
          </a:p>
        </p:txBody>
      </p:sp>
      <p:sp>
        <p:nvSpPr>
          <p:cNvPr id="17" name="Text 15"/>
          <p:cNvSpPr/>
          <p:nvPr/>
        </p:nvSpPr>
        <p:spPr>
          <a:xfrm>
            <a:off x="6190488" y="170992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Maintain human-in-the-loop oversight for high-stakes AI decisions and automated processes.</a:t>
            </a:r>
            <a:endParaRPr lang="en-US" sz="1100" dirty="0"/>
          </a:p>
        </p:txBody>
      </p:sp>
      <p:sp>
        <p:nvSpPr>
          <p:cNvPr id="18" name="Shape 16"/>
          <p:cNvSpPr/>
          <p:nvPr/>
        </p:nvSpPr>
        <p:spPr>
          <a:xfrm>
            <a:off x="320040" y="2944368"/>
            <a:ext cx="2743200" cy="1572768"/>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19" name="Shape 17"/>
          <p:cNvSpPr/>
          <p:nvPr/>
        </p:nvSpPr>
        <p:spPr>
          <a:xfrm>
            <a:off x="320040" y="2944368"/>
            <a:ext cx="2743200" cy="438912"/>
          </a:xfrm>
          <a:prstGeom prst="rect">
            <a:avLst/>
          </a:prstGeom>
          <a:solidFill>
            <a:srgbClr val="10B981">
              <a:alpha val="18000"/>
            </a:srgbClr>
          </a:solidFill>
          <a:ln w="12700">
            <a:solidFill>
              <a:srgbClr val="10B981">
                <a:alpha val="18000"/>
              </a:srgbClr>
            </a:solidFill>
            <a:prstDash val="solid"/>
          </a:ln>
        </p:spPr>
      </p:sp>
      <p:sp>
        <p:nvSpPr>
          <p:cNvPr id="20" name="Text 18"/>
          <p:cNvSpPr/>
          <p:nvPr/>
        </p:nvSpPr>
        <p:spPr>
          <a:xfrm>
            <a:off x="429768" y="2944368"/>
            <a:ext cx="2578608" cy="420624"/>
          </a:xfrm>
          <a:prstGeom prst="rect">
            <a:avLst/>
          </a:prstGeom>
          <a:noFill/>
        </p:spPr>
        <p:txBody>
          <a:bodyPr wrap="square" lIns="0" tIns="0" rIns="0" bIns="0" rtlCol="0" anchor="ctr"/>
          <a:lstStyle/>
          <a:p>
            <a:pPr marL="0" indent="0">
              <a:buNone/>
            </a:pPr>
            <a:r>
              <a:rPr lang="en-US" sz="1200" b="1" dirty="0">
                <a:solidFill>
                  <a:srgbClr val="10B981"/>
                </a:solidFill>
              </a:rPr>
              <a:t>📡  Continuous Monitoring</a:t>
            </a:r>
            <a:endParaRPr lang="en-US" sz="1200" dirty="0"/>
          </a:p>
        </p:txBody>
      </p:sp>
      <p:sp>
        <p:nvSpPr>
          <p:cNvPr id="21" name="Text 19"/>
          <p:cNvSpPr/>
          <p:nvPr/>
        </p:nvSpPr>
        <p:spPr>
          <a:xfrm>
            <a:off x="429768" y="344728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Real-time monitoring detects anomalies, unauthorized access, and prompt injection attempts.</a:t>
            </a:r>
            <a:endParaRPr lang="en-US" sz="1100" dirty="0"/>
          </a:p>
        </p:txBody>
      </p:sp>
      <p:sp>
        <p:nvSpPr>
          <p:cNvPr id="22" name="Shape 20"/>
          <p:cNvSpPr/>
          <p:nvPr/>
        </p:nvSpPr>
        <p:spPr>
          <a:xfrm>
            <a:off x="3200400" y="2944368"/>
            <a:ext cx="2743200" cy="1572768"/>
          </a:xfrm>
          <a:prstGeom prst="rect">
            <a:avLst/>
          </a:prstGeom>
          <a:solidFill>
            <a:srgbClr val="FFFFFF"/>
          </a:solidFill>
          <a:ln w="12700">
            <a:solidFill>
              <a:srgbClr val="D97706">
                <a:alpha val="45000"/>
              </a:srgbClr>
            </a:solidFill>
            <a:prstDash val="solid"/>
          </a:ln>
          <a:effectLst>
            <a:outerShdw blurRad="127000" dist="38100" dir="8100000" algn="bl" rotWithShape="0">
              <a:srgbClr val="94A3B8">
                <a:alpha val="18000"/>
              </a:srgbClr>
            </a:outerShdw>
          </a:effectLst>
        </p:spPr>
      </p:sp>
      <p:sp>
        <p:nvSpPr>
          <p:cNvPr id="23" name="Shape 21"/>
          <p:cNvSpPr/>
          <p:nvPr/>
        </p:nvSpPr>
        <p:spPr>
          <a:xfrm>
            <a:off x="3200400" y="2944368"/>
            <a:ext cx="2743200" cy="438912"/>
          </a:xfrm>
          <a:prstGeom prst="rect">
            <a:avLst/>
          </a:prstGeom>
          <a:solidFill>
            <a:srgbClr val="D97706">
              <a:alpha val="18000"/>
            </a:srgbClr>
          </a:solidFill>
          <a:ln w="12700">
            <a:solidFill>
              <a:srgbClr val="D97706">
                <a:alpha val="18000"/>
              </a:srgbClr>
            </a:solidFill>
            <a:prstDash val="solid"/>
          </a:ln>
        </p:spPr>
      </p:sp>
      <p:sp>
        <p:nvSpPr>
          <p:cNvPr id="24" name="Text 22"/>
          <p:cNvSpPr/>
          <p:nvPr/>
        </p:nvSpPr>
        <p:spPr>
          <a:xfrm>
            <a:off x="3310128" y="2944368"/>
            <a:ext cx="2578608" cy="420624"/>
          </a:xfrm>
          <a:prstGeom prst="rect">
            <a:avLst/>
          </a:prstGeom>
          <a:noFill/>
        </p:spPr>
        <p:txBody>
          <a:bodyPr wrap="square" lIns="0" tIns="0" rIns="0" bIns="0" rtlCol="0" anchor="ctr"/>
          <a:lstStyle/>
          <a:p>
            <a:pPr marL="0" indent="0">
              <a:buNone/>
            </a:pPr>
            <a:r>
              <a:rPr lang="en-US" sz="1200" b="1" dirty="0">
                <a:solidFill>
                  <a:srgbClr val="D97706"/>
                </a:solidFill>
              </a:rPr>
              <a:t>📋  Framework Alignment</a:t>
            </a:r>
            <a:endParaRPr lang="en-US" sz="1200" dirty="0"/>
          </a:p>
        </p:txBody>
      </p:sp>
      <p:sp>
        <p:nvSpPr>
          <p:cNvPr id="25" name="Text 23"/>
          <p:cNvSpPr/>
          <p:nvPr/>
        </p:nvSpPr>
        <p:spPr>
          <a:xfrm>
            <a:off x="3310128" y="344728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Align with NIST AI RMF or ISO 42001 for transparency, fairness, and incident response readiness.</a:t>
            </a:r>
            <a:endParaRPr lang="en-US" sz="1100" dirty="0"/>
          </a:p>
        </p:txBody>
      </p:sp>
      <p:sp>
        <p:nvSpPr>
          <p:cNvPr id="26" name="Shape 24"/>
          <p:cNvSpPr/>
          <p:nvPr/>
        </p:nvSpPr>
        <p:spPr>
          <a:xfrm>
            <a:off x="6080760" y="2944368"/>
            <a:ext cx="2743200" cy="1572768"/>
          </a:xfrm>
          <a:prstGeom prst="rect">
            <a:avLst/>
          </a:prstGeom>
          <a:solidFill>
            <a:srgbClr val="FFFFFF"/>
          </a:solidFill>
          <a:ln w="12700">
            <a:solidFill>
              <a:srgbClr val="DC2626">
                <a:alpha val="45000"/>
              </a:srgbClr>
            </a:solidFill>
            <a:prstDash val="solid"/>
          </a:ln>
          <a:effectLst>
            <a:outerShdw blurRad="127000" dist="38100" dir="8100000" algn="bl" rotWithShape="0">
              <a:srgbClr val="94A3B8">
                <a:alpha val="18000"/>
              </a:srgbClr>
            </a:outerShdw>
          </a:effectLst>
        </p:spPr>
      </p:sp>
      <p:sp>
        <p:nvSpPr>
          <p:cNvPr id="27" name="Shape 25"/>
          <p:cNvSpPr/>
          <p:nvPr/>
        </p:nvSpPr>
        <p:spPr>
          <a:xfrm>
            <a:off x="6080760" y="2944368"/>
            <a:ext cx="2743200" cy="438912"/>
          </a:xfrm>
          <a:prstGeom prst="rect">
            <a:avLst/>
          </a:prstGeom>
          <a:solidFill>
            <a:srgbClr val="DC2626">
              <a:alpha val="18000"/>
            </a:srgbClr>
          </a:solidFill>
          <a:ln w="12700">
            <a:solidFill>
              <a:srgbClr val="DC2626">
                <a:alpha val="18000"/>
              </a:srgbClr>
            </a:solidFill>
            <a:prstDash val="solid"/>
          </a:ln>
        </p:spPr>
      </p:sp>
      <p:sp>
        <p:nvSpPr>
          <p:cNvPr id="28" name="Text 26"/>
          <p:cNvSpPr/>
          <p:nvPr/>
        </p:nvSpPr>
        <p:spPr>
          <a:xfrm>
            <a:off x="6190488" y="2944368"/>
            <a:ext cx="2578608" cy="420624"/>
          </a:xfrm>
          <a:prstGeom prst="rect">
            <a:avLst/>
          </a:prstGeom>
          <a:noFill/>
        </p:spPr>
        <p:txBody>
          <a:bodyPr wrap="square" lIns="0" tIns="0" rIns="0" bIns="0" rtlCol="0" anchor="ctr"/>
          <a:lstStyle/>
          <a:p>
            <a:pPr marL="0" indent="0">
              <a:buNone/>
            </a:pPr>
            <a:r>
              <a:rPr lang="en-US" sz="1200" b="1" dirty="0">
                <a:solidFill>
                  <a:srgbClr val="DC2626"/>
                </a:solidFill>
              </a:rPr>
              <a:t>🔐  Zero Trust Access</a:t>
            </a:r>
            <a:endParaRPr lang="en-US" sz="1200" dirty="0"/>
          </a:p>
        </p:txBody>
      </p:sp>
      <p:sp>
        <p:nvSpPr>
          <p:cNvPr id="29" name="Text 27"/>
          <p:cNvSpPr/>
          <p:nvPr/>
        </p:nvSpPr>
        <p:spPr>
          <a:xfrm>
            <a:off x="6190488" y="344728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Prioritize data quality, privacy impact assessments, and zero trust controls against leakage.</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2200">
        <p14:doors dir="ver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563EB">
              <a:alpha val="14000"/>
            </a:srgbClr>
          </a:solidFill>
          <a:ln w="12700">
            <a:solidFill>
              <a:srgbClr val="2563EB">
                <a:alpha val="14000"/>
              </a:srgbClr>
            </a:solidFill>
            <a:prstDash val="solid"/>
          </a:ln>
        </p:spPr>
      </p:sp>
      <p:sp>
        <p:nvSpPr>
          <p:cNvPr id="3" name="Shape 1"/>
          <p:cNvSpPr/>
          <p:nvPr/>
        </p:nvSpPr>
        <p:spPr>
          <a:xfrm>
            <a:off x="274320" y="182880"/>
            <a:ext cx="658368" cy="658368"/>
          </a:xfrm>
          <a:prstGeom prst="ellipse">
            <a:avLst/>
          </a:prstGeom>
          <a:solidFill>
            <a:srgbClr val="2563EB">
              <a:alpha val="45000"/>
            </a:srgbClr>
          </a:solidFill>
          <a:ln w="12700">
            <a:solidFill>
              <a:srgbClr val="2563EB">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2563EB"/>
                </a:solidFill>
              </a:rPr>
              <a:t>09</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NIST AI RMF</a:t>
            </a:r>
            <a:endParaRPr lang="en-US" sz="3000" dirty="0"/>
          </a:p>
        </p:txBody>
      </p:sp>
      <p:sp>
        <p:nvSpPr>
          <p:cNvPr id="6" name="Shape 4"/>
          <p:cNvSpPr/>
          <p:nvPr/>
        </p:nvSpPr>
        <p:spPr>
          <a:xfrm>
            <a:off x="320040" y="1170432"/>
            <a:ext cx="8503920" cy="594360"/>
          </a:xfrm>
          <a:prstGeom prst="rect">
            <a:avLst/>
          </a:prstGeom>
          <a:solidFill>
            <a:srgbClr val="2563EB">
              <a:alpha val="12000"/>
            </a:srgbClr>
          </a:solidFill>
          <a:ln w="12700">
            <a:solidFill>
              <a:srgbClr val="2563EB">
                <a:alpha val="25000"/>
              </a:srgbClr>
            </a:solidFill>
            <a:prstDash val="solid"/>
          </a:ln>
        </p:spPr>
      </p:sp>
      <p:sp>
        <p:nvSpPr>
          <p:cNvPr id="7" name="Text 5"/>
          <p:cNvSpPr/>
          <p:nvPr/>
        </p:nvSpPr>
        <p:spPr>
          <a:xfrm>
            <a:off x="475488" y="1207008"/>
            <a:ext cx="8321040" cy="530352"/>
          </a:xfrm>
          <a:prstGeom prst="rect">
            <a:avLst/>
          </a:prstGeom>
          <a:noFill/>
        </p:spPr>
        <p:txBody>
          <a:bodyPr wrap="square" rtlCol="0" anchor="ctr"/>
          <a:lstStyle/>
          <a:p>
            <a:pPr marL="0" indent="0">
              <a:buNone/>
            </a:pPr>
            <a:r>
              <a:rPr lang="en-US" sz="1200" i="1" dirty="0">
                <a:solidFill>
                  <a:srgbClr val="2563EB"/>
                </a:solidFill>
                <a:latin typeface="Calibri" panose="020F0502020204030204" pitchFamily="34" charset="0"/>
                <a:ea typeface="Calibri" panose="020F0502020204030204" pitchFamily="34" charset="-122"/>
                <a:cs typeface="Calibri" panose="020F0502020204030204" pitchFamily="34" charset="-120"/>
              </a:rPr>
              <a:t>National Institute of Standards and Technology — AI Risk Management Framework</a:t>
            </a:r>
            <a:endParaRPr lang="en-US" sz="1200" dirty="0"/>
          </a:p>
        </p:txBody>
      </p:sp>
      <p:sp>
        <p:nvSpPr>
          <p:cNvPr id="8" name="Shape 6"/>
          <p:cNvSpPr/>
          <p:nvPr/>
        </p:nvSpPr>
        <p:spPr>
          <a:xfrm>
            <a:off x="320040" y="1901952"/>
            <a:ext cx="4023360" cy="288036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9" name="Text 7"/>
          <p:cNvSpPr/>
          <p:nvPr/>
        </p:nvSpPr>
        <p:spPr>
          <a:xfrm>
            <a:off x="475488" y="1956816"/>
            <a:ext cx="3794760" cy="365760"/>
          </a:xfrm>
          <a:prstGeom prst="rect">
            <a:avLst/>
          </a:prstGeom>
          <a:noFill/>
        </p:spPr>
        <p:txBody>
          <a:bodyPr wrap="square" rtlCol="0" anchor="ctr"/>
          <a:lstStyle/>
          <a:p>
            <a:pPr marL="0" indent="0">
              <a:buNone/>
            </a:pPr>
            <a:r>
              <a:rPr lang="en-US" sz="1400" b="1" dirty="0">
                <a:solidFill>
                  <a:srgbClr val="2563EB"/>
                </a:solidFill>
                <a:latin typeface="Calibri" panose="020F0502020204030204" pitchFamily="34" charset="0"/>
                <a:ea typeface="Calibri" panose="020F0502020204030204" pitchFamily="34" charset="-122"/>
                <a:cs typeface="Calibri" panose="020F0502020204030204" pitchFamily="34" charset="-120"/>
              </a:rPr>
              <a:t>What is it?</a:t>
            </a:r>
            <a:endParaRPr lang="en-US" sz="1400" dirty="0"/>
          </a:p>
        </p:txBody>
      </p:sp>
      <p:sp>
        <p:nvSpPr>
          <p:cNvPr id="10" name="Text 8"/>
          <p:cNvSpPr/>
          <p:nvPr/>
        </p:nvSpPr>
        <p:spPr>
          <a:xfrm>
            <a:off x="475488" y="2395728"/>
            <a:ext cx="3794760" cy="224028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A guide by NIST to help organizations build and use AI responsibly. It is not a strict law more like a flexible set of steps for finding, estimating, controlling, and monitoring AI-related risks early, before any major catastrophe occurs.</a:t>
            </a:r>
            <a:endParaRPr lang="en-US" sz="1200" dirty="0"/>
          </a:p>
        </p:txBody>
      </p:sp>
      <p:sp>
        <p:nvSpPr>
          <p:cNvPr id="11" name="Shape 9"/>
          <p:cNvSpPr/>
          <p:nvPr/>
        </p:nvSpPr>
        <p:spPr>
          <a:xfrm>
            <a:off x="4709160" y="1901952"/>
            <a:ext cx="4114800" cy="288036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2" name="Text 10"/>
          <p:cNvSpPr/>
          <p:nvPr/>
        </p:nvSpPr>
        <p:spPr>
          <a:xfrm>
            <a:off x="4864608" y="1956816"/>
            <a:ext cx="3840480" cy="365760"/>
          </a:xfrm>
          <a:prstGeom prst="rect">
            <a:avLst/>
          </a:prstGeom>
          <a:noFill/>
        </p:spPr>
        <p:txBody>
          <a:bodyPr wrap="square" rtlCol="0" anchor="ctr"/>
          <a:lstStyle/>
          <a:p>
            <a:pPr marL="0" indent="0">
              <a:buNone/>
            </a:pPr>
            <a:r>
              <a:rPr lang="en-US" sz="1400" b="1" dirty="0">
                <a:solidFill>
                  <a:srgbClr val="0891B2"/>
                </a:solidFill>
                <a:latin typeface="Calibri" panose="020F0502020204030204" pitchFamily="34" charset="0"/>
                <a:ea typeface="Calibri" panose="020F0502020204030204" pitchFamily="34" charset="-122"/>
                <a:cs typeface="Calibri" panose="020F0502020204030204" pitchFamily="34" charset="-120"/>
              </a:rPr>
              <a:t>Who can use it?</a:t>
            </a:r>
            <a:endParaRPr lang="en-US" sz="1400" dirty="0"/>
          </a:p>
        </p:txBody>
      </p:sp>
      <p:sp>
        <p:nvSpPr>
          <p:cNvPr id="13" name="Text 11"/>
          <p:cNvSpPr/>
          <p:nvPr/>
        </p:nvSpPr>
        <p:spPr>
          <a:xfrm>
            <a:off x="4864608" y="2395728"/>
            <a:ext cx="3840480" cy="224028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 Companies
</a:t>
            </a: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 Schools &amp; Universities
</a:t>
            </a: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 Government Institutions
</a:t>
            </a: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The framework is flexible organizations of any size and sector can adapt it to their own situation while still supporting innovation and accountability.</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879">
        <p:dissolve/>
      </p:transition>
    </mc:Choice>
    <mc:Fallback>
      <p:transition spd="slow">
        <p:dissolv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563EB">
              <a:alpha val="14000"/>
            </a:srgbClr>
          </a:solidFill>
          <a:ln w="12700">
            <a:solidFill>
              <a:srgbClr val="2563EB">
                <a:alpha val="14000"/>
              </a:srgbClr>
            </a:solidFill>
            <a:prstDash val="solid"/>
          </a:ln>
        </p:spPr>
      </p:sp>
      <p:sp>
        <p:nvSpPr>
          <p:cNvPr id="3" name="Shape 1"/>
          <p:cNvSpPr/>
          <p:nvPr/>
        </p:nvSpPr>
        <p:spPr>
          <a:xfrm>
            <a:off x="274320" y="182880"/>
            <a:ext cx="658368" cy="658368"/>
          </a:xfrm>
          <a:prstGeom prst="ellipse">
            <a:avLst/>
          </a:prstGeom>
          <a:solidFill>
            <a:srgbClr val="2563EB">
              <a:alpha val="45000"/>
            </a:srgbClr>
          </a:solidFill>
          <a:ln w="12700">
            <a:solidFill>
              <a:srgbClr val="2563EB">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2563EB"/>
                </a:solidFill>
              </a:rPr>
              <a:t>10</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Main Objectives of NIST AI RMF</a:t>
            </a:r>
            <a:endParaRPr lang="en-US" sz="3000" dirty="0"/>
          </a:p>
        </p:txBody>
      </p:sp>
      <p:sp>
        <p:nvSpPr>
          <p:cNvPr id="6" name="Shape 4"/>
          <p:cNvSpPr/>
          <p:nvPr/>
        </p:nvSpPr>
        <p:spPr>
          <a:xfrm>
            <a:off x="320040" y="1188720"/>
            <a:ext cx="1993392" cy="356616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188720"/>
            <a:ext cx="1993392" cy="502920"/>
          </a:xfrm>
          <a:prstGeom prst="rect">
            <a:avLst/>
          </a:prstGeom>
          <a:solidFill>
            <a:srgbClr val="2563EB">
              <a:alpha val="20000"/>
            </a:srgbClr>
          </a:solidFill>
          <a:ln w="12700">
            <a:solidFill>
              <a:srgbClr val="2563EB">
                <a:alpha val="20000"/>
              </a:srgbClr>
            </a:solidFill>
            <a:prstDash val="solid"/>
          </a:ln>
        </p:spPr>
      </p:sp>
      <p:sp>
        <p:nvSpPr>
          <p:cNvPr id="8" name="Text 6"/>
          <p:cNvSpPr/>
          <p:nvPr/>
        </p:nvSpPr>
        <p:spPr>
          <a:xfrm>
            <a:off x="32004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2563EB"/>
                </a:solidFill>
              </a:rPr>
              <a:t>GOVERN</a:t>
            </a:r>
            <a:endParaRPr lang="en-US" sz="1400" dirty="0"/>
          </a:p>
        </p:txBody>
      </p:sp>
      <p:sp>
        <p:nvSpPr>
          <p:cNvPr id="9" name="Shape 7"/>
          <p:cNvSpPr/>
          <p:nvPr/>
        </p:nvSpPr>
        <p:spPr>
          <a:xfrm>
            <a:off x="859536" y="1874520"/>
            <a:ext cx="914400" cy="914400"/>
          </a:xfrm>
          <a:prstGeom prst="ellipse">
            <a:avLst/>
          </a:prstGeom>
          <a:solidFill>
            <a:srgbClr val="2563EB">
              <a:alpha val="18000"/>
            </a:srgbClr>
          </a:solidFill>
          <a:ln w="12700">
            <a:solidFill>
              <a:srgbClr val="2563EB">
                <a:alpha val="18000"/>
              </a:srgbClr>
            </a:solidFill>
            <a:prstDash val="solid"/>
          </a:ln>
        </p:spPr>
      </p:sp>
      <p:sp>
        <p:nvSpPr>
          <p:cNvPr id="10" name="Text 8"/>
          <p:cNvSpPr/>
          <p:nvPr/>
        </p:nvSpPr>
        <p:spPr>
          <a:xfrm>
            <a:off x="85953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1" name="Text 9"/>
          <p:cNvSpPr/>
          <p:nvPr/>
        </p:nvSpPr>
        <p:spPr>
          <a:xfrm>
            <a:off x="42976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Establishes organizational culture, policies, accountability, and oversight for responsible AI risk management.</a:t>
            </a:r>
            <a:endParaRPr lang="en-US" sz="1100" dirty="0"/>
          </a:p>
        </p:txBody>
      </p:sp>
      <p:sp>
        <p:nvSpPr>
          <p:cNvPr id="12" name="Shape 10"/>
          <p:cNvSpPr/>
          <p:nvPr/>
        </p:nvSpPr>
        <p:spPr>
          <a:xfrm>
            <a:off x="2468880" y="1188720"/>
            <a:ext cx="1993392" cy="356616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3" name="Shape 11"/>
          <p:cNvSpPr/>
          <p:nvPr/>
        </p:nvSpPr>
        <p:spPr>
          <a:xfrm>
            <a:off x="2468880" y="1188720"/>
            <a:ext cx="1993392" cy="502920"/>
          </a:xfrm>
          <a:prstGeom prst="rect">
            <a:avLst/>
          </a:prstGeom>
          <a:solidFill>
            <a:srgbClr val="0891B2">
              <a:alpha val="20000"/>
            </a:srgbClr>
          </a:solidFill>
          <a:ln w="12700">
            <a:solidFill>
              <a:srgbClr val="0891B2">
                <a:alpha val="20000"/>
              </a:srgbClr>
            </a:solidFill>
            <a:prstDash val="solid"/>
          </a:ln>
        </p:spPr>
      </p:sp>
      <p:sp>
        <p:nvSpPr>
          <p:cNvPr id="14" name="Text 12"/>
          <p:cNvSpPr/>
          <p:nvPr/>
        </p:nvSpPr>
        <p:spPr>
          <a:xfrm>
            <a:off x="246888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0891B2"/>
                </a:solidFill>
              </a:rPr>
              <a:t>MAP</a:t>
            </a:r>
            <a:endParaRPr lang="en-US" sz="1400" dirty="0"/>
          </a:p>
        </p:txBody>
      </p:sp>
      <p:sp>
        <p:nvSpPr>
          <p:cNvPr id="15" name="Shape 13"/>
          <p:cNvSpPr/>
          <p:nvPr/>
        </p:nvSpPr>
        <p:spPr>
          <a:xfrm>
            <a:off x="3008376" y="1874520"/>
            <a:ext cx="914400" cy="914400"/>
          </a:xfrm>
          <a:prstGeom prst="ellipse">
            <a:avLst/>
          </a:prstGeom>
          <a:solidFill>
            <a:srgbClr val="0891B2">
              <a:alpha val="18000"/>
            </a:srgbClr>
          </a:solidFill>
          <a:ln w="12700">
            <a:solidFill>
              <a:srgbClr val="0891B2">
                <a:alpha val="18000"/>
              </a:srgbClr>
            </a:solidFill>
            <a:prstDash val="solid"/>
          </a:ln>
        </p:spPr>
      </p:sp>
      <p:sp>
        <p:nvSpPr>
          <p:cNvPr id="16" name="Text 14"/>
          <p:cNvSpPr/>
          <p:nvPr/>
        </p:nvSpPr>
        <p:spPr>
          <a:xfrm>
            <a:off x="300837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257860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Identifies the context, intended purpose, and potential risks of AI systems across their full life cycle.</a:t>
            </a:r>
            <a:endParaRPr lang="en-US" sz="1100" dirty="0"/>
          </a:p>
        </p:txBody>
      </p:sp>
      <p:sp>
        <p:nvSpPr>
          <p:cNvPr id="18" name="Shape 16"/>
          <p:cNvSpPr/>
          <p:nvPr/>
        </p:nvSpPr>
        <p:spPr>
          <a:xfrm>
            <a:off x="4617720" y="1188720"/>
            <a:ext cx="1993392" cy="3566160"/>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19" name="Shape 17"/>
          <p:cNvSpPr/>
          <p:nvPr/>
        </p:nvSpPr>
        <p:spPr>
          <a:xfrm>
            <a:off x="4617720" y="1188720"/>
            <a:ext cx="1993392" cy="502920"/>
          </a:xfrm>
          <a:prstGeom prst="rect">
            <a:avLst/>
          </a:prstGeom>
          <a:solidFill>
            <a:srgbClr val="7C3AED">
              <a:alpha val="20000"/>
            </a:srgbClr>
          </a:solidFill>
          <a:ln w="12700">
            <a:solidFill>
              <a:srgbClr val="7C3AED">
                <a:alpha val="20000"/>
              </a:srgbClr>
            </a:solidFill>
            <a:prstDash val="solid"/>
          </a:ln>
        </p:spPr>
      </p:sp>
      <p:sp>
        <p:nvSpPr>
          <p:cNvPr id="20" name="Text 18"/>
          <p:cNvSpPr/>
          <p:nvPr/>
        </p:nvSpPr>
        <p:spPr>
          <a:xfrm>
            <a:off x="461772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7C3AED"/>
                </a:solidFill>
              </a:rPr>
              <a:t>MEASURE</a:t>
            </a:r>
            <a:endParaRPr lang="en-US" sz="1400" dirty="0"/>
          </a:p>
        </p:txBody>
      </p:sp>
      <p:sp>
        <p:nvSpPr>
          <p:cNvPr id="21" name="Shape 19"/>
          <p:cNvSpPr/>
          <p:nvPr/>
        </p:nvSpPr>
        <p:spPr>
          <a:xfrm>
            <a:off x="5157216" y="1874520"/>
            <a:ext cx="914400" cy="914400"/>
          </a:xfrm>
          <a:prstGeom prst="ellipse">
            <a:avLst/>
          </a:prstGeom>
          <a:solidFill>
            <a:srgbClr val="7C3AED">
              <a:alpha val="18000"/>
            </a:srgbClr>
          </a:solidFill>
          <a:ln w="12700">
            <a:solidFill>
              <a:srgbClr val="7C3AED">
                <a:alpha val="18000"/>
              </a:srgbClr>
            </a:solidFill>
            <a:prstDash val="solid"/>
          </a:ln>
        </p:spPr>
      </p:sp>
      <p:sp>
        <p:nvSpPr>
          <p:cNvPr id="22" name="Text 20"/>
          <p:cNvSpPr/>
          <p:nvPr/>
        </p:nvSpPr>
        <p:spPr>
          <a:xfrm>
            <a:off x="515721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3" name="Text 21"/>
          <p:cNvSpPr/>
          <p:nvPr/>
        </p:nvSpPr>
        <p:spPr>
          <a:xfrm>
            <a:off x="472744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Assesses, analyzes, and quantifies identified AI risks using metrics, benchmarks, and rigorous testing methods.</a:t>
            </a:r>
            <a:endParaRPr lang="en-US" sz="1100" dirty="0"/>
          </a:p>
        </p:txBody>
      </p:sp>
      <p:sp>
        <p:nvSpPr>
          <p:cNvPr id="24" name="Shape 22"/>
          <p:cNvSpPr/>
          <p:nvPr/>
        </p:nvSpPr>
        <p:spPr>
          <a:xfrm>
            <a:off x="6766560" y="1188720"/>
            <a:ext cx="1993392" cy="3566160"/>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25" name="Shape 23"/>
          <p:cNvSpPr/>
          <p:nvPr/>
        </p:nvSpPr>
        <p:spPr>
          <a:xfrm>
            <a:off x="6766560" y="1188720"/>
            <a:ext cx="1993392" cy="502920"/>
          </a:xfrm>
          <a:prstGeom prst="rect">
            <a:avLst/>
          </a:prstGeom>
          <a:solidFill>
            <a:srgbClr val="10B981">
              <a:alpha val="20000"/>
            </a:srgbClr>
          </a:solidFill>
          <a:ln w="12700">
            <a:solidFill>
              <a:srgbClr val="10B981">
                <a:alpha val="20000"/>
              </a:srgbClr>
            </a:solidFill>
            <a:prstDash val="solid"/>
          </a:ln>
        </p:spPr>
      </p:sp>
      <p:sp>
        <p:nvSpPr>
          <p:cNvPr id="26" name="Text 24"/>
          <p:cNvSpPr/>
          <p:nvPr/>
        </p:nvSpPr>
        <p:spPr>
          <a:xfrm>
            <a:off x="676656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10B981"/>
                </a:solidFill>
              </a:rPr>
              <a:t>MANAGE</a:t>
            </a:r>
            <a:endParaRPr lang="en-US" sz="1400" dirty="0"/>
          </a:p>
        </p:txBody>
      </p:sp>
      <p:sp>
        <p:nvSpPr>
          <p:cNvPr id="27" name="Shape 25"/>
          <p:cNvSpPr/>
          <p:nvPr/>
        </p:nvSpPr>
        <p:spPr>
          <a:xfrm>
            <a:off x="7306056" y="1874520"/>
            <a:ext cx="914400" cy="914400"/>
          </a:xfrm>
          <a:prstGeom prst="ellipse">
            <a:avLst/>
          </a:prstGeom>
          <a:solidFill>
            <a:srgbClr val="10B981">
              <a:alpha val="18000"/>
            </a:srgbClr>
          </a:solidFill>
          <a:ln w="12700">
            <a:solidFill>
              <a:srgbClr val="10B981">
                <a:alpha val="18000"/>
              </a:srgbClr>
            </a:solidFill>
            <a:prstDash val="solid"/>
          </a:ln>
        </p:spPr>
      </p:sp>
      <p:sp>
        <p:nvSpPr>
          <p:cNvPr id="28" name="Text 26"/>
          <p:cNvSpPr/>
          <p:nvPr/>
        </p:nvSpPr>
        <p:spPr>
          <a:xfrm>
            <a:off x="730605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9" name="Text 27"/>
          <p:cNvSpPr/>
          <p:nvPr/>
        </p:nvSpPr>
        <p:spPr>
          <a:xfrm>
            <a:off x="687628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Prioritizes risks and implements targeted strategies to mitigate, monitor, and address them effectively.</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1990">
        <p:dissolve/>
      </p:transition>
    </mc:Choice>
    <mc:Fallback>
      <p:transition spd="slow">
        <p:dissolv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563EB">
              <a:alpha val="14000"/>
            </a:srgbClr>
          </a:solidFill>
          <a:ln w="12700">
            <a:solidFill>
              <a:srgbClr val="2563EB">
                <a:alpha val="14000"/>
              </a:srgbClr>
            </a:solidFill>
            <a:prstDash val="solid"/>
          </a:ln>
        </p:spPr>
      </p:sp>
      <p:sp>
        <p:nvSpPr>
          <p:cNvPr id="3" name="Shape 1"/>
          <p:cNvSpPr/>
          <p:nvPr/>
        </p:nvSpPr>
        <p:spPr>
          <a:xfrm>
            <a:off x="274320" y="182880"/>
            <a:ext cx="658368" cy="658368"/>
          </a:xfrm>
          <a:prstGeom prst="ellipse">
            <a:avLst/>
          </a:prstGeom>
          <a:solidFill>
            <a:srgbClr val="2563EB">
              <a:alpha val="45000"/>
            </a:srgbClr>
          </a:solidFill>
          <a:ln w="12700">
            <a:solidFill>
              <a:srgbClr val="2563EB">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2563EB"/>
                </a:solidFill>
              </a:rPr>
              <a:t>11</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ISO 42001</a:t>
            </a:r>
            <a:endParaRPr lang="en-US" sz="3000" dirty="0"/>
          </a:p>
        </p:txBody>
      </p:sp>
      <p:sp>
        <p:nvSpPr>
          <p:cNvPr id="6" name="Shape 4"/>
          <p:cNvSpPr/>
          <p:nvPr/>
        </p:nvSpPr>
        <p:spPr>
          <a:xfrm>
            <a:off x="320040" y="1170432"/>
            <a:ext cx="8503920" cy="594360"/>
          </a:xfrm>
          <a:prstGeom prst="rect">
            <a:avLst/>
          </a:prstGeom>
          <a:solidFill>
            <a:srgbClr val="2563EB">
              <a:alpha val="12000"/>
            </a:srgbClr>
          </a:solidFill>
          <a:ln w="12700">
            <a:solidFill>
              <a:srgbClr val="2563EB">
                <a:alpha val="25000"/>
              </a:srgbClr>
            </a:solidFill>
            <a:prstDash val="solid"/>
          </a:ln>
        </p:spPr>
      </p:sp>
      <p:sp>
        <p:nvSpPr>
          <p:cNvPr id="7" name="Text 5"/>
          <p:cNvSpPr/>
          <p:nvPr/>
        </p:nvSpPr>
        <p:spPr>
          <a:xfrm>
            <a:off x="475488" y="1207008"/>
            <a:ext cx="8321040" cy="530352"/>
          </a:xfrm>
          <a:prstGeom prst="rect">
            <a:avLst/>
          </a:prstGeom>
          <a:noFill/>
        </p:spPr>
        <p:txBody>
          <a:bodyPr wrap="square" rtlCol="0" anchor="ctr"/>
          <a:lstStyle/>
          <a:p>
            <a:pPr marL="0" indent="0">
              <a:buNone/>
            </a:pPr>
            <a:r>
              <a:rPr lang="en-US" sz="1200" i="1" dirty="0">
                <a:solidFill>
                  <a:srgbClr val="2563EB"/>
                </a:solidFill>
                <a:latin typeface="Calibri" panose="020F0502020204030204" pitchFamily="34" charset="0"/>
                <a:ea typeface="Calibri" panose="020F0502020204030204" pitchFamily="34" charset="-122"/>
                <a:cs typeface="Calibri" panose="020F0502020204030204" pitchFamily="34" charset="-120"/>
              </a:rPr>
              <a:t>International Organization for Standardization — AI Management System Standard</a:t>
            </a:r>
            <a:endParaRPr lang="en-US" sz="1200" dirty="0"/>
          </a:p>
        </p:txBody>
      </p:sp>
      <p:sp>
        <p:nvSpPr>
          <p:cNvPr id="8" name="Shape 6"/>
          <p:cNvSpPr/>
          <p:nvPr/>
        </p:nvSpPr>
        <p:spPr>
          <a:xfrm>
            <a:off x="320040" y="1901952"/>
            <a:ext cx="4023360" cy="288036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9" name="Text 7"/>
          <p:cNvSpPr/>
          <p:nvPr/>
        </p:nvSpPr>
        <p:spPr>
          <a:xfrm>
            <a:off x="475488" y="1956816"/>
            <a:ext cx="3794760" cy="365760"/>
          </a:xfrm>
          <a:prstGeom prst="rect">
            <a:avLst/>
          </a:prstGeom>
          <a:noFill/>
        </p:spPr>
        <p:txBody>
          <a:bodyPr wrap="square" rtlCol="0" anchor="ctr"/>
          <a:lstStyle/>
          <a:p>
            <a:pPr marL="0" indent="0">
              <a:buNone/>
            </a:pPr>
            <a:r>
              <a:rPr lang="en-US" sz="1400" b="1" dirty="0">
                <a:solidFill>
                  <a:srgbClr val="2563EB"/>
                </a:solidFill>
                <a:latin typeface="Calibri" panose="020F0502020204030204" pitchFamily="34" charset="0"/>
                <a:ea typeface="Calibri" panose="020F0502020204030204" pitchFamily="34" charset="-122"/>
                <a:cs typeface="Calibri" panose="020F0502020204030204" pitchFamily="34" charset="-120"/>
              </a:rPr>
              <a:t>What is it?</a:t>
            </a:r>
            <a:endParaRPr lang="en-US" sz="1400" dirty="0"/>
          </a:p>
        </p:txBody>
      </p:sp>
      <p:sp>
        <p:nvSpPr>
          <p:cNvPr id="10" name="Text 8"/>
          <p:cNvSpPr/>
          <p:nvPr/>
        </p:nvSpPr>
        <p:spPr>
          <a:xfrm>
            <a:off x="475488" y="2395728"/>
            <a:ext cx="3794760" cy="2240280"/>
          </a:xfrm>
          <a:prstGeom prst="rect">
            <a:avLst/>
          </a:prstGeom>
          <a:noFill/>
        </p:spPr>
        <p:txBody>
          <a:bodyPr wrap="square" rtlCol="0" anchor="ctr"/>
          <a:lstStyle/>
          <a:p>
            <a:pPr marL="0" indent="0">
              <a:buNone/>
            </a:pPr>
            <a:r>
              <a:rPr lang="en-US" alt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ISO 42001 is the world standard for AI management in companies. It helps groups that make or use AI to set up and improve their AI system. It lets them manage risks, keep it ethical and clear, follow laws, stay responsible, build trust and use AI in a good way.</a:t>
            </a:r>
            <a:endParaRPr lang="en-US" alt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4709160" y="1901952"/>
            <a:ext cx="4114800" cy="288036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2" name="Text 10"/>
          <p:cNvSpPr/>
          <p:nvPr/>
        </p:nvSpPr>
        <p:spPr>
          <a:xfrm>
            <a:off x="4864608" y="1956816"/>
            <a:ext cx="3840480" cy="365760"/>
          </a:xfrm>
          <a:prstGeom prst="rect">
            <a:avLst/>
          </a:prstGeom>
          <a:noFill/>
        </p:spPr>
        <p:txBody>
          <a:bodyPr wrap="square" rtlCol="0" anchor="ctr"/>
          <a:lstStyle/>
          <a:p>
            <a:pPr marL="0" indent="0">
              <a:buNone/>
            </a:pPr>
            <a:r>
              <a:rPr lang="en-US" sz="1400" b="1" dirty="0">
                <a:solidFill>
                  <a:srgbClr val="0891B2"/>
                </a:solidFill>
                <a:latin typeface="Calibri" panose="020F0502020204030204" pitchFamily="34" charset="0"/>
                <a:ea typeface="Calibri" panose="020F0502020204030204" pitchFamily="34" charset="-122"/>
                <a:cs typeface="Calibri" panose="020F0502020204030204" pitchFamily="34" charset="-120"/>
              </a:rPr>
              <a:t>Who should use it?</a:t>
            </a:r>
            <a:endParaRPr lang="en-US" sz="1400" dirty="0"/>
          </a:p>
        </p:txBody>
      </p:sp>
      <p:sp>
        <p:nvSpPr>
          <p:cNvPr id="13" name="Text 11"/>
          <p:cNvSpPr/>
          <p:nvPr/>
        </p:nvSpPr>
        <p:spPr>
          <a:xfrm>
            <a:off x="4864608" y="2395728"/>
            <a:ext cx="3840480" cy="224028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 Organizations developing or deploying AI
</a:t>
            </a: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 Private &amp; Public Sector Businesses
</a:t>
            </a: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 Regulatory &amp; Compliance Teams
</a:t>
            </a: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The standard applies globally and is designed to work alongside other ISO management system standards such as ISO 27001 for information security.</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879">
        <p:dissolve/>
      </p:transition>
    </mc:Choice>
    <mc:Fallback>
      <p:transition spd="slow">
        <p:dissolv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563EB">
              <a:alpha val="14000"/>
            </a:srgbClr>
          </a:solidFill>
          <a:ln w="12700">
            <a:solidFill>
              <a:srgbClr val="2563EB">
                <a:alpha val="14000"/>
              </a:srgbClr>
            </a:solidFill>
            <a:prstDash val="solid"/>
          </a:ln>
        </p:spPr>
      </p:sp>
      <p:sp>
        <p:nvSpPr>
          <p:cNvPr id="3" name="Shape 1"/>
          <p:cNvSpPr/>
          <p:nvPr/>
        </p:nvSpPr>
        <p:spPr>
          <a:xfrm>
            <a:off x="274320" y="182880"/>
            <a:ext cx="658368" cy="658368"/>
          </a:xfrm>
          <a:prstGeom prst="ellipse">
            <a:avLst/>
          </a:prstGeom>
          <a:solidFill>
            <a:srgbClr val="2563EB">
              <a:alpha val="45000"/>
            </a:srgbClr>
          </a:solidFill>
          <a:ln w="12700">
            <a:solidFill>
              <a:srgbClr val="2563EB">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2563EB"/>
                </a:solidFill>
              </a:rPr>
              <a:t>12</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rPr>
              <a:t>Main Objectives of ISO 42001</a:t>
            </a:r>
            <a:endParaRPr lang="en-US" sz="3000" dirty="0"/>
          </a:p>
        </p:txBody>
      </p:sp>
      <p:sp>
        <p:nvSpPr>
          <p:cNvPr id="6" name="Shape 4"/>
          <p:cNvSpPr/>
          <p:nvPr/>
        </p:nvSpPr>
        <p:spPr>
          <a:xfrm>
            <a:off x="320040" y="1188720"/>
            <a:ext cx="1993392" cy="356616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188720"/>
            <a:ext cx="1993392" cy="502920"/>
          </a:xfrm>
          <a:prstGeom prst="rect">
            <a:avLst/>
          </a:prstGeom>
          <a:solidFill>
            <a:srgbClr val="2563EB">
              <a:alpha val="20000"/>
            </a:srgbClr>
          </a:solidFill>
          <a:ln w="12700">
            <a:solidFill>
              <a:srgbClr val="2563EB">
                <a:alpha val="20000"/>
              </a:srgbClr>
            </a:solidFill>
            <a:prstDash val="solid"/>
          </a:ln>
        </p:spPr>
      </p:sp>
      <p:sp>
        <p:nvSpPr>
          <p:cNvPr id="8" name="Text 6"/>
          <p:cNvSpPr/>
          <p:nvPr/>
        </p:nvSpPr>
        <p:spPr>
          <a:xfrm>
            <a:off x="32004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2563EB"/>
                </a:solidFill>
              </a:rPr>
              <a:t>CONTEXT</a:t>
            </a:r>
            <a:endParaRPr lang="en-US" sz="1400" dirty="0"/>
          </a:p>
        </p:txBody>
      </p:sp>
      <p:sp>
        <p:nvSpPr>
          <p:cNvPr id="9" name="Shape 7"/>
          <p:cNvSpPr/>
          <p:nvPr/>
        </p:nvSpPr>
        <p:spPr>
          <a:xfrm>
            <a:off x="859536" y="1874520"/>
            <a:ext cx="914400" cy="914400"/>
          </a:xfrm>
          <a:prstGeom prst="ellipse">
            <a:avLst/>
          </a:prstGeom>
          <a:solidFill>
            <a:srgbClr val="2563EB">
              <a:alpha val="18000"/>
            </a:srgbClr>
          </a:solidFill>
          <a:ln w="12700">
            <a:solidFill>
              <a:srgbClr val="2563EB">
                <a:alpha val="18000"/>
              </a:srgbClr>
            </a:solidFill>
            <a:prstDash val="solid"/>
          </a:ln>
        </p:spPr>
      </p:sp>
      <p:sp>
        <p:nvSpPr>
          <p:cNvPr id="10" name="Text 8"/>
          <p:cNvSpPr/>
          <p:nvPr/>
        </p:nvSpPr>
        <p:spPr>
          <a:xfrm>
            <a:off x="85953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1" name="Text 9"/>
          <p:cNvSpPr/>
          <p:nvPr/>
        </p:nvSpPr>
        <p:spPr>
          <a:xfrm>
            <a:off x="42976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rPr>
              <a:t>Understands the organization’s environment, stakeholders, scope, and AI-related obligations before building policy.</a:t>
            </a:r>
            <a:endParaRPr lang="en-US" sz="1100" dirty="0"/>
          </a:p>
        </p:txBody>
      </p:sp>
      <p:sp>
        <p:nvSpPr>
          <p:cNvPr id="12" name="Shape 10"/>
          <p:cNvSpPr/>
          <p:nvPr/>
        </p:nvSpPr>
        <p:spPr>
          <a:xfrm>
            <a:off x="2468880" y="1188720"/>
            <a:ext cx="1993392" cy="356616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3" name="Shape 11"/>
          <p:cNvSpPr/>
          <p:nvPr/>
        </p:nvSpPr>
        <p:spPr>
          <a:xfrm>
            <a:off x="2468880" y="1188720"/>
            <a:ext cx="1993392" cy="502920"/>
          </a:xfrm>
          <a:prstGeom prst="rect">
            <a:avLst/>
          </a:prstGeom>
          <a:solidFill>
            <a:srgbClr val="0891B2">
              <a:alpha val="20000"/>
            </a:srgbClr>
          </a:solidFill>
          <a:ln w="12700">
            <a:solidFill>
              <a:srgbClr val="0891B2">
                <a:alpha val="20000"/>
              </a:srgbClr>
            </a:solidFill>
            <a:prstDash val="solid"/>
          </a:ln>
        </p:spPr>
      </p:sp>
      <p:sp>
        <p:nvSpPr>
          <p:cNvPr id="14" name="Text 12"/>
          <p:cNvSpPr/>
          <p:nvPr/>
        </p:nvSpPr>
        <p:spPr>
          <a:xfrm>
            <a:off x="246888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0891B2"/>
                </a:solidFill>
              </a:rPr>
              <a:t>LEADERSHIP</a:t>
            </a:r>
            <a:endParaRPr lang="en-US" sz="1400" dirty="0"/>
          </a:p>
        </p:txBody>
      </p:sp>
      <p:sp>
        <p:nvSpPr>
          <p:cNvPr id="15" name="Shape 13"/>
          <p:cNvSpPr/>
          <p:nvPr/>
        </p:nvSpPr>
        <p:spPr>
          <a:xfrm>
            <a:off x="3008376" y="1874520"/>
            <a:ext cx="914400" cy="914400"/>
          </a:xfrm>
          <a:prstGeom prst="ellipse">
            <a:avLst/>
          </a:prstGeom>
          <a:solidFill>
            <a:srgbClr val="0891B2">
              <a:alpha val="18000"/>
            </a:srgbClr>
          </a:solidFill>
          <a:ln w="12700">
            <a:solidFill>
              <a:srgbClr val="0891B2">
                <a:alpha val="18000"/>
              </a:srgbClr>
            </a:solidFill>
            <a:prstDash val="solid"/>
          </a:ln>
        </p:spPr>
      </p:sp>
      <p:sp>
        <p:nvSpPr>
          <p:cNvPr id="16" name="Text 14"/>
          <p:cNvSpPr/>
          <p:nvPr/>
        </p:nvSpPr>
        <p:spPr>
          <a:xfrm>
            <a:off x="300837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257860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rPr>
              <a:t>Ensures top management commitment, assigns roles, and establishes an AI policy aligned with organizational goals.</a:t>
            </a:r>
            <a:endParaRPr lang="en-US" sz="1100" dirty="0"/>
          </a:p>
        </p:txBody>
      </p:sp>
      <p:sp>
        <p:nvSpPr>
          <p:cNvPr id="18" name="Shape 16"/>
          <p:cNvSpPr/>
          <p:nvPr/>
        </p:nvSpPr>
        <p:spPr>
          <a:xfrm>
            <a:off x="4617720" y="1188720"/>
            <a:ext cx="1993392" cy="3566160"/>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19" name="Shape 17"/>
          <p:cNvSpPr/>
          <p:nvPr/>
        </p:nvSpPr>
        <p:spPr>
          <a:xfrm>
            <a:off x="4617720" y="1188720"/>
            <a:ext cx="1993392" cy="502920"/>
          </a:xfrm>
          <a:prstGeom prst="rect">
            <a:avLst/>
          </a:prstGeom>
          <a:solidFill>
            <a:srgbClr val="7C3AED">
              <a:alpha val="20000"/>
            </a:srgbClr>
          </a:solidFill>
          <a:ln w="12700">
            <a:solidFill>
              <a:srgbClr val="7C3AED">
                <a:alpha val="20000"/>
              </a:srgbClr>
            </a:solidFill>
            <a:prstDash val="solid"/>
          </a:ln>
        </p:spPr>
      </p:sp>
      <p:sp>
        <p:nvSpPr>
          <p:cNvPr id="20" name="Text 18"/>
          <p:cNvSpPr/>
          <p:nvPr/>
        </p:nvSpPr>
        <p:spPr>
          <a:xfrm>
            <a:off x="461772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7C3AED"/>
                </a:solidFill>
              </a:rPr>
              <a:t>RISK</a:t>
            </a:r>
            <a:endParaRPr lang="en-US" sz="1400" dirty="0"/>
          </a:p>
        </p:txBody>
      </p:sp>
      <p:sp>
        <p:nvSpPr>
          <p:cNvPr id="21" name="Shape 19"/>
          <p:cNvSpPr/>
          <p:nvPr/>
        </p:nvSpPr>
        <p:spPr>
          <a:xfrm>
            <a:off x="5157216" y="1874520"/>
            <a:ext cx="914400" cy="914400"/>
          </a:xfrm>
          <a:prstGeom prst="ellipse">
            <a:avLst/>
          </a:prstGeom>
          <a:solidFill>
            <a:srgbClr val="7C3AED">
              <a:alpha val="18000"/>
            </a:srgbClr>
          </a:solidFill>
          <a:ln w="12700">
            <a:solidFill>
              <a:srgbClr val="7C3AED">
                <a:alpha val="18000"/>
              </a:srgbClr>
            </a:solidFill>
            <a:prstDash val="solid"/>
          </a:ln>
        </p:spPr>
      </p:sp>
      <p:sp>
        <p:nvSpPr>
          <p:cNvPr id="22" name="Text 20"/>
          <p:cNvSpPr/>
          <p:nvPr/>
        </p:nvSpPr>
        <p:spPr>
          <a:xfrm>
            <a:off x="515721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3" name="Text 21"/>
          <p:cNvSpPr/>
          <p:nvPr/>
        </p:nvSpPr>
        <p:spPr>
          <a:xfrm>
            <a:off x="472744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rPr>
              <a:t>Identifies, assesses, and treats AI-related risks to ensure systems are safe, ethical, and compliant throughout their lifecycle.</a:t>
            </a:r>
            <a:endParaRPr lang="en-US" sz="1100" dirty="0"/>
          </a:p>
        </p:txBody>
      </p:sp>
      <p:sp>
        <p:nvSpPr>
          <p:cNvPr id="24" name="Shape 22"/>
          <p:cNvSpPr/>
          <p:nvPr/>
        </p:nvSpPr>
        <p:spPr>
          <a:xfrm>
            <a:off x="6766560" y="1188720"/>
            <a:ext cx="1993392" cy="3566160"/>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25" name="Shape 23"/>
          <p:cNvSpPr/>
          <p:nvPr/>
        </p:nvSpPr>
        <p:spPr>
          <a:xfrm>
            <a:off x="6766560" y="1188720"/>
            <a:ext cx="1993392" cy="502920"/>
          </a:xfrm>
          <a:prstGeom prst="rect">
            <a:avLst/>
          </a:prstGeom>
          <a:solidFill>
            <a:srgbClr val="10B981">
              <a:alpha val="20000"/>
            </a:srgbClr>
          </a:solidFill>
          <a:ln w="12700">
            <a:solidFill>
              <a:srgbClr val="10B981">
                <a:alpha val="20000"/>
              </a:srgbClr>
            </a:solidFill>
            <a:prstDash val="solid"/>
          </a:ln>
        </p:spPr>
      </p:sp>
      <p:sp>
        <p:nvSpPr>
          <p:cNvPr id="26" name="Text 24"/>
          <p:cNvSpPr/>
          <p:nvPr/>
        </p:nvSpPr>
        <p:spPr>
          <a:xfrm>
            <a:off x="676656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10B981"/>
                </a:solidFill>
              </a:rPr>
              <a:t>IMPROVE</a:t>
            </a:r>
            <a:endParaRPr lang="en-US" sz="1400" dirty="0"/>
          </a:p>
        </p:txBody>
      </p:sp>
      <p:sp>
        <p:nvSpPr>
          <p:cNvPr id="27" name="Shape 25"/>
          <p:cNvSpPr/>
          <p:nvPr/>
        </p:nvSpPr>
        <p:spPr>
          <a:xfrm>
            <a:off x="7306056" y="1874520"/>
            <a:ext cx="914400" cy="914400"/>
          </a:xfrm>
          <a:prstGeom prst="ellipse">
            <a:avLst/>
          </a:prstGeom>
          <a:solidFill>
            <a:srgbClr val="10B981">
              <a:alpha val="18000"/>
            </a:srgbClr>
          </a:solidFill>
          <a:ln w="12700">
            <a:solidFill>
              <a:srgbClr val="10B981">
                <a:alpha val="18000"/>
              </a:srgbClr>
            </a:solidFill>
            <a:prstDash val="solid"/>
          </a:ln>
        </p:spPr>
      </p:sp>
      <p:sp>
        <p:nvSpPr>
          <p:cNvPr id="28" name="Text 26"/>
          <p:cNvSpPr/>
          <p:nvPr/>
        </p:nvSpPr>
        <p:spPr>
          <a:xfrm>
            <a:off x="730605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9" name="Text 27"/>
          <p:cNvSpPr/>
          <p:nvPr/>
        </p:nvSpPr>
        <p:spPr>
          <a:xfrm>
            <a:off x="687628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rPr>
              <a:t>Drives continual improvement of the AIMS through monitoring, audits, corrective actions, and management reviews.</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1990">
        <p:dissolve/>
      </p:transition>
    </mc:Choice>
    <mc:Fallback>
      <p:transition spd="slow">
        <p:dissolv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D97706">
              <a:alpha val="14000"/>
            </a:srgbClr>
          </a:solidFill>
          <a:ln w="12700">
            <a:solidFill>
              <a:srgbClr val="D97706">
                <a:alpha val="14000"/>
              </a:srgbClr>
            </a:solidFill>
            <a:prstDash val="solid"/>
          </a:ln>
        </p:spPr>
      </p:sp>
      <p:sp>
        <p:nvSpPr>
          <p:cNvPr id="3" name="Shape 1"/>
          <p:cNvSpPr/>
          <p:nvPr/>
        </p:nvSpPr>
        <p:spPr>
          <a:xfrm>
            <a:off x="274320" y="182880"/>
            <a:ext cx="658368" cy="658368"/>
          </a:xfrm>
          <a:prstGeom prst="ellipse">
            <a:avLst/>
          </a:prstGeom>
          <a:solidFill>
            <a:srgbClr val="D97706">
              <a:alpha val="45000"/>
            </a:srgbClr>
          </a:solidFill>
          <a:ln w="12700">
            <a:solidFill>
              <a:srgbClr val="D97706">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D97706"/>
                </a:solidFill>
              </a:rPr>
              <a:t>13</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Example: AI Use Case &amp; Its Risks</a:t>
            </a:r>
            <a:endParaRPr lang="en-US" sz="3000" dirty="0"/>
          </a:p>
        </p:txBody>
      </p:sp>
      <p:sp>
        <p:nvSpPr>
          <p:cNvPr id="6" name="Shape 4"/>
          <p:cNvSpPr/>
          <p:nvPr/>
        </p:nvSpPr>
        <p:spPr>
          <a:xfrm>
            <a:off x="320040" y="1170432"/>
            <a:ext cx="8503920" cy="502920"/>
          </a:xfrm>
          <a:prstGeom prst="rect">
            <a:avLst/>
          </a:prstGeom>
          <a:solidFill>
            <a:srgbClr val="D97706">
              <a:alpha val="12000"/>
            </a:srgbClr>
          </a:solidFill>
          <a:ln w="12700">
            <a:solidFill>
              <a:srgbClr val="D97706">
                <a:alpha val="25000"/>
              </a:srgbClr>
            </a:solidFill>
            <a:prstDash val="solid"/>
          </a:ln>
        </p:spPr>
      </p:sp>
      <p:sp>
        <p:nvSpPr>
          <p:cNvPr id="7" name="Text 5"/>
          <p:cNvSpPr/>
          <p:nvPr/>
        </p:nvSpPr>
        <p:spPr>
          <a:xfrm>
            <a:off x="475488" y="1207008"/>
            <a:ext cx="8321040" cy="438912"/>
          </a:xfrm>
          <a:prstGeom prst="rect">
            <a:avLst/>
          </a:prstGeom>
          <a:noFill/>
        </p:spPr>
        <p:txBody>
          <a:bodyPr wrap="square" rtlCol="0" anchor="ctr"/>
          <a:lstStyle/>
          <a:p>
            <a:pPr marL="0" indent="0">
              <a:buNone/>
            </a:pPr>
            <a:r>
              <a:rPr lang="en-US" sz="1300" b="1" dirty="0">
                <a:solidFill>
                  <a:srgbClr val="D97706"/>
                </a:solidFill>
                <a:latin typeface="Calibri" panose="020F0502020204030204" pitchFamily="34" charset="0"/>
                <a:ea typeface="Calibri" panose="020F0502020204030204" pitchFamily="34" charset="-122"/>
                <a:cs typeface="Calibri" panose="020F0502020204030204" pitchFamily="34" charset="-120"/>
              </a:rPr>
              <a:t>Use Case: AI Customer Support Chat bot</a:t>
            </a:r>
            <a:endParaRPr lang="en-US" sz="1300" dirty="0"/>
          </a:p>
        </p:txBody>
      </p:sp>
      <p:sp>
        <p:nvSpPr>
          <p:cNvPr id="8" name="Shape 6"/>
          <p:cNvSpPr/>
          <p:nvPr/>
        </p:nvSpPr>
        <p:spPr>
          <a:xfrm>
            <a:off x="320040" y="1828800"/>
            <a:ext cx="4114800" cy="1371600"/>
          </a:xfrm>
          <a:prstGeom prst="rect">
            <a:avLst/>
          </a:prstGeom>
          <a:solidFill>
            <a:srgbClr val="FFFFFF"/>
          </a:solidFill>
          <a:ln w="12700">
            <a:solidFill>
              <a:srgbClr val="DC2626">
                <a:alpha val="45000"/>
              </a:srgbClr>
            </a:solidFill>
            <a:prstDash val="solid"/>
          </a:ln>
          <a:effectLst>
            <a:outerShdw blurRad="127000" dist="38100" dir="8100000" algn="bl" rotWithShape="0">
              <a:srgbClr val="94A3B8">
                <a:alpha val="18000"/>
              </a:srgbClr>
            </a:outerShdw>
          </a:effectLst>
        </p:spPr>
      </p:sp>
      <p:sp>
        <p:nvSpPr>
          <p:cNvPr id="9" name="Shape 7"/>
          <p:cNvSpPr/>
          <p:nvPr/>
        </p:nvSpPr>
        <p:spPr>
          <a:xfrm>
            <a:off x="484632" y="2029968"/>
            <a:ext cx="530352" cy="530352"/>
          </a:xfrm>
          <a:prstGeom prst="ellipse">
            <a:avLst/>
          </a:prstGeom>
          <a:solidFill>
            <a:srgbClr val="DC2626">
              <a:alpha val="22000"/>
            </a:srgbClr>
          </a:solidFill>
          <a:ln w="12700">
            <a:solidFill>
              <a:srgbClr val="DC2626">
                <a:alpha val="22000"/>
              </a:srgbClr>
            </a:solidFill>
            <a:prstDash val="solid"/>
          </a:ln>
        </p:spPr>
      </p:sp>
      <p:sp>
        <p:nvSpPr>
          <p:cNvPr id="10" name="Text 8"/>
          <p:cNvSpPr/>
          <p:nvPr/>
        </p:nvSpPr>
        <p:spPr>
          <a:xfrm>
            <a:off x="484632" y="2029968"/>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1124712" y="1901952"/>
            <a:ext cx="3200400" cy="411480"/>
          </a:xfrm>
          <a:prstGeom prst="rect">
            <a:avLst/>
          </a:prstGeom>
          <a:noFill/>
        </p:spPr>
        <p:txBody>
          <a:bodyPr wrap="square" lIns="0" tIns="0" rIns="0" bIns="0" rtlCol="0" anchor="ctr"/>
          <a:lstStyle/>
          <a:p>
            <a:pPr marL="0" indent="0">
              <a:buNone/>
            </a:pPr>
            <a:r>
              <a:rPr lang="en-US" sz="1300" b="1" dirty="0">
                <a:solidFill>
                  <a:srgbClr val="DC2626"/>
                </a:solidFill>
                <a:latin typeface="Calibri" panose="020F0502020204030204" pitchFamily="34" charset="0"/>
                <a:ea typeface="Calibri" panose="020F0502020204030204" pitchFamily="34" charset="-122"/>
                <a:cs typeface="Calibri" panose="020F0502020204030204" pitchFamily="34" charset="-120"/>
              </a:rPr>
              <a:t>Inaccurate Answers</a:t>
            </a:r>
            <a:endParaRPr lang="en-US" sz="1300" dirty="0"/>
          </a:p>
        </p:txBody>
      </p:sp>
      <p:sp>
        <p:nvSpPr>
          <p:cNvPr id="12" name="Text 10"/>
          <p:cNvSpPr/>
          <p:nvPr/>
        </p:nvSpPr>
        <p:spPr>
          <a:xfrm>
            <a:off x="484632" y="2606040"/>
            <a:ext cx="3822192" cy="53035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AI may give wrong information (e.g., wrong delivery date), creating legal and customer trust issues.</a:t>
            </a:r>
            <a:endParaRPr lang="en-US" sz="1100" dirty="0"/>
          </a:p>
        </p:txBody>
      </p:sp>
      <p:sp>
        <p:nvSpPr>
          <p:cNvPr id="13" name="Shape 11"/>
          <p:cNvSpPr/>
          <p:nvPr/>
        </p:nvSpPr>
        <p:spPr>
          <a:xfrm>
            <a:off x="4754880" y="1828800"/>
            <a:ext cx="4114800" cy="1371600"/>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14" name="Shape 12"/>
          <p:cNvSpPr/>
          <p:nvPr/>
        </p:nvSpPr>
        <p:spPr>
          <a:xfrm>
            <a:off x="4919472" y="2029968"/>
            <a:ext cx="530352" cy="530352"/>
          </a:xfrm>
          <a:prstGeom prst="ellipse">
            <a:avLst/>
          </a:prstGeom>
          <a:solidFill>
            <a:srgbClr val="7C3AED">
              <a:alpha val="22000"/>
            </a:srgbClr>
          </a:solidFill>
          <a:ln w="12700">
            <a:solidFill>
              <a:srgbClr val="7C3AED">
                <a:alpha val="22000"/>
              </a:srgbClr>
            </a:solidFill>
            <a:prstDash val="solid"/>
          </a:ln>
        </p:spPr>
      </p:sp>
      <p:sp>
        <p:nvSpPr>
          <p:cNvPr id="15" name="Text 13"/>
          <p:cNvSpPr/>
          <p:nvPr/>
        </p:nvSpPr>
        <p:spPr>
          <a:xfrm>
            <a:off x="4919472" y="2029968"/>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5559552" y="1901952"/>
            <a:ext cx="3200400" cy="411480"/>
          </a:xfrm>
          <a:prstGeom prst="rect">
            <a:avLst/>
          </a:prstGeom>
          <a:noFill/>
        </p:spPr>
        <p:txBody>
          <a:bodyPr wrap="square" lIns="0" tIns="0" rIns="0" bIns="0" rtlCol="0" anchor="ctr"/>
          <a:lstStyle/>
          <a:p>
            <a:pPr marL="0" indent="0">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Data Leakage</a:t>
            </a:r>
            <a:endParaRPr lang="en-US" sz="1300" dirty="0"/>
          </a:p>
        </p:txBody>
      </p:sp>
      <p:sp>
        <p:nvSpPr>
          <p:cNvPr id="17" name="Text 15"/>
          <p:cNvSpPr/>
          <p:nvPr/>
        </p:nvSpPr>
        <p:spPr>
          <a:xfrm>
            <a:off x="4919472" y="2606040"/>
            <a:ext cx="3822192" cy="53035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If a customer shares personal info and the AI is unsecured, it could leak addresses or order data.</a:t>
            </a:r>
            <a:endParaRPr lang="en-US" sz="1100" dirty="0"/>
          </a:p>
        </p:txBody>
      </p:sp>
      <p:sp>
        <p:nvSpPr>
          <p:cNvPr id="18" name="Shape 16"/>
          <p:cNvSpPr/>
          <p:nvPr/>
        </p:nvSpPr>
        <p:spPr>
          <a:xfrm>
            <a:off x="320040" y="3383280"/>
            <a:ext cx="4114800" cy="137160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9" name="Shape 17"/>
          <p:cNvSpPr/>
          <p:nvPr/>
        </p:nvSpPr>
        <p:spPr>
          <a:xfrm>
            <a:off x="484632" y="3584448"/>
            <a:ext cx="530352" cy="530352"/>
          </a:xfrm>
          <a:prstGeom prst="ellipse">
            <a:avLst/>
          </a:prstGeom>
          <a:solidFill>
            <a:srgbClr val="0891B2">
              <a:alpha val="22000"/>
            </a:srgbClr>
          </a:solidFill>
          <a:ln w="12700">
            <a:solidFill>
              <a:srgbClr val="0891B2">
                <a:alpha val="22000"/>
              </a:srgbClr>
            </a:solidFill>
            <a:prstDash val="solid"/>
          </a:ln>
        </p:spPr>
      </p:sp>
      <p:sp>
        <p:nvSpPr>
          <p:cNvPr id="20" name="Text 18"/>
          <p:cNvSpPr/>
          <p:nvPr/>
        </p:nvSpPr>
        <p:spPr>
          <a:xfrm>
            <a:off x="484632" y="3584448"/>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1" name="Text 19"/>
          <p:cNvSpPr/>
          <p:nvPr/>
        </p:nvSpPr>
        <p:spPr>
          <a:xfrm>
            <a:off x="1124712" y="3456432"/>
            <a:ext cx="3200400" cy="411480"/>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Prompt Injection</a:t>
            </a:r>
            <a:endParaRPr lang="en-US" sz="1300" dirty="0"/>
          </a:p>
        </p:txBody>
      </p:sp>
      <p:sp>
        <p:nvSpPr>
          <p:cNvPr id="22" name="Text 20"/>
          <p:cNvSpPr/>
          <p:nvPr/>
        </p:nvSpPr>
        <p:spPr>
          <a:xfrm>
            <a:off x="484632" y="4160520"/>
            <a:ext cx="3822192" cy="53035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Malicious users may trick the chat bot into revealing sensitive data or performing unlawful actions.</a:t>
            </a:r>
            <a:endParaRPr lang="en-US" sz="1100" dirty="0"/>
          </a:p>
        </p:txBody>
      </p:sp>
      <p:sp>
        <p:nvSpPr>
          <p:cNvPr id="23" name="Shape 21"/>
          <p:cNvSpPr/>
          <p:nvPr/>
        </p:nvSpPr>
        <p:spPr>
          <a:xfrm>
            <a:off x="4754880" y="3383280"/>
            <a:ext cx="4114800" cy="137160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24" name="Shape 22"/>
          <p:cNvSpPr/>
          <p:nvPr/>
        </p:nvSpPr>
        <p:spPr>
          <a:xfrm>
            <a:off x="4919472" y="3584448"/>
            <a:ext cx="530352" cy="530352"/>
          </a:xfrm>
          <a:prstGeom prst="ellipse">
            <a:avLst/>
          </a:prstGeom>
          <a:solidFill>
            <a:srgbClr val="2563EB">
              <a:alpha val="22000"/>
            </a:srgbClr>
          </a:solidFill>
          <a:ln w="12700">
            <a:solidFill>
              <a:srgbClr val="2563EB">
                <a:alpha val="22000"/>
              </a:srgbClr>
            </a:solidFill>
            <a:prstDash val="solid"/>
          </a:ln>
        </p:spPr>
      </p:sp>
      <p:sp>
        <p:nvSpPr>
          <p:cNvPr id="25" name="Text 23"/>
          <p:cNvSpPr/>
          <p:nvPr/>
        </p:nvSpPr>
        <p:spPr>
          <a:xfrm>
            <a:off x="4919472" y="3584448"/>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6" name="Text 24"/>
          <p:cNvSpPr/>
          <p:nvPr/>
        </p:nvSpPr>
        <p:spPr>
          <a:xfrm>
            <a:off x="5559552" y="3456432"/>
            <a:ext cx="3200400" cy="411480"/>
          </a:xfrm>
          <a:prstGeom prst="rect">
            <a:avLst/>
          </a:prstGeom>
          <a:noFill/>
        </p:spPr>
        <p:txBody>
          <a:bodyPr wrap="square" lIns="0" tIns="0" rIns="0" bIns="0" rtlCol="0" anchor="ctr"/>
          <a:lstStyle/>
          <a:p>
            <a:pPr marL="0" indent="0">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Job Displacement</a:t>
            </a:r>
            <a:endParaRPr lang="en-US" sz="1300" dirty="0"/>
          </a:p>
        </p:txBody>
      </p:sp>
      <p:sp>
        <p:nvSpPr>
          <p:cNvPr id="27" name="Text 25"/>
          <p:cNvSpPr/>
          <p:nvPr/>
        </p:nvSpPr>
        <p:spPr>
          <a:xfrm>
            <a:off x="4919472" y="4160520"/>
            <a:ext cx="3822192" cy="53035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AI can handle heavy workloads, but sometimes loops customers without resolving their issue properly.</a:t>
            </a:r>
            <a:endParaRPr lang="en-US" sz="11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500">
        <p15:prstTrans prst="pageCurlDoub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3A5F">
              <a:alpha val="14000"/>
            </a:srgbClr>
          </a:solidFill>
          <a:ln w="12700">
            <a:solidFill>
              <a:srgbClr val="1E3A5F">
                <a:alpha val="14000"/>
              </a:srgbClr>
            </a:solidFill>
            <a:prstDash val="solid"/>
          </a:ln>
        </p:spPr>
      </p:sp>
      <p:sp>
        <p:nvSpPr>
          <p:cNvPr id="3" name="Shape 1"/>
          <p:cNvSpPr/>
          <p:nvPr/>
        </p:nvSpPr>
        <p:spPr>
          <a:xfrm>
            <a:off x="274320" y="182880"/>
            <a:ext cx="658368" cy="658368"/>
          </a:xfrm>
          <a:prstGeom prst="ellipse">
            <a:avLst/>
          </a:prstGeom>
          <a:solidFill>
            <a:srgbClr val="1E3A5F">
              <a:alpha val="45000"/>
            </a:srgbClr>
          </a:solidFill>
          <a:ln w="12700">
            <a:solidFill>
              <a:srgbClr val="1E3A5F">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1E3A5F"/>
                </a:solidFill>
              </a:rPr>
              <a:t>14</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Conclusion</a:t>
            </a:r>
            <a:endParaRPr lang="en-US" sz="3000" dirty="0"/>
          </a:p>
        </p:txBody>
      </p:sp>
      <p:sp>
        <p:nvSpPr>
          <p:cNvPr id="6" name="Shape 4"/>
          <p:cNvSpPr/>
          <p:nvPr/>
        </p:nvSpPr>
        <p:spPr>
          <a:xfrm>
            <a:off x="320040" y="1207008"/>
            <a:ext cx="4114800" cy="1536192"/>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484632" y="1389888"/>
            <a:ext cx="548640" cy="548640"/>
          </a:xfrm>
          <a:prstGeom prst="ellipse">
            <a:avLst/>
          </a:prstGeom>
          <a:solidFill>
            <a:srgbClr val="2563EB">
              <a:alpha val="22000"/>
            </a:srgbClr>
          </a:solidFill>
          <a:ln w="12700">
            <a:solidFill>
              <a:srgbClr val="2563EB">
                <a:alpha val="22000"/>
              </a:srgbClr>
            </a:solidFill>
            <a:prstDash val="solid"/>
          </a:ln>
        </p:spPr>
      </p:sp>
      <p:sp>
        <p:nvSpPr>
          <p:cNvPr id="8" name="Text 6"/>
          <p:cNvSpPr/>
          <p:nvPr/>
        </p:nvSpPr>
        <p:spPr>
          <a:xfrm>
            <a:off x="484632" y="1389888"/>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1143000" y="1298448"/>
            <a:ext cx="3154680" cy="457200"/>
          </a:xfrm>
          <a:prstGeom prst="rect">
            <a:avLst/>
          </a:prstGeom>
          <a:noFill/>
        </p:spPr>
        <p:txBody>
          <a:bodyPr wrap="square" lIns="0" tIns="0" rIns="0" bIns="0" rtlCol="0" anchor="ctr"/>
          <a:lstStyle/>
          <a:p>
            <a:pPr marL="0" indent="0">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Clear Rules &amp; Guidelines</a:t>
            </a:r>
            <a:endParaRPr lang="en-US" sz="1300" dirty="0"/>
          </a:p>
        </p:txBody>
      </p:sp>
      <p:sp>
        <p:nvSpPr>
          <p:cNvPr id="10" name="Text 8"/>
          <p:cNvSpPr/>
          <p:nvPr/>
        </p:nvSpPr>
        <p:spPr>
          <a:xfrm>
            <a:off x="484632" y="1984248"/>
            <a:ext cx="3840480" cy="694944"/>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AI governance sets clear rules so systems work properly, make correct decisions, and do not harm people.</a:t>
            </a:r>
            <a:endParaRPr lang="en-US" sz="1150" dirty="0"/>
          </a:p>
        </p:txBody>
      </p:sp>
      <p:sp>
        <p:nvSpPr>
          <p:cNvPr id="11" name="Shape 9"/>
          <p:cNvSpPr/>
          <p:nvPr/>
        </p:nvSpPr>
        <p:spPr>
          <a:xfrm>
            <a:off x="320040" y="2898648"/>
            <a:ext cx="4114800" cy="1536192"/>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2" name="Shape 10"/>
          <p:cNvSpPr/>
          <p:nvPr/>
        </p:nvSpPr>
        <p:spPr>
          <a:xfrm>
            <a:off x="484632" y="3081528"/>
            <a:ext cx="548640" cy="548640"/>
          </a:xfrm>
          <a:prstGeom prst="ellipse">
            <a:avLst/>
          </a:prstGeom>
          <a:solidFill>
            <a:srgbClr val="0891B2">
              <a:alpha val="22000"/>
            </a:srgbClr>
          </a:solidFill>
          <a:ln w="12700">
            <a:solidFill>
              <a:srgbClr val="0891B2">
                <a:alpha val="22000"/>
              </a:srgbClr>
            </a:solidFill>
            <a:prstDash val="solid"/>
          </a:ln>
        </p:spPr>
      </p:sp>
      <p:sp>
        <p:nvSpPr>
          <p:cNvPr id="13" name="Text 11"/>
          <p:cNvSpPr/>
          <p:nvPr/>
        </p:nvSpPr>
        <p:spPr>
          <a:xfrm>
            <a:off x="484632" y="3081528"/>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1143000" y="2990088"/>
            <a:ext cx="3154680" cy="457200"/>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Cyber Protection</a:t>
            </a:r>
            <a:endParaRPr lang="en-US" sz="1300" dirty="0"/>
          </a:p>
        </p:txBody>
      </p:sp>
      <p:sp>
        <p:nvSpPr>
          <p:cNvPr id="15" name="Text 13"/>
          <p:cNvSpPr/>
          <p:nvPr/>
        </p:nvSpPr>
        <p:spPr>
          <a:xfrm>
            <a:off x="484632" y="3675888"/>
            <a:ext cx="3840480" cy="694944"/>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Cyber risk management protects networks and data from hacking, viruses, and leaks with strong security measures.</a:t>
            </a:r>
            <a:endParaRPr lang="en-US" sz="1150" dirty="0"/>
          </a:p>
        </p:txBody>
      </p:sp>
      <p:sp>
        <p:nvSpPr>
          <p:cNvPr id="16" name="Shape 14"/>
          <p:cNvSpPr/>
          <p:nvPr/>
        </p:nvSpPr>
        <p:spPr>
          <a:xfrm>
            <a:off x="4709160" y="1207008"/>
            <a:ext cx="4114800" cy="1536192"/>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17" name="Shape 15"/>
          <p:cNvSpPr/>
          <p:nvPr/>
        </p:nvSpPr>
        <p:spPr>
          <a:xfrm>
            <a:off x="4873752" y="1389888"/>
            <a:ext cx="548640" cy="548640"/>
          </a:xfrm>
          <a:prstGeom prst="ellipse">
            <a:avLst/>
          </a:prstGeom>
          <a:solidFill>
            <a:srgbClr val="10B981">
              <a:alpha val="22000"/>
            </a:srgbClr>
          </a:solidFill>
          <a:ln w="12700">
            <a:solidFill>
              <a:srgbClr val="10B981">
                <a:alpha val="22000"/>
              </a:srgbClr>
            </a:solidFill>
            <a:prstDash val="solid"/>
          </a:ln>
        </p:spPr>
      </p:sp>
      <p:sp>
        <p:nvSpPr>
          <p:cNvPr id="18" name="Text 16"/>
          <p:cNvSpPr/>
          <p:nvPr/>
        </p:nvSpPr>
        <p:spPr>
          <a:xfrm>
            <a:off x="4873752" y="1389888"/>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5532120" y="1298448"/>
            <a:ext cx="3154680" cy="457200"/>
          </a:xfrm>
          <a:prstGeom prst="rect">
            <a:avLst/>
          </a:prstGeom>
          <a:noFill/>
        </p:spPr>
        <p:txBody>
          <a:bodyPr wrap="square" lIns="0" tIns="0" rIns="0" bIns="0" rtlCol="0" anchor="ct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Reduced Risk</a:t>
            </a:r>
            <a:endParaRPr lang="en-US" sz="1300" dirty="0"/>
          </a:p>
        </p:txBody>
      </p:sp>
      <p:sp>
        <p:nvSpPr>
          <p:cNvPr id="20" name="Text 18"/>
          <p:cNvSpPr/>
          <p:nvPr/>
        </p:nvSpPr>
        <p:spPr>
          <a:xfrm>
            <a:off x="4873752" y="1984248"/>
            <a:ext cx="3840480" cy="694944"/>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Combining governance and cybersecurity helps organizations reduce risk, run smoothly, and protect personal information.</a:t>
            </a:r>
            <a:endParaRPr lang="en-US" sz="1150" dirty="0"/>
          </a:p>
        </p:txBody>
      </p:sp>
      <p:sp>
        <p:nvSpPr>
          <p:cNvPr id="21" name="Shape 19"/>
          <p:cNvSpPr/>
          <p:nvPr/>
        </p:nvSpPr>
        <p:spPr>
          <a:xfrm>
            <a:off x="4709160" y="2898648"/>
            <a:ext cx="4114800" cy="1536192"/>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22" name="Shape 20"/>
          <p:cNvSpPr/>
          <p:nvPr/>
        </p:nvSpPr>
        <p:spPr>
          <a:xfrm>
            <a:off x="4873752" y="3081528"/>
            <a:ext cx="548640" cy="548640"/>
          </a:xfrm>
          <a:prstGeom prst="ellipse">
            <a:avLst/>
          </a:prstGeom>
          <a:solidFill>
            <a:srgbClr val="7C3AED">
              <a:alpha val="22000"/>
            </a:srgbClr>
          </a:solidFill>
          <a:ln w="12700">
            <a:solidFill>
              <a:srgbClr val="7C3AED">
                <a:alpha val="22000"/>
              </a:srgbClr>
            </a:solidFill>
            <a:prstDash val="solid"/>
          </a:ln>
        </p:spPr>
      </p:sp>
      <p:sp>
        <p:nvSpPr>
          <p:cNvPr id="23" name="Text 21"/>
          <p:cNvSpPr/>
          <p:nvPr/>
        </p:nvSpPr>
        <p:spPr>
          <a:xfrm>
            <a:off x="4873752" y="3081528"/>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5532120" y="2990088"/>
            <a:ext cx="3154680" cy="457200"/>
          </a:xfrm>
          <a:prstGeom prst="rect">
            <a:avLst/>
          </a:prstGeom>
          <a:noFill/>
        </p:spPr>
        <p:txBody>
          <a:bodyPr wrap="square" lIns="0" tIns="0" rIns="0" bIns="0" rtlCol="0" anchor="ctr"/>
          <a:lstStyle/>
          <a:p>
            <a:pPr marL="0" indent="0">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Building Trust</a:t>
            </a:r>
            <a:endParaRPr lang="en-US" sz="1300" dirty="0"/>
          </a:p>
        </p:txBody>
      </p:sp>
      <p:sp>
        <p:nvSpPr>
          <p:cNvPr id="25" name="Text 23"/>
          <p:cNvSpPr/>
          <p:nvPr/>
        </p:nvSpPr>
        <p:spPr>
          <a:xfrm>
            <a:off x="4873752" y="3675888"/>
            <a:ext cx="3840480" cy="694944"/>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Together, they build public trust and allow organizations to safely grow with new AI technology.</a:t>
            </a:r>
            <a:endParaRPr lang="en-US" sz="1150" dirty="0"/>
          </a:p>
        </p:txBody>
      </p:sp>
      <p:sp>
        <p:nvSpPr>
          <p:cNvPr id="26" name="Shape 24"/>
          <p:cNvSpPr/>
          <p:nvPr/>
        </p:nvSpPr>
        <p:spPr>
          <a:xfrm>
            <a:off x="320040" y="4617720"/>
            <a:ext cx="8503920" cy="438912"/>
          </a:xfrm>
          <a:prstGeom prst="rect">
            <a:avLst/>
          </a:prstGeom>
          <a:solidFill>
            <a:srgbClr val="1E3A5F">
              <a:alpha val="12000"/>
            </a:srgbClr>
          </a:solidFill>
          <a:ln w="12700">
            <a:solidFill>
              <a:srgbClr val="1E3A5F">
                <a:alpha val="25000"/>
              </a:srgbClr>
            </a:solidFill>
            <a:prstDash val="solid"/>
          </a:ln>
        </p:spPr>
      </p:sp>
      <p:sp>
        <p:nvSpPr>
          <p:cNvPr id="27" name="Text 25"/>
          <p:cNvSpPr/>
          <p:nvPr/>
        </p:nvSpPr>
        <p:spPr>
          <a:xfrm>
            <a:off x="475488" y="4645152"/>
            <a:ext cx="8321040" cy="384048"/>
          </a:xfrm>
          <a:prstGeom prst="rect">
            <a:avLst/>
          </a:prstGeom>
          <a:noFill/>
        </p:spPr>
        <p:txBody>
          <a:bodyPr wrap="square" rtlCol="0" anchor="ctr"/>
          <a:lstStyle/>
          <a:p>
            <a:pPr marL="0" indent="0" algn="ctr">
              <a:buNone/>
            </a:pPr>
            <a:r>
              <a:rPr lang="en-US" sz="1100" i="1" dirty="0">
                <a:solidFill>
                  <a:srgbClr val="1E3A5F"/>
                </a:solidFill>
                <a:latin typeface="Calibri" panose="020F0502020204030204" pitchFamily="34" charset="0"/>
                <a:ea typeface="Calibri" panose="020F0502020204030204" pitchFamily="34" charset="-122"/>
                <a:cs typeface="Calibri" panose="020F0502020204030204" pitchFamily="34" charset="-120"/>
              </a:rPr>
              <a:t>"Governance gives AI its rules. Cyber Risk Management gives it protection. Together they create a machine that works to help humans."</a:t>
            </a:r>
            <a:endParaRPr lang="en-US" sz="11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669">
        <p15:prstTrans prst="peelOff"/>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5943600" y="-1371600"/>
            <a:ext cx="5486400" cy="5486400"/>
          </a:xfrm>
          <a:prstGeom prst="ellipse">
            <a:avLst/>
          </a:prstGeom>
          <a:solidFill>
            <a:srgbClr val="2563EB">
              <a:alpha val="12000"/>
            </a:srgbClr>
          </a:solidFill>
          <a:ln w="12700">
            <a:solidFill>
              <a:srgbClr val="2563EB">
                <a:alpha val="12000"/>
              </a:srgbClr>
            </a:solidFill>
            <a:prstDash val="solid"/>
          </a:ln>
        </p:spPr>
      </p:sp>
      <p:sp>
        <p:nvSpPr>
          <p:cNvPr id="3" name="Shape 1"/>
          <p:cNvSpPr/>
          <p:nvPr/>
        </p:nvSpPr>
        <p:spPr>
          <a:xfrm>
            <a:off x="-1371600" y="2743200"/>
            <a:ext cx="4114800" cy="4114800"/>
          </a:xfrm>
          <a:prstGeom prst="ellipse">
            <a:avLst/>
          </a:prstGeom>
          <a:solidFill>
            <a:srgbClr val="0891B2">
              <a:alpha val="12000"/>
            </a:srgbClr>
          </a:solidFill>
          <a:ln w="12700">
            <a:solidFill>
              <a:srgbClr val="0891B2">
                <a:alpha val="12000"/>
              </a:srgbClr>
            </a:solidFill>
            <a:prstDash val="solid"/>
          </a:ln>
        </p:spPr>
      </p:sp>
      <p:sp>
        <p:nvSpPr>
          <p:cNvPr id="4" name="Text 2"/>
          <p:cNvSpPr/>
          <p:nvPr/>
        </p:nvSpPr>
        <p:spPr>
          <a:xfrm>
            <a:off x="457200" y="731520"/>
            <a:ext cx="8229600" cy="1371600"/>
          </a:xfrm>
          <a:prstGeom prst="rect">
            <a:avLst/>
          </a:prstGeom>
          <a:noFill/>
        </p:spPr>
        <p:txBody>
          <a:bodyPr wrap="square" rtlCol="0" anchor="ctr"/>
          <a:lstStyle/>
          <a:p>
            <a:pPr marL="0" indent="0" algn="ctr">
              <a:buNone/>
            </a:pPr>
            <a:r>
              <a:rPr lang="en-US" sz="6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Thank You</a:t>
            </a:r>
            <a:endParaRPr lang="en-US" sz="6200" dirty="0"/>
          </a:p>
        </p:txBody>
      </p:sp>
      <p:sp>
        <p:nvSpPr>
          <p:cNvPr id="5" name="Shape 3"/>
          <p:cNvSpPr/>
          <p:nvPr/>
        </p:nvSpPr>
        <p:spPr>
          <a:xfrm>
            <a:off x="2926080" y="2240280"/>
            <a:ext cx="3291840" cy="54864"/>
          </a:xfrm>
          <a:prstGeom prst="rect">
            <a:avLst/>
          </a:prstGeom>
          <a:solidFill>
            <a:srgbClr val="0891B2"/>
          </a:solidFill>
          <a:ln w="12700">
            <a:solidFill>
              <a:srgbClr val="0891B2"/>
            </a:solidFill>
            <a:prstDash val="solid"/>
          </a:ln>
        </p:spPr>
      </p:sp>
      <p:sp>
        <p:nvSpPr>
          <p:cNvPr id="6" name="Text 4"/>
          <p:cNvSpPr/>
          <p:nvPr/>
        </p:nvSpPr>
        <p:spPr>
          <a:xfrm>
            <a:off x="457200" y="2423160"/>
            <a:ext cx="8229600" cy="502920"/>
          </a:xfrm>
          <a:prstGeom prst="rect">
            <a:avLst/>
          </a:prstGeom>
          <a:noFill/>
        </p:spPr>
        <p:txBody>
          <a:bodyPr wrap="square" rtlCol="0" anchor="ctr"/>
          <a:lstStyle/>
          <a:p>
            <a:pPr marL="0" indent="0" algn="ctr">
              <a:buNone/>
            </a:pPr>
            <a:r>
              <a:rPr lang="en-US" sz="2000" i="1" dirty="0">
                <a:solidFill>
                  <a:srgbClr val="BAE6FD"/>
                </a:solidFill>
                <a:latin typeface="Calibri" panose="020F0502020204030204" pitchFamily="34" charset="0"/>
                <a:ea typeface="Calibri" panose="020F0502020204030204" pitchFamily="34" charset="-122"/>
                <a:cs typeface="Calibri" panose="020F0502020204030204" pitchFamily="34" charset="-120"/>
              </a:rPr>
              <a:t>End of Presentation</a:t>
            </a:r>
            <a:endParaRPr lang="en-US" sz="2000" dirty="0"/>
          </a:p>
        </p:txBody>
      </p:sp>
      <p:sp>
        <p:nvSpPr>
          <p:cNvPr id="7" name="Text 5"/>
          <p:cNvSpPr/>
          <p:nvPr/>
        </p:nvSpPr>
        <p:spPr>
          <a:xfrm>
            <a:off x="457200" y="3154680"/>
            <a:ext cx="8229600" cy="411480"/>
          </a:xfrm>
          <a:prstGeom prst="rect">
            <a:avLst/>
          </a:prstGeom>
          <a:noFill/>
        </p:spPr>
        <p:txBody>
          <a:bodyPr wrap="square" rtlCol="0" anchor="ctr"/>
          <a:lstStyle/>
          <a:p>
            <a:pPr marL="0" indent="0" algn="ctr">
              <a:buNone/>
            </a:pPr>
            <a:r>
              <a:rPr lang="en-US" sz="1400" dirty="0">
                <a:solidFill>
                  <a:srgbClr val="64748B"/>
                </a:solidFill>
                <a:latin typeface="Calibri" panose="020F0502020204030204" pitchFamily="34" charset="0"/>
                <a:ea typeface="Calibri" panose="020F0502020204030204" pitchFamily="34" charset="-122"/>
                <a:cs typeface="Calibri" panose="020F0502020204030204" pitchFamily="34" charset="-120"/>
              </a:rPr>
              <a:t>Foundations of AI Governance &amp; Cyber Risk Management</a:t>
            </a:r>
            <a:endParaRPr lang="en-US" sz="1400" dirty="0"/>
          </a:p>
        </p:txBody>
      </p:sp>
      <p:sp>
        <p:nvSpPr>
          <p:cNvPr id="8" name="Text 6"/>
          <p:cNvSpPr/>
          <p:nvPr/>
        </p:nvSpPr>
        <p:spPr>
          <a:xfrm>
            <a:off x="457200" y="3794760"/>
            <a:ext cx="8229600" cy="384048"/>
          </a:xfrm>
          <a:prstGeom prst="rect">
            <a:avLst/>
          </a:prstGeom>
          <a:noFill/>
        </p:spPr>
        <p:txBody>
          <a:bodyPr wrap="square" rtlCol="0" anchor="ctr"/>
          <a:lstStyle/>
          <a:p>
            <a:pPr marL="0" indent="0" algn="ctr">
              <a:buNone/>
            </a:pPr>
            <a:r>
              <a:rPr lang="en-US" sz="1300" dirty="0">
                <a:solidFill>
                  <a:schemeClr val="bg1"/>
                </a:solidFill>
                <a:latin typeface="Calibri" panose="020F0502020204030204" pitchFamily="34" charset="0"/>
                <a:ea typeface="Calibri" panose="020F0502020204030204" pitchFamily="34" charset="-122"/>
                <a:cs typeface="Calibri" panose="020F0502020204030204" pitchFamily="34" charset="-120"/>
              </a:rPr>
              <a:t>Muhammad Ali Subhaniee</a:t>
            </a:r>
            <a:endParaRPr lang="en-US" sz="13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250">
        <p15:prstTrans prst="airplan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9217</Words>
  <Application>WPS Presentation</Application>
  <PresentationFormat>On-screen Show (16:9)</PresentationFormat>
  <Paragraphs>501</Paragraphs>
  <Slides>19</Slides>
  <Notes>18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Foundations of AI Governance and Cyber Risk Management</dc:title>
  <dc:creator>PptxGenJS</dc:creator>
  <dc:subject>PptxGenJS Presentation</dc:subject>
  <cp:lastModifiedBy>muham</cp:lastModifiedBy>
  <cp:revision>14</cp:revision>
  <dcterms:created xsi:type="dcterms:W3CDTF">2026-06-01T07:23:00Z</dcterms:created>
  <dcterms:modified xsi:type="dcterms:W3CDTF">2026-06-03T08:13:30Z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B7227EDAACF44F4D9F9823FA523BF223_13</vt:lpwstr>
  </property>
  <property fmtid="{D5CDD505-2E9C-101B-9397-08002B2CF9AE}" pid="3" name="KSOProductBuildVer">
    <vt:lpwstr>1033-12.1.0.26880</vt:lpwstr>
  </property>
</Properties>
</file>